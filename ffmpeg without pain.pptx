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7.xml" ContentType="application/vnd.openxmlformats-officedocument.presentationml.tags+xml"/>
  <Override PartName="/ppt/notesSlides/notesSlide11.xml" ContentType="application/vnd.openxmlformats-officedocument.presentationml.notesSlide+xml"/>
  <Override PartName="/ppt/tags/tag8.xml" ContentType="application/vnd.openxmlformats-officedocument.presentationml.tags+xml"/>
  <Override PartName="/ppt/notesSlides/notesSlide12.xml" ContentType="application/vnd.openxmlformats-officedocument.presentationml.notesSlide+xml"/>
  <Override PartName="/ppt/tags/tag9.xml" ContentType="application/vnd.openxmlformats-officedocument.presentationml.tags+xml"/>
  <Override PartName="/ppt/notesSlides/notesSlide13.xml" ContentType="application/vnd.openxmlformats-officedocument.presentationml.notesSlide+xml"/>
  <Override PartName="/ppt/tags/tag10.xml" ContentType="application/vnd.openxmlformats-officedocument.presentationml.tags+xml"/>
  <Override PartName="/ppt/notesSlides/notesSlide14.xml" ContentType="application/vnd.openxmlformats-officedocument.presentationml.notesSlide+xml"/>
  <Override PartName="/ppt/tags/tag11.xml" ContentType="application/vnd.openxmlformats-officedocument.presentationml.tags+xml"/>
  <Override PartName="/ppt/notesSlides/notesSlide15.xml" ContentType="application/vnd.openxmlformats-officedocument.presentationml.notesSlide+xml"/>
  <Override PartName="/ppt/tags/tag12.xml" ContentType="application/vnd.openxmlformats-officedocument.presentationml.tags+xml"/>
  <Override PartName="/ppt/notesSlides/notesSlide16.xml" ContentType="application/vnd.openxmlformats-officedocument.presentationml.notesSlide+xml"/>
  <Override PartName="/ppt/tags/tag13.xml" ContentType="application/vnd.openxmlformats-officedocument.presentationml.tags+xml"/>
  <Override PartName="/ppt/notesSlides/notesSlide17.xml" ContentType="application/vnd.openxmlformats-officedocument.presentationml.notesSlide+xml"/>
  <Override PartName="/ppt/tags/tag14.xml" ContentType="application/vnd.openxmlformats-officedocument.presentationml.tags+xml"/>
  <Override PartName="/ppt/notesSlides/notesSlide18.xml" ContentType="application/vnd.openxmlformats-officedocument.presentationml.notesSlide+xml"/>
  <Override PartName="/ppt/tags/tag15.xml" ContentType="application/vnd.openxmlformats-officedocument.presentationml.tags+xml"/>
  <Override PartName="/ppt/notesSlides/notesSlide19.xml" ContentType="application/vnd.openxmlformats-officedocument.presentationml.notesSlide+xml"/>
  <Override PartName="/ppt/tags/tag16.xml" ContentType="application/vnd.openxmlformats-officedocument.presentationml.tags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7" r:id="rId4"/>
    <p:sldId id="273" r:id="rId5"/>
    <p:sldId id="272" r:id="rId6"/>
    <p:sldId id="274" r:id="rId7"/>
    <p:sldId id="275" r:id="rId8"/>
    <p:sldId id="259" r:id="rId9"/>
    <p:sldId id="260" r:id="rId10"/>
    <p:sldId id="276" r:id="rId11"/>
    <p:sldId id="261" r:id="rId12"/>
    <p:sldId id="266" r:id="rId13"/>
    <p:sldId id="262" r:id="rId14"/>
    <p:sldId id="267" r:id="rId15"/>
    <p:sldId id="263" r:id="rId16"/>
    <p:sldId id="268" r:id="rId17"/>
    <p:sldId id="264" r:id="rId18"/>
    <p:sldId id="269" r:id="rId19"/>
    <p:sldId id="265" r:id="rId20"/>
    <p:sldId id="270" r:id="rId21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6CD7AE1-90B3-43E6-BD9D-3BCFE2B40F74}">
          <p14:sldIdLst>
            <p14:sldId id="256"/>
            <p14:sldId id="258"/>
            <p14:sldId id="257"/>
            <p14:sldId id="273"/>
            <p14:sldId id="272"/>
            <p14:sldId id="274"/>
            <p14:sldId id="275"/>
            <p14:sldId id="259"/>
          </p14:sldIdLst>
        </p14:section>
        <p14:section name="Минимальная модель FFmpeg" id="{DC374373-E171-4F74-A275-C1B4CBF73A86}">
          <p14:sldIdLst>
            <p14:sldId id="260"/>
            <p14:sldId id="276"/>
          </p14:sldIdLst>
        </p14:section>
        <p14:section name="Безопасная интеграция с C API" id="{E1F2326C-B985-47B3-8BEE-FC945695651D}">
          <p14:sldIdLst>
            <p14:sldId id="261"/>
            <p14:sldId id="266"/>
          </p14:sldIdLst>
        </p14:section>
        <p14:section name="Последовательный pipeline" id="{87003728-4997-49BE-8C53-9D8B81F2D6CC}">
          <p14:sldIdLst>
            <p14:sldId id="262"/>
            <p14:sldId id="267"/>
          </p14:sldIdLst>
        </p14:section>
        <p14:section name="Асинхронный пайплайн" id="{28853027-3E44-4DDD-9CBA-B55A626B0C31}">
          <p14:sldIdLst>
            <p14:sldId id="263"/>
            <p14:sldId id="268"/>
          </p14:sldIdLst>
        </p14:section>
        <p14:section name="Асинхронный транскодер" id="{916EDA3F-6DA9-44E2-A43A-6E4DAE76E5FE}">
          <p14:sldIdLst>
            <p14:sldId id="264"/>
            <p14:sldId id="269"/>
          </p14:sldIdLst>
        </p14:section>
        <p14:section name="Заключение" id="{147B621C-9FFF-4AC2-8320-CF393E76E838}">
          <p14:sldIdLst>
            <p14:sldId id="265"/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7797" autoAdjust="0"/>
  </p:normalViewPr>
  <p:slideViewPr>
    <p:cSldViewPr snapToGrid="0" showGuides="1">
      <p:cViewPr varScale="1">
        <p:scale>
          <a:sx n="63" d="100"/>
          <a:sy n="63" d="100"/>
        </p:scale>
        <p:origin x="1188" y="2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12EC6-E0E7-4A5F-8F6B-F8ED76688BE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D35333-98B4-4ADE-BC11-C05AE53D6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26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Всем привет. Меня зовут Алексей Малов, и сегодня я хочу представить вашему вниманию доклад о том, как построить производительный видео-транскодер на базе </a:t>
            </a:r>
            <a:r>
              <a:rPr lang="en-US" dirty="0" err="1"/>
              <a:t>Ffmpeg</a:t>
            </a:r>
            <a:r>
              <a:rPr lang="ru-RU" dirty="0"/>
              <a:t>, используя возможности современного </a:t>
            </a:r>
            <a:r>
              <a:rPr lang="en-US" dirty="0"/>
              <a:t>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206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работаю в компании </a:t>
            </a:r>
            <a:r>
              <a:rPr lang="en-US" dirty="0" err="1"/>
              <a:t>iSpring</a:t>
            </a:r>
            <a:r>
              <a:rPr lang="en-US" dirty="0"/>
              <a:t> </a:t>
            </a:r>
            <a:r>
              <a:rPr lang="ru-RU" dirty="0"/>
              <a:t>в должности ведущего архитектора в отделе разработки конструкторов. Кроме этого, преподаю несколько компьютерных дисциплин в Институте </a:t>
            </a:r>
            <a:r>
              <a:rPr lang="en-US" dirty="0" err="1"/>
              <a:t>iSpring</a:t>
            </a:r>
            <a:r>
              <a:rPr lang="ru-RU" dirty="0"/>
              <a:t> и веду образовательный канал на </a:t>
            </a:r>
            <a:r>
              <a:rPr lang="en-US" dirty="0" err="1"/>
              <a:t>Youtube</a:t>
            </a:r>
            <a:r>
              <a:rPr lang="ru-RU" dirty="0"/>
              <a:t>, где выкладываю лекции по программированию.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39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работаю над </a:t>
            </a:r>
            <a:r>
              <a:rPr lang="ru-RU" dirty="0" err="1"/>
              <a:t>iSpring</a:t>
            </a:r>
            <a:r>
              <a:rPr lang="ru-RU" dirty="0"/>
              <a:t> Suite — это конструктор для создания электронных курсов</a:t>
            </a:r>
            <a:r>
              <a:rPr lang="en-US" dirty="0"/>
              <a:t> </a:t>
            </a:r>
            <a:r>
              <a:rPr lang="ru-RU" dirty="0"/>
              <a:t>на базе </a:t>
            </a:r>
            <a:r>
              <a:rPr lang="en-US" dirty="0"/>
              <a:t>PowerPoint.</a:t>
            </a:r>
          </a:p>
          <a:p>
            <a:r>
              <a:rPr lang="ru-RU" dirty="0"/>
              <a:t>Он превращает PowerPoint-презентации в полноценные онлайн-курсы с видео, тестами и интерактивом.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987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Внутри </a:t>
            </a:r>
            <a:r>
              <a:rPr lang="en-US" dirty="0" err="1"/>
              <a:t>iSpring</a:t>
            </a:r>
            <a:r>
              <a:rPr lang="en-US" dirty="0"/>
              <a:t> </a:t>
            </a:r>
            <a:r>
              <a:rPr lang="ru-RU" dirty="0"/>
              <a:t>есть библиотека обработки мультимедиа на базе </a:t>
            </a:r>
            <a:r>
              <a:rPr lang="ru-RU" dirty="0" err="1"/>
              <a:t>FFmpeg</a:t>
            </a:r>
            <a:r>
              <a:rPr lang="ru-RU" dirty="0"/>
              <a:t>.</a:t>
            </a:r>
          </a:p>
          <a:p>
            <a:r>
              <a:rPr lang="ru-RU" dirty="0"/>
              <a:t>В прошлом году перед нашей командой встала задача ускорить транскодирование видео — в первую очередь за счёт аппаратного ускорения, например Intel Quick </a:t>
            </a:r>
            <a:r>
              <a:rPr lang="ru-RU" dirty="0" err="1"/>
              <a:t>Sync</a:t>
            </a:r>
            <a:r>
              <a:rPr lang="ru-RU" dirty="0"/>
              <a:t> Video.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1153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Казалось бы, ну ускорить и ускорить. Приключение на пару недель.</a:t>
            </a:r>
          </a:p>
          <a:p>
            <a:r>
              <a:rPr lang="ru-RU" dirty="0"/>
              <a:t>Ну, мы так думали. Но реальность как всегда преподнесла сюрпризы.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652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использовали F</a:t>
            </a:r>
            <a:r>
              <a:rPr lang="en-US" dirty="0"/>
              <a:t>Fm</a:t>
            </a:r>
            <a:r>
              <a:rPr lang="ru-RU" dirty="0" err="1"/>
              <a:t>peg</a:t>
            </a:r>
            <a:r>
              <a:rPr lang="ru-RU" dirty="0"/>
              <a:t> 4.x 2018 года, поэтому в первую очередь нужно было обновить на актуальную на тот момент 7.1.</a:t>
            </a:r>
          </a:p>
          <a:p>
            <a:r>
              <a:rPr lang="ru-RU" dirty="0"/>
              <a:t>Это оказалось отдельным приключением — API сильно поменялись и многое пришлось переписывать.</a:t>
            </a:r>
            <a:br>
              <a:rPr lang="ru-RU" dirty="0"/>
            </a:br>
            <a:r>
              <a:rPr lang="ru-RU" dirty="0"/>
              <a:t>И, кстати, из этого мы вынесли полезный урок: </a:t>
            </a:r>
            <a:r>
              <a:rPr lang="ru-RU" b="1" dirty="0"/>
              <a:t>зависимости лучше обновлять постепенно, а не делать один большой скачок.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361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  <a:p>
            <a:r>
              <a:rPr lang="ru-RU" dirty="0"/>
              <a:t>После обновления мы начали экспериментировать с аппаратным ускорением и обнаружили, что оно не даёт желательного ускорения.</a:t>
            </a:r>
          </a:p>
          <a:p>
            <a:r>
              <a:rPr lang="ru-RU" dirty="0"/>
              <a:t>И вот тут стало понятно, что проблема глубже. Не в кодеке. Не в настройках. </a:t>
            </a:r>
            <a:r>
              <a:rPr lang="ru-RU" b="1" dirty="0"/>
              <a:t>Проблема была в архитектуре транскодера.</a:t>
            </a:r>
            <a:endParaRPr lang="ru-RU" dirty="0"/>
          </a:p>
          <a:p>
            <a:r>
              <a:rPr lang="ru-RU" dirty="0"/>
              <a:t>Он был последовательным и просто не мог эффективно использовать ресурсы системы.</a:t>
            </a:r>
          </a:p>
          <a:p>
            <a:endParaRPr lang="ru-RU" dirty="0"/>
          </a:p>
          <a:p>
            <a:r>
              <a:rPr lang="ru-RU" dirty="0"/>
              <a:t>Мы пересобрали весь </a:t>
            </a:r>
            <a:r>
              <a:rPr lang="ru-RU" dirty="0" err="1"/>
              <a:t>pipeline</a:t>
            </a:r>
            <a:r>
              <a:rPr lang="ru-RU" dirty="0"/>
              <a:t> обработки видео</a:t>
            </a:r>
            <a:br>
              <a:rPr lang="ru-RU" dirty="0"/>
            </a:br>
            <a:r>
              <a:rPr lang="ru-RU" dirty="0"/>
              <a:t>и по пути столкнулись с рядом нетривиальных задач.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2594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И в этом докладе я хочу поделиться этим опытом — показать, как из этого можно прийти к </a:t>
            </a:r>
            <a:r>
              <a:rPr lang="ru-RU" b="0" dirty="0"/>
              <a:t>производительному и надёжному </a:t>
            </a:r>
            <a:r>
              <a:rPr lang="ru-RU" b="0" dirty="0" err="1"/>
              <a:t>pipeline</a:t>
            </a:r>
            <a:r>
              <a:rPr lang="ru-RU" b="0" dirty="0"/>
              <a:t> </a:t>
            </a:r>
            <a:r>
              <a:rPr lang="ru-RU" dirty="0"/>
              <a:t>на базе </a:t>
            </a:r>
            <a:r>
              <a:rPr lang="ru-RU" dirty="0" err="1"/>
              <a:t>FFmpeg</a:t>
            </a:r>
            <a:r>
              <a:rPr lang="ru-RU" dirty="0"/>
              <a:t> и современного C++.</a:t>
            </a:r>
          </a:p>
          <a:p>
            <a:r>
              <a:rPr lang="ru-RU" dirty="0"/>
              <a:t>Сначала я дам необходимый минимум сведений о библиотеке </a:t>
            </a:r>
            <a:r>
              <a:rPr lang="en-US" dirty="0" err="1"/>
              <a:t>Ffmpeg</a:t>
            </a:r>
            <a:endParaRPr lang="en-US" dirty="0"/>
          </a:p>
          <a:p>
            <a:r>
              <a:rPr lang="ru-RU" dirty="0"/>
              <a:t>Затем я расскажу, как интегрировать эту </a:t>
            </a:r>
            <a:r>
              <a:rPr lang="en-US" dirty="0"/>
              <a:t>C-</a:t>
            </a:r>
            <a:r>
              <a:rPr lang="ru-RU" dirty="0"/>
              <a:t>библиотеку и приложение на современном </a:t>
            </a:r>
            <a:r>
              <a:rPr lang="en-US" dirty="0"/>
              <a:t>C++.</a:t>
            </a:r>
            <a:endParaRPr lang="ru-RU" dirty="0"/>
          </a:p>
          <a:p>
            <a:r>
              <a:rPr lang="ru-RU" dirty="0"/>
              <a:t>Затем покажу, как собрать производительный </a:t>
            </a:r>
            <a:r>
              <a:rPr lang="ru-RU" dirty="0" err="1"/>
              <a:t>пайплайн</a:t>
            </a:r>
            <a:r>
              <a:rPr lang="ru-RU" dirty="0"/>
              <a:t> для транскодирования видео.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853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7271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FFmpeg</a:t>
            </a:r>
            <a:r>
              <a:rPr lang="ru-RU" dirty="0"/>
              <a:t> — это универсальный инструмент для работы с мультимедиа.</a:t>
            </a:r>
          </a:p>
          <a:p>
            <a:r>
              <a:rPr lang="ru-RU" dirty="0"/>
              <a:t>Он умеет читать и писать видео- и аудиофайлы, декодировать их, обрабатывать и кодировать обратно в нужный формат.</a:t>
            </a:r>
          </a:p>
          <a:p>
            <a:endParaRPr lang="ru-RU" dirty="0"/>
          </a:p>
          <a:p>
            <a:r>
              <a:rPr lang="ru-RU" dirty="0"/>
              <a:t>Если чуть точнее, внутри </a:t>
            </a:r>
            <a:r>
              <a:rPr lang="ru-RU" dirty="0" err="1"/>
              <a:t>FFmpeg</a:t>
            </a:r>
            <a:r>
              <a:rPr lang="ru-RU" dirty="0"/>
              <a:t> есть такие операции как:</a:t>
            </a:r>
          </a:p>
          <a:p>
            <a:pPr marL="171450" indent="-171450">
              <a:buFontTx/>
              <a:buChar char="-"/>
            </a:pPr>
            <a:r>
              <a:rPr lang="ru-RU" i="1" dirty="0" err="1"/>
              <a:t>demux</a:t>
            </a:r>
            <a:r>
              <a:rPr lang="ru-RU" dirty="0"/>
              <a:t> — разбор контейнера на потоки,</a:t>
            </a:r>
          </a:p>
          <a:p>
            <a:pPr marL="171450" indent="-171450">
              <a:buFontTx/>
              <a:buChar char="-"/>
            </a:pPr>
            <a:r>
              <a:rPr lang="ru-RU" dirty="0"/>
              <a:t>и </a:t>
            </a:r>
            <a:r>
              <a:rPr lang="ru-RU" i="1" dirty="0" err="1"/>
              <a:t>mux</a:t>
            </a:r>
            <a:r>
              <a:rPr lang="ru-RU" dirty="0"/>
              <a:t> — сборка обратно.</a:t>
            </a:r>
          </a:p>
          <a:p>
            <a:pPr marL="171450" indent="-171450">
              <a:buFontTx/>
              <a:buChar char="-"/>
            </a:pPr>
            <a:endParaRPr lang="ru-RU" dirty="0"/>
          </a:p>
          <a:p>
            <a:r>
              <a:rPr lang="ru-RU" dirty="0"/>
              <a:t>Но для начала можно думать о нём просто как о системе, которая умеет “разобрать файл → обработать данные → собрать обратно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085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434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210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851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8734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0746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0713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8992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2419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6815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242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4D279-BDF2-55A3-A7EC-37C016E93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4B091-4701-503F-A646-EC762AB357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70F3F0-D04F-FF74-D420-8AD2EF981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49143-26B1-9EBE-C587-6FFA2DAE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86D0E-0DC9-0652-AE60-FB0B3E7DF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56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B5AAA-6F34-61C3-8419-293932DB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5E971-A8AE-27B6-0C29-ABC0BBDF8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8C7DA-D6D1-984D-5EE9-EB5FED15F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820F3-2C98-3E63-0075-C0AD8F826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787558-452C-83AA-1EF1-499966AA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0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41AE1-D1B5-3175-2E73-3582EBA8E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A33AA2-CFD4-380C-3D32-B82A5F1CC8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639D1-8000-07AD-53BB-D8461EFE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2AF16-2832-C08C-1B54-196915F09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6B22A-EAC1-F4CB-8EED-57801D8A4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480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5294F-D60E-5247-2AFA-FD46DF103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C509B-9A5A-72CD-275F-BABE89678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E0AB0-66EE-F6F9-D574-B9778411C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921EF7-1D7C-0D1C-0030-45BF511A9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13F3B-C974-AD1C-C20F-AEC7D651B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AC6BCD-050B-BFFD-F9C3-5F44C28E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494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74CA5-194D-C6AA-02E3-ECC67E141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DE5F74-E3DA-6079-FFAF-E78A6B374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7F6B9-30E1-F208-5A21-840561723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2B2066-FAF4-4004-0DE1-EB8D9E5D4E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91E79-D6AE-E23C-C72A-8AF1A0CDBB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E11FB8-C1D3-91D7-1A57-42038411D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86278-E8E4-80EE-FB11-A1D6EDFA4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6977F-F919-8AE6-C32F-ED79F365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81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D5DC3-5853-01B4-3E38-01E8B8B62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B03DC9-4AE2-CC24-1175-2149AFB39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11FE88-C5DF-0569-78AA-CA1A72711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6B5E5-AEE9-B41A-7E20-A130E877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83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60D09F-5D79-0E33-4900-9ED85614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391C7D-E25D-E9F5-2346-F2D7E2753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08B2F-6EC3-B76D-812C-88C65BC31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454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49816-0568-61D2-3D13-DFDA7C2EC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F5E61-D795-0202-6B62-37CACF22F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42A86F-397B-DBE3-EE76-73BF0B5E2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3E33B-F50A-3D12-B50B-02081867B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A4CB3-771E-215F-697A-E014841B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6C8B19-1536-B5AB-6F1E-0D31CAA3C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783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89928-8104-C19E-B05B-AFDF3D61C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0FB950-7E4C-7B5B-8F65-E88996AA8B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8D3733-5039-DC60-C5BC-7A7932B61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F33B5A-A721-EEAB-56FB-879A61967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A432F-68FD-5F5D-372F-6134ABF9A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F5BF37-4E2D-E13B-3355-CFE342AFC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50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726C-1F38-3B4A-F3F6-716AB6C6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0A4B9-F5CE-030D-DAB3-405E5A96B4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CB970-C0CB-F4E8-3167-1175A8653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093F0-4775-8DB5-C969-0F4E4D381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C71E4-6813-CDA7-6868-B2D345815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39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3FD9F-74FA-9198-E825-12476284F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42BF2-FCCD-980A-873A-5E10F6436B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28B1D-AF9F-975D-73DC-F108ABD02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A334D3-7249-9BB5-9066-CE6A7E60E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B3700-3C47-551B-15CE-1BBED2F2E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285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765EB-1910-5729-949A-B538237E7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3117F-16E1-B715-FC68-6B63F0DC7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39DBF-D543-7FCF-42D0-91C4D5C499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33B2AA-159E-49DD-94CF-98709F24C68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94D8F-C313-F5F5-86C1-E91322BA4F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1EB6D6-1D7D-9FA8-C209-60320F0FCF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79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5" Type="http://schemas.openxmlformats.org/officeDocument/2006/relationships/image" Target="../media/image1.jpg"/><Relationship Id="rId4" Type="http://schemas.openxmlformats.org/officeDocument/2006/relationships/hyperlink" Target="https://youtube.com/@vividbw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C46E4-FDC0-798D-BF78-31DD8C3DB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520" y="1122362"/>
            <a:ext cx="11490960" cy="3266757"/>
          </a:xfrm>
        </p:spPr>
        <p:txBody>
          <a:bodyPr>
            <a:normAutofit/>
          </a:bodyPr>
          <a:lstStyle/>
          <a:p>
            <a:r>
              <a:rPr lang="en-US" dirty="0" err="1"/>
              <a:t>FFmpeg</a:t>
            </a:r>
            <a:r>
              <a:rPr lang="en-US" dirty="0"/>
              <a:t> </a:t>
            </a:r>
            <a:r>
              <a:rPr lang="ru-RU" dirty="0"/>
              <a:t>без боли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архитектура видео-транскодера на </a:t>
            </a:r>
            <a:r>
              <a:rPr lang="en-US" dirty="0"/>
              <a:t>C++23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6FB611-E60F-D31F-292F-9654DF9861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9120"/>
            <a:ext cx="9144000" cy="868680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Алексей Малов</a:t>
            </a:r>
          </a:p>
          <a:p>
            <a:r>
              <a:rPr lang="en-US" dirty="0" err="1"/>
              <a:t>iSpring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9240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D9BF5-8A60-8714-EC81-96B6FD864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Обо мне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30D30-6FE8-2CC1-DFC3-37350E0315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13120" cy="4351338"/>
          </a:xfrm>
        </p:spPr>
        <p:txBody>
          <a:bodyPr/>
          <a:lstStyle/>
          <a:p>
            <a:r>
              <a:rPr lang="ru-RU" dirty="0"/>
              <a:t>Ведущий архитектор в </a:t>
            </a:r>
            <a:r>
              <a:rPr lang="en-US" dirty="0" err="1"/>
              <a:t>iSpring</a:t>
            </a:r>
            <a:endParaRPr lang="en-US" dirty="0"/>
          </a:p>
          <a:p>
            <a:r>
              <a:rPr lang="ru-RU" dirty="0"/>
              <a:t>Преподаю компьютерные дисциплины</a:t>
            </a:r>
          </a:p>
          <a:p>
            <a:r>
              <a:rPr lang="ru-RU" dirty="0"/>
              <a:t>Веду образовательный канал на </a:t>
            </a:r>
            <a:r>
              <a:rPr lang="en-US" dirty="0"/>
              <a:t>YouTube</a:t>
            </a:r>
          </a:p>
          <a:p>
            <a:pPr lvl="1"/>
            <a:r>
              <a:rPr lang="en-US" dirty="0">
                <a:hlinkClick r:id="rId4"/>
              </a:rPr>
              <a:t>https://youtube.com/@vividbw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CDB8B67-9D71-8C27-85B2-CE27436EAC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9967" y="197461"/>
            <a:ext cx="3803833" cy="38038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0F29E8-EBE7-5402-80A7-1EE6C3B264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2559" y="4168958"/>
            <a:ext cx="3851241" cy="263278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67912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F570F-5CA7-5287-4A11-105C75476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iSpring</a:t>
            </a:r>
            <a:r>
              <a:rPr lang="en-US" dirty="0"/>
              <a:t> Suite – </a:t>
            </a:r>
            <a:r>
              <a:rPr lang="ru-RU" dirty="0"/>
              <a:t>конструктор электронных курсов на базе </a:t>
            </a:r>
            <a:r>
              <a:rPr lang="en-US" dirty="0"/>
              <a:t>PowerPoint</a:t>
            </a:r>
          </a:p>
        </p:txBody>
      </p:sp>
      <p:pic>
        <p:nvPicPr>
          <p:cNvPr id="10" name="!!Suite">
            <a:extLst>
              <a:ext uri="{FF2B5EF4-FFF2-40B4-BE49-F238E27FC236}">
                <a16:creationId xmlns:a16="http://schemas.microsoft.com/office/drawing/2014/main" id="{AC5EE4DF-DA19-1553-61C7-7511EC303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1758"/>
            <a:ext cx="1563268" cy="1585080"/>
          </a:xfrm>
          <a:prstGeom prst="rect">
            <a:avLst/>
          </a:prstGeom>
        </p:spPr>
      </p:pic>
      <p:pic>
        <p:nvPicPr>
          <p:cNvPr id="27" name="!!Suite-Bg">
            <a:extLst>
              <a:ext uri="{FF2B5EF4-FFF2-40B4-BE49-F238E27FC236}">
                <a16:creationId xmlns:a16="http://schemas.microsoft.com/office/drawing/2014/main" id="{5DD63C81-E199-3663-81F8-B4F0F08267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3319145"/>
            <a:ext cx="1563267" cy="1587693"/>
          </a:xfrm>
          <a:prstGeom prst="rect">
            <a:avLst/>
          </a:prstGeom>
        </p:spPr>
      </p:pic>
      <p:pic>
        <p:nvPicPr>
          <p:cNvPr id="29" name="!!Suite-Fg">
            <a:extLst>
              <a:ext uri="{FF2B5EF4-FFF2-40B4-BE49-F238E27FC236}">
                <a16:creationId xmlns:a16="http://schemas.microsoft.com/office/drawing/2014/main" id="{C0CFAD9E-D3B2-D227-39D8-FEE00591D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2472" y="3581481"/>
            <a:ext cx="1050320" cy="1050320"/>
          </a:xfrm>
          <a:prstGeom prst="rect">
            <a:avLst/>
          </a:prstGeom>
        </p:spPr>
      </p:pic>
      <p:pic>
        <p:nvPicPr>
          <p:cNvPr id="12" name="!!Quiz">
            <a:extLst>
              <a:ext uri="{FF2B5EF4-FFF2-40B4-BE49-F238E27FC236}">
                <a16:creationId xmlns:a16="http://schemas.microsoft.com/office/drawing/2014/main" id="{BD328522-C534-4974-CAF2-A75B74C5907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8804" y="5102789"/>
            <a:ext cx="1174749" cy="1174749"/>
          </a:xfrm>
          <a:prstGeom prst="rect">
            <a:avLst/>
          </a:prstGeom>
        </p:spPr>
      </p:pic>
      <p:pic>
        <p:nvPicPr>
          <p:cNvPr id="14" name="!!Simulation">
            <a:extLst>
              <a:ext uri="{FF2B5EF4-FFF2-40B4-BE49-F238E27FC236}">
                <a16:creationId xmlns:a16="http://schemas.microsoft.com/office/drawing/2014/main" id="{E9C8529C-0483-9C4D-DE0A-A9D4BBAB6A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186" y="3518878"/>
            <a:ext cx="1154387" cy="1190842"/>
          </a:xfrm>
          <a:prstGeom prst="rect">
            <a:avLst/>
          </a:prstGeom>
        </p:spPr>
      </p:pic>
      <p:pic>
        <p:nvPicPr>
          <p:cNvPr id="16" name="!!Interaction">
            <a:extLst>
              <a:ext uri="{FF2B5EF4-FFF2-40B4-BE49-F238E27FC236}">
                <a16:creationId xmlns:a16="http://schemas.microsoft.com/office/drawing/2014/main" id="{F543F0D6-FF69-2C31-7E8E-F42834B798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0561" y="3554036"/>
            <a:ext cx="1156488" cy="1174749"/>
          </a:xfrm>
          <a:prstGeom prst="rect">
            <a:avLst/>
          </a:prstGeom>
        </p:spPr>
      </p:pic>
      <p:pic>
        <p:nvPicPr>
          <p:cNvPr id="18" name="!!PowerPoint">
            <a:extLst>
              <a:ext uri="{FF2B5EF4-FFF2-40B4-BE49-F238E27FC236}">
                <a16:creationId xmlns:a16="http://schemas.microsoft.com/office/drawing/2014/main" id="{656F90A7-54FB-25C4-B440-D3279036318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149" y="3441355"/>
            <a:ext cx="1345887" cy="1345887"/>
          </a:xfrm>
          <a:prstGeom prst="rect">
            <a:avLst/>
          </a:prstGeom>
        </p:spPr>
      </p:pic>
      <p:pic>
        <p:nvPicPr>
          <p:cNvPr id="23" name="!!Video">
            <a:extLst>
              <a:ext uri="{FF2B5EF4-FFF2-40B4-BE49-F238E27FC236}">
                <a16:creationId xmlns:a16="http://schemas.microsoft.com/office/drawing/2014/main" id="{53FD3B58-4427-1917-CF0E-E7F3B3304B6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3459" y="2065645"/>
            <a:ext cx="1563265" cy="913909"/>
          </a:xfrm>
          <a:prstGeom prst="rect">
            <a:avLst/>
          </a:prstGeom>
        </p:spPr>
      </p:pic>
      <p:pic>
        <p:nvPicPr>
          <p:cNvPr id="25" name="!!Package">
            <a:extLst>
              <a:ext uri="{FF2B5EF4-FFF2-40B4-BE49-F238E27FC236}">
                <a16:creationId xmlns:a16="http://schemas.microsoft.com/office/drawing/2014/main" id="{9CE6E3B4-9361-FFC9-E59D-4DD85E32CD2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77897" y="3429000"/>
            <a:ext cx="1581371" cy="147305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1784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07407E-6 L 0.34011 0.22014 " pathEditMode="relative" rAng="0" ptsTypes="AA">
                                      <p:cBhvr>
                                        <p:cTn id="5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005" y="1099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0"/>
                            </p:stCondLst>
                            <p:childTnLst>
                              <p:par>
                                <p:cTn id="56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81481E-6 L 0.1974 0.00069 " pathEditMode="relative" rAng="0" ptsTypes="AA">
                                      <p:cBhvr>
                                        <p:cTn id="57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70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500"/>
                            </p:stCondLst>
                            <p:childTnLst>
                              <p:par>
                                <p:cTn id="5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0"/>
                            </p:stCondLst>
                            <p:childTnLst>
                              <p:par>
                                <p:cTn id="63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7037E-7 L 0.33463 -0.23102 " pathEditMode="relative" rAng="0" ptsTypes="AA">
                                      <p:cBhvr>
                                        <p:cTn id="6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732" y="-115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000"/>
                            </p:stCondLst>
                            <p:childTnLst>
                              <p:par>
                                <p:cTn id="66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7500"/>
                            </p:stCondLst>
                            <p:childTnLst>
                              <p:par>
                                <p:cTn id="7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022E-16 L 0.33985 0.00417 " pathEditMode="relative" rAng="0" ptsTypes="AA">
                                      <p:cBhvr>
                                        <p:cTn id="71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992" y="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9500"/>
                            </p:stCondLst>
                            <p:childTnLst>
                              <p:par>
                                <p:cTn id="7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0"/>
                            </p:stCondLst>
                            <p:childTnLst>
                              <p:par>
                                <p:cTn id="7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1.11022E-16 L 0.48359 0.00139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180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2000"/>
                            </p:stCondLst>
                            <p:childTnLst>
                              <p:par>
                                <p:cTn id="8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6" dur="2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1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42" presetClass="path" presetSubtype="0" accel="50000" decel="5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1.45833E-6 2.59259E-6 L 0.24206 -0.00324 " pathEditMode="relative" rAng="0" ptsTypes="AA">
                                      <p:cBhvr>
                                        <p:cTn id="93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96" y="-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FED3DD-F665-768F-0FB4-F8FEEA88D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Задача, ускорить транскодирование видео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639AF4-3047-5B37-F929-D4CAFDA2A7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Использовать аппаратное ускорение</a:t>
            </a:r>
            <a:endParaRPr lang="en-US" dirty="0"/>
          </a:p>
          <a:p>
            <a:pPr lvl="1"/>
            <a:r>
              <a:rPr lang="en-US" dirty="0"/>
              <a:t>Intel QSV</a:t>
            </a:r>
          </a:p>
          <a:p>
            <a:pPr lvl="1"/>
            <a:r>
              <a:rPr lang="en-US" dirty="0"/>
              <a:t>NVIDIA</a:t>
            </a:r>
          </a:p>
          <a:p>
            <a:pPr lvl="1"/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834511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25539F-7DB6-7916-A98B-EA4585D0C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0"/>
            <a:ext cx="12194472" cy="68566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74D370-391D-980A-ADA9-C70CA859B90C}"/>
              </a:ext>
            </a:extLst>
          </p:cNvPr>
          <p:cNvSpPr txBox="1"/>
          <p:nvPr/>
        </p:nvSpPr>
        <p:spPr>
          <a:xfrm>
            <a:off x="259080" y="182880"/>
            <a:ext cx="11932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Надо ускорить </a:t>
            </a:r>
            <a:r>
              <a:rPr lang="ru-RU" sz="6000" dirty="0" err="1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транскодинг</a:t>
            </a:r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 видео.</a:t>
            </a:r>
            <a:endParaRPr lang="en-US" sz="60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Impact" panose="020B080603090205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F0D121-BCCF-D8BA-2B16-9A1AAC6CD51B}"/>
              </a:ext>
            </a:extLst>
          </p:cNvPr>
          <p:cNvSpPr txBox="1"/>
          <p:nvPr/>
        </p:nvSpPr>
        <p:spPr>
          <a:xfrm>
            <a:off x="259080" y="5659457"/>
            <a:ext cx="11734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Приключение на пару недель</a:t>
            </a:r>
            <a:endParaRPr lang="en-US" sz="60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2845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57F5E-3F7F-13DD-DBBC-802A2223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№1 –</a:t>
            </a:r>
            <a:r>
              <a:rPr lang="en-US" dirty="0"/>
              <a:t> </a:t>
            </a:r>
            <a:r>
              <a:rPr lang="ru-RU" dirty="0"/>
              <a:t>обновить </a:t>
            </a:r>
            <a:r>
              <a:rPr lang="en-US" dirty="0" err="1"/>
              <a:t>FFmpeg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AFC7C-44DE-6DBE-D12E-2D2C13D71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Библиотека мультимедиа не обновлялась с 2018 года</a:t>
            </a:r>
          </a:p>
          <a:p>
            <a:pPr lvl="1"/>
            <a:r>
              <a:rPr lang="en-US" dirty="0" err="1"/>
              <a:t>FFmpeg</a:t>
            </a:r>
            <a:r>
              <a:rPr lang="en-US" dirty="0"/>
              <a:t> 4</a:t>
            </a:r>
          </a:p>
          <a:p>
            <a:pPr lvl="1"/>
            <a:r>
              <a:rPr lang="ru-RU" dirty="0"/>
              <a:t>Актуальная версия: 7.1</a:t>
            </a:r>
          </a:p>
          <a:p>
            <a:pPr lvl="1"/>
            <a:r>
              <a:rPr lang="en-US" dirty="0"/>
              <a:t>API </a:t>
            </a:r>
            <a:r>
              <a:rPr lang="ru-RU" dirty="0"/>
              <a:t>сильно поменялся</a:t>
            </a:r>
          </a:p>
          <a:p>
            <a:r>
              <a:rPr lang="ru-RU" dirty="0"/>
              <a:t>Переписали почти всю библиотеку</a:t>
            </a:r>
          </a:p>
          <a:p>
            <a:r>
              <a:rPr lang="en-US" dirty="0"/>
              <a:t>💡</a:t>
            </a:r>
            <a:r>
              <a:rPr lang="ru-RU" dirty="0"/>
              <a:t>Лучше обновляться по-маленькому, а не по большому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29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7DDF-2E8B-5F88-6376-1C8F5D85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№2 – </a:t>
            </a:r>
            <a:r>
              <a:rPr lang="ru-RU" dirty="0" err="1"/>
              <a:t>немасштабируемая</a:t>
            </a:r>
            <a:r>
              <a:rPr lang="ru-RU" dirty="0"/>
              <a:t> архитектура транскодера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F3639-8551-4C75-8838-13271D3C1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Аппаратное ускорение не помогло</a:t>
            </a:r>
          </a:p>
          <a:p>
            <a:r>
              <a:rPr lang="ru-RU" dirty="0"/>
              <a:t>Причина: последовательный </a:t>
            </a:r>
            <a:r>
              <a:rPr lang="ru-RU" dirty="0" err="1"/>
              <a:t>пайплайн</a:t>
            </a:r>
            <a:endParaRPr lang="ru-RU" dirty="0"/>
          </a:p>
          <a:p>
            <a:pPr lvl="1"/>
            <a:r>
              <a:rPr lang="en-US" dirty="0"/>
              <a:t>CPU </a:t>
            </a:r>
            <a:r>
              <a:rPr lang="ru-RU" dirty="0"/>
              <a:t>недогружен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Распараллеливание</a:t>
            </a:r>
          </a:p>
          <a:p>
            <a:pPr lvl="1"/>
            <a:r>
              <a:rPr lang="ru-RU" dirty="0"/>
              <a:t>Новые интересные задачи</a:t>
            </a:r>
          </a:p>
          <a:p>
            <a:r>
              <a:rPr lang="ru-RU" dirty="0"/>
              <a:t>Итог: ускорили транскодирование видео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03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6347-C81C-792F-6053-DE824932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 чем этот доклад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47E65-A13D-D6C6-2283-736D63B49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Как устроен </a:t>
            </a:r>
            <a:r>
              <a:rPr lang="en-US" dirty="0" err="1"/>
              <a:t>FFmpeg</a:t>
            </a:r>
            <a:endParaRPr lang="ru-RU" dirty="0"/>
          </a:p>
          <a:p>
            <a:r>
              <a:rPr lang="ru-RU" dirty="0"/>
              <a:t>Как надёжно интегрировать </a:t>
            </a:r>
            <a:r>
              <a:rPr lang="en-US" dirty="0"/>
              <a:t>C++23</a:t>
            </a:r>
            <a:r>
              <a:rPr lang="ru-RU" dirty="0"/>
              <a:t> модули с </a:t>
            </a:r>
            <a:r>
              <a:rPr lang="en-US" dirty="0"/>
              <a:t>C API</a:t>
            </a:r>
            <a:endParaRPr lang="ru-RU" dirty="0"/>
          </a:p>
          <a:p>
            <a:r>
              <a:rPr lang="ru-RU" dirty="0"/>
              <a:t>Как построить многопоточный </a:t>
            </a:r>
            <a:r>
              <a:rPr lang="ru-RU" dirty="0" err="1"/>
              <a:t>пайплайн</a:t>
            </a:r>
            <a:endParaRPr lang="en-US" dirty="0"/>
          </a:p>
          <a:p>
            <a:endParaRPr lang="ru-RU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34797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0FEF47-6BFC-5A37-5C98-89A940C5A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Кратко об </a:t>
            </a:r>
            <a:r>
              <a:rPr lang="en-US" dirty="0" err="1"/>
              <a:t>FFmpeg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DD063D-B412-26A1-60F6-CDF629D9C5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31552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EBFF7B-5F06-2085-F621-B98E03DDD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FFmpeg</a:t>
            </a:r>
            <a:r>
              <a:rPr lang="ru-RU" dirty="0"/>
              <a:t> – мультимедийный фреймворк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C20D257-51EA-7A65-1A69-1C39DE16B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Позволяет:</a:t>
            </a:r>
          </a:p>
          <a:p>
            <a:pPr lvl="1"/>
            <a:r>
              <a:rPr lang="ru-RU" dirty="0"/>
              <a:t>читать и писать видео- и аудиофайлы</a:t>
            </a:r>
            <a:endParaRPr lang="en-US" dirty="0"/>
          </a:p>
          <a:p>
            <a:pPr lvl="2"/>
            <a:r>
              <a:rPr lang="en-US" dirty="0" err="1"/>
              <a:t>demux</a:t>
            </a:r>
            <a:r>
              <a:rPr lang="en-US" dirty="0"/>
              <a:t> </a:t>
            </a:r>
            <a:r>
              <a:rPr lang="ru-RU" dirty="0"/>
              <a:t>(разбор контейнера на потоки)</a:t>
            </a:r>
          </a:p>
          <a:p>
            <a:pPr lvl="2"/>
            <a:r>
              <a:rPr lang="en-US" dirty="0"/>
              <a:t>mux </a:t>
            </a:r>
            <a:r>
              <a:rPr lang="ru-RU" dirty="0"/>
              <a:t>(сборка обратно)</a:t>
            </a:r>
          </a:p>
          <a:p>
            <a:pPr lvl="1"/>
            <a:r>
              <a:rPr lang="ru-RU" dirty="0"/>
              <a:t>кодировать и декодировать</a:t>
            </a:r>
          </a:p>
          <a:p>
            <a:pPr lvl="1"/>
            <a:r>
              <a:rPr lang="ru-RU" dirty="0"/>
              <a:t>конвертировать форматы</a:t>
            </a:r>
          </a:p>
          <a:p>
            <a:pPr lvl="1"/>
            <a:r>
              <a:rPr lang="ru-RU" dirty="0"/>
              <a:t>обрабатывать и фильтровать аудио и видео</a:t>
            </a:r>
          </a:p>
          <a:p>
            <a:r>
              <a:rPr lang="ru-RU" dirty="0"/>
              <a:t>Поддерживает:</a:t>
            </a:r>
          </a:p>
          <a:p>
            <a:pPr lvl="1"/>
            <a:r>
              <a:rPr lang="ru-RU" dirty="0"/>
              <a:t>практически все форматы (от устаревших до современных )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кроссплатформенный с открытым исходным кодом</a:t>
            </a:r>
          </a:p>
          <a:p>
            <a:pPr lvl="1"/>
            <a:r>
              <a:rPr lang="ru-RU" dirty="0"/>
              <a:t>де-факто стандарт индустрии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02536C-F974-7C3C-775B-F8594838F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690688"/>
            <a:ext cx="16002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4273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4759-025E-F1EC-C6D3-F62774B09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Безопасная интеграция с </a:t>
            </a:r>
            <a:r>
              <a:rPr lang="en-US" dirty="0"/>
              <a:t>C API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342474-6624-84CA-516E-6EE7B7FA7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95511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6ACA8-12E3-B6FB-9FB4-26197D1BE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783A5-0DFC-587C-F338-71ACCC49C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RAII</a:t>
            </a:r>
          </a:p>
          <a:p>
            <a:r>
              <a:rPr lang="en-US" dirty="0"/>
              <a:t>Modules</a:t>
            </a:r>
          </a:p>
          <a:p>
            <a:r>
              <a:rPr lang="en-US" dirty="0"/>
              <a:t>expected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26636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1ED9C0-6E91-93FA-2D02-22D30A15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Последовательный </a:t>
            </a:r>
            <a:r>
              <a:rPr lang="en-US" dirty="0"/>
              <a:t>pipeline </a:t>
            </a:r>
            <a:r>
              <a:rPr lang="ru-RU" dirty="0"/>
              <a:t>и его пределы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3E5B5-0B8B-B2A6-72DF-203899703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09672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19461-3C3F-5B8E-68DA-CC7682EA0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1913BB-2CFF-3FA7-FA8C-3FC5F015E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43360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E8BE58-58C4-54EB-C662-D4F9ADD2D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асинхронности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7746B-24C9-C012-BBC2-17913974A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22378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807772-58CE-5207-F68B-3893C3743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39ACE8-4D4C-4814-B887-A674C976B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Почему</a:t>
            </a:r>
          </a:p>
          <a:p>
            <a:r>
              <a:rPr lang="ru-RU" dirty="0"/>
              <a:t>Какие проблемы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299570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35F57B-DB7C-29E4-C549-F0B97B3C3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асинхронного транскодера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3E4E0C-9737-CBD2-B3A5-FFD6182B6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2543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4B6197-699D-27E2-5328-9048F98EC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CD8645-5206-620B-87F2-B627507F2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Очереди</a:t>
            </a:r>
          </a:p>
          <a:p>
            <a:r>
              <a:rPr lang="en-US" dirty="0"/>
              <a:t>Pending</a:t>
            </a:r>
          </a:p>
          <a:p>
            <a:r>
              <a:rPr lang="en-US" dirty="0"/>
              <a:t>EOF</a:t>
            </a:r>
          </a:p>
          <a:p>
            <a:r>
              <a:rPr lang="ru-RU" dirty="0"/>
              <a:t>Контракты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962357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F883B-B857-D764-3F82-9235CB325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Производительность и анализ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61F8F-FB4C-7CD8-ADCC-719B90990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25866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1E7D-BA20-28C6-6782-9DC2F4B94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AC4E5-40EA-5F28-1DD5-C91C321D6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4465834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2004 (4th edition)"/>
  <p:tag name="ISPRING_ULTRA_SCORM_COURSE_ID" val="D193081A-0146-477F-9180-2E11175769AF"/>
  <p:tag name="ISPRING_CMI5_LAUNCH_METHOD" val="any window"/>
  <p:tag name="ISPRING_SCORM_REPORT_STATUS" val="0"/>
  <p:tag name="ISPRING_SCORM_ENDPOINT" val="&lt;endpoint&gt;&lt;enable&gt;0&lt;/enable&gt;&lt;lrs&gt;https://&lt;/lrs&gt;&lt;auth&gt;0&lt;/auth&gt;&lt;login&gt;&lt;/login&gt;&lt;password&gt;&lt;/password&gt;&lt;key&gt;&lt;/key&gt;&lt;name&gt;&lt;/name&gt;&lt;email&gt;&lt;/email&gt;&lt;/endpoint&gt;&#10;"/>
  <p:tag name="ISPRINGCLOUDFOLDERID" val="1"/>
  <p:tag name="ISPRINGONLINEFOLDERID" val="0"/>
  <p:tag name="ISPRING_OUTPUT_FOLDER" val="[[&quot;\uFFFD\r\uFFFDZ{235BA7EF-9378-429B-B32C-1A020B2AC69E}&quot;,&quot;C:\\Users\\malov\\source\\repos\\cpp-russia-speech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ORIGINAL_SIZE&quot;},&quot;accessibilitySettings&quot;:{&quot;enabled&quot;:&quot;T_FALSE&quot;,&quot;invertReadingOrder&quot;:&quot;T_FALSE&quot;},&quot;compressionSettings&quot;:{&quot;imageSettings&quot;:{&quot;jpegQuality&quot;:70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0&quot;},&quot;cloudSettings&quot;:{&quot;onlineDestinationFolderId&quot;:&quot;1&quot;},&quot;publishDestination&quot;:&quot;ISPRING_STUDIO&quot;,&quot;wordSettings&quot;:{&quot;printCopies&quot;:1},&quot;studioSettings&quot;:{&quot;onlineDestinationFolderId&quot;:&quot;0&quot;,&quot;uploadSources&quot;:true}}"/>
  <p:tag name="ISPRING-SUITE_ISPRING_GRADING_SETTINGS_V2" val="{&quot;alternatives&quot;:[{&quot;slides&quot;:{&quot;slides_to_view&quot;:{&quot;percent&quot;:100},&quot;group_id&quot;:&quot;all slides&quot;},&quot;pass_materials&quot;:{&quot;slide_uids&quot;:[]},&quot;name&quot;:&quot;&quot;}]}"/>
  <p:tag name="ISPRING-SUITE_ISPRING_CURRENT_GRADING_VERSION" val="v2"/>
  <p:tag name="ISPRING_PRESENTATION_TITLE" val="ffmpeg without pain"/>
  <p:tag name="ISPRING_FIRST_PUBLI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06263AD7-F0C3-478A-A1A8-E2D6BE65E4ED}:25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A89D1C8-3BF0-4CA2-BCAB-99EC05675BE5}:25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61B12058-DE4D-4CA4-B44A-2B6319454E6A}:25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59A5AB86-01EA-437B-80E8-17488DA415B6}:25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988C51AA-A0DA-4D11-965B-60AAE6920863}:26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33B6AC5F-9B5E-4F6A-B5D8-963F3CF4C596}:26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63E1A864-475D-4B04-9C06-59066B47FD8B}:266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F8851800-CAE3-4C61-B22B-86F05FC1BAFA}:26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3BA111F9-9935-4A62-A1CA-B133ADF34370}:26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80E2B59A-357C-4398-96E7-28BAC04F960E}:26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A471BC92-A9AF-49F9-B025-F9AE5C55AAD6}:268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A027FB20-F3ED-4D1C-BE66-436C8A6A10C6}:26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A6862419-6003-4E96-81C9-2B9F2876449A}:26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7426971-49D5-4311-901D-093C84A127F6}:26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8AF7B472-CBA9-43CC-98E7-16E3AC11FFFB}:27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692</Words>
  <Application>Microsoft Office PowerPoint</Application>
  <PresentationFormat>Widescreen</PresentationFormat>
  <Paragraphs>113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Impact</vt:lpstr>
      <vt:lpstr>Office Theme</vt:lpstr>
      <vt:lpstr>FFmpeg без боли: архитектура видео-транскодера на C++23</vt:lpstr>
      <vt:lpstr>Обо мне</vt:lpstr>
      <vt:lpstr>iSpring Suite – конструктор электронных курсов на базе PowerPoint</vt:lpstr>
      <vt:lpstr>Задача, ускорить транскодирование видео</vt:lpstr>
      <vt:lpstr>PowerPoint Presentation</vt:lpstr>
      <vt:lpstr>Проблема №1 – обновить FFmpeg</vt:lpstr>
      <vt:lpstr>Проблема №2 – немасштабируемая архитектура транскодера</vt:lpstr>
      <vt:lpstr>О чем этот доклад</vt:lpstr>
      <vt:lpstr>Кратко об FFmpeg</vt:lpstr>
      <vt:lpstr>FFmpeg – мультимедийный фреймворк</vt:lpstr>
      <vt:lpstr>Безопасная интеграция с C API</vt:lpstr>
      <vt:lpstr>Структура</vt:lpstr>
      <vt:lpstr>Последовательный pipeline и его пределы</vt:lpstr>
      <vt:lpstr>PowerPoint Presentation</vt:lpstr>
      <vt:lpstr>Переход к асинхронности</vt:lpstr>
      <vt:lpstr>PowerPoint Presentation</vt:lpstr>
      <vt:lpstr>Архитектура асинхронного транскодера</vt:lpstr>
      <vt:lpstr>PowerPoint Presentation</vt:lpstr>
      <vt:lpstr>Производительность и анализ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ffmpeg without pain</dc:title>
  <dc:creator>Алексей Малов</dc:creator>
  <cp:lastModifiedBy>Алексей Малов</cp:lastModifiedBy>
  <cp:revision>19</cp:revision>
  <dcterms:created xsi:type="dcterms:W3CDTF">2026-04-12T10:50:57Z</dcterms:created>
  <dcterms:modified xsi:type="dcterms:W3CDTF">2026-04-14T20:15:02Z</dcterms:modified>
</cp:coreProperties>
</file>