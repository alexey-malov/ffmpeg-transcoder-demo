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8.xml" ContentType="application/vnd.openxmlformats-officedocument.presentationml.tags+xml"/>
  <Override PartName="/ppt/notesSlides/notesSlide25.xml" ContentType="application/vnd.openxmlformats-officedocument.presentationml.notesSlide+xml"/>
  <Override PartName="/ppt/tags/tag9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0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tags/tag11.xml" ContentType="application/vnd.openxmlformats-officedocument.presentationml.tags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258" r:id="rId3"/>
    <p:sldId id="257" r:id="rId4"/>
    <p:sldId id="273" r:id="rId5"/>
    <p:sldId id="272" r:id="rId6"/>
    <p:sldId id="274" r:id="rId7"/>
    <p:sldId id="275" r:id="rId8"/>
    <p:sldId id="259" r:id="rId9"/>
    <p:sldId id="260" r:id="rId10"/>
    <p:sldId id="276" r:id="rId11"/>
    <p:sldId id="277" r:id="rId12"/>
    <p:sldId id="279" r:id="rId13"/>
    <p:sldId id="278" r:id="rId14"/>
    <p:sldId id="261" r:id="rId15"/>
    <p:sldId id="280" r:id="rId16"/>
    <p:sldId id="326" r:id="rId17"/>
    <p:sldId id="327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62" r:id="rId26"/>
    <p:sldId id="267" r:id="rId27"/>
    <p:sldId id="288" r:id="rId28"/>
    <p:sldId id="289" r:id="rId29"/>
    <p:sldId id="290" r:id="rId30"/>
    <p:sldId id="291" r:id="rId31"/>
    <p:sldId id="292" r:id="rId32"/>
    <p:sldId id="263" r:id="rId33"/>
    <p:sldId id="293" r:id="rId34"/>
    <p:sldId id="294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23" r:id="rId51"/>
    <p:sldId id="311" r:id="rId52"/>
    <p:sldId id="329" r:id="rId53"/>
    <p:sldId id="313" r:id="rId54"/>
    <p:sldId id="314" r:id="rId55"/>
    <p:sldId id="315" r:id="rId56"/>
    <p:sldId id="316" r:id="rId57"/>
    <p:sldId id="317" r:id="rId58"/>
    <p:sldId id="318" r:id="rId59"/>
    <p:sldId id="328" r:id="rId60"/>
    <p:sldId id="319" r:id="rId61"/>
    <p:sldId id="320" r:id="rId62"/>
    <p:sldId id="321" r:id="rId63"/>
    <p:sldId id="322" r:id="rId64"/>
    <p:sldId id="270" r:id="rId65"/>
    <p:sldId id="324" r:id="rId66"/>
  </p:sldIdLst>
  <p:sldSz cx="12192000" cy="6858000"/>
  <p:notesSz cx="6858000" cy="9144000"/>
  <p:custDataLst>
    <p:tags r:id="rId6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CD7AE1-90B3-43E6-BD9D-3BCFE2B40F74}">
          <p14:sldIdLst>
            <p14:sldId id="256"/>
            <p14:sldId id="258"/>
            <p14:sldId id="257"/>
            <p14:sldId id="273"/>
            <p14:sldId id="272"/>
            <p14:sldId id="274"/>
            <p14:sldId id="275"/>
            <p14:sldId id="259"/>
          </p14:sldIdLst>
        </p14:section>
        <p14:section name="Минимальная модель FFmpeg" id="{DC374373-E171-4F74-A275-C1B4CBF73A86}">
          <p14:sldIdLst>
            <p14:sldId id="260"/>
            <p14:sldId id="276"/>
            <p14:sldId id="277"/>
            <p14:sldId id="279"/>
            <p14:sldId id="278"/>
          </p14:sldIdLst>
        </p14:section>
        <p14:section name="Безопасная интеграция с C API" id="{E1F2326C-B985-47B3-8BEE-FC945695651D}">
          <p14:sldIdLst>
            <p14:sldId id="261"/>
            <p14:sldId id="280"/>
            <p14:sldId id="326"/>
            <p14:sldId id="327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Последовательный pipeline" id="{87003728-4997-49BE-8C53-9D8B81F2D6CC}">
          <p14:sldIdLst>
            <p14:sldId id="262"/>
            <p14:sldId id="267"/>
            <p14:sldId id="288"/>
            <p14:sldId id="289"/>
            <p14:sldId id="290"/>
            <p14:sldId id="291"/>
            <p14:sldId id="292"/>
          </p14:sldIdLst>
        </p14:section>
        <p14:section name="Асинхронный пайплайн" id="{28853027-3E44-4DDD-9CBA-B55A626B0C31}">
          <p14:sldIdLst>
            <p14:sldId id="263"/>
            <p14:sldId id="293"/>
          </p14:sldIdLst>
        </p14:section>
        <p14:section name="Работа параллельного конвейера" id="{902E28BC-D09D-439C-932E-49E7F91529BD}">
          <p14:sldIdLst>
            <p14:sldId id="29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Компоненты параллельного конвейера" id="{76067223-86A3-46DE-A527-F22B263B4192}">
          <p14:sldIdLst>
            <p14:sldId id="323"/>
            <p14:sldId id="311"/>
            <p14:sldId id="329"/>
            <p14:sldId id="313"/>
            <p14:sldId id="314"/>
            <p14:sldId id="315"/>
            <p14:sldId id="316"/>
            <p14:sldId id="317"/>
            <p14:sldId id="318"/>
            <p14:sldId id="328"/>
            <p14:sldId id="319"/>
            <p14:sldId id="320"/>
            <p14:sldId id="321"/>
            <p14:sldId id="322"/>
          </p14:sldIdLst>
        </p14:section>
        <p14:section name="Заключение" id="{147B621C-9FFF-4AC2-8320-CF393E76E838}">
          <p14:sldIdLst>
            <p14:sldId id="270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0" autoAdjust="0"/>
    <p:restoredTop sz="73366" autoAdjust="0"/>
  </p:normalViewPr>
  <p:slideViewPr>
    <p:cSldViewPr snapToGrid="0" showGuides="1">
      <p:cViewPr varScale="1">
        <p:scale>
          <a:sx n="77" d="100"/>
          <a:sy n="77" d="100"/>
        </p:scale>
        <p:origin x="10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12EC6-E0E7-4A5F-8F6B-F8ED76688BE1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35333-98B4-4ADE-BC11-C05AE53D6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2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Всем привет. Меня зовут Алексей Малов, и сегодня я хочу представить вашему вниманию доклад о том, как построить производительный видео-транскодер на базе </a:t>
            </a:r>
            <a:r>
              <a:rPr lang="en-US" dirty="0" err="1"/>
              <a:t>Ffmpeg</a:t>
            </a:r>
            <a:r>
              <a:rPr lang="ru-RU" dirty="0"/>
              <a:t>, используя возможности современного </a:t>
            </a:r>
            <a:r>
              <a:rPr lang="en-US" dirty="0"/>
              <a:t>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06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работаю в компании </a:t>
            </a:r>
            <a:r>
              <a:rPr lang="en-US" dirty="0" err="1"/>
              <a:t>iSpring</a:t>
            </a:r>
            <a:r>
              <a:rPr lang="en-US" dirty="0"/>
              <a:t> </a:t>
            </a:r>
            <a:r>
              <a:rPr lang="ru-RU" dirty="0"/>
              <a:t>в должности ведущего архитектора. </a:t>
            </a:r>
          </a:p>
          <a:p>
            <a:endParaRPr lang="ru-RU" dirty="0"/>
          </a:p>
          <a:p>
            <a:r>
              <a:rPr lang="ru-RU" dirty="0"/>
              <a:t>Кроме этого, преподаю несколько компьютерных дисциплин в Институте </a:t>
            </a:r>
            <a:r>
              <a:rPr lang="en-US" dirty="0" err="1"/>
              <a:t>iSpring</a:t>
            </a:r>
            <a:r>
              <a:rPr lang="ru-RU" dirty="0"/>
              <a:t> и веду образовательный канал на </a:t>
            </a:r>
            <a:r>
              <a:rPr lang="en-US" dirty="0" err="1"/>
              <a:t>Youtube</a:t>
            </a:r>
            <a:r>
              <a:rPr lang="ru-RU" dirty="0"/>
              <a:t>, где выкладываю лекции по программированию.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3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 работаю над </a:t>
            </a:r>
            <a:r>
              <a:rPr lang="ru-RU" dirty="0" err="1"/>
              <a:t>iSpring</a:t>
            </a:r>
            <a:r>
              <a:rPr lang="ru-RU" dirty="0"/>
              <a:t> Suite — это конструктор для создания электронных курсов</a:t>
            </a:r>
            <a:r>
              <a:rPr lang="en-US" dirty="0"/>
              <a:t> </a:t>
            </a:r>
            <a:r>
              <a:rPr lang="ru-RU" dirty="0"/>
              <a:t>на базе </a:t>
            </a:r>
            <a:r>
              <a:rPr lang="en-US" dirty="0"/>
              <a:t>PowerPoint.</a:t>
            </a:r>
            <a:endParaRPr lang="ru-RU" dirty="0"/>
          </a:p>
          <a:p>
            <a:endParaRPr lang="en-US" dirty="0"/>
          </a:p>
          <a:p>
            <a:r>
              <a:rPr lang="ru-RU" dirty="0"/>
              <a:t>Он превращает PowerPoint-презентации в онлайн-курсы с видео, тестами и интерактивом.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87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Внутри </a:t>
            </a:r>
            <a:r>
              <a:rPr lang="en-US" dirty="0" err="1"/>
              <a:t>iSpring</a:t>
            </a:r>
            <a:r>
              <a:rPr lang="en-US" dirty="0"/>
              <a:t> </a:t>
            </a:r>
            <a:r>
              <a:rPr lang="ru-RU" dirty="0"/>
              <a:t>есть библиотека обработки мультимедиа на базе FFmpeg.</a:t>
            </a:r>
          </a:p>
          <a:p>
            <a:endParaRPr lang="ru-RU" dirty="0"/>
          </a:p>
          <a:p>
            <a:r>
              <a:rPr lang="ru-RU" dirty="0"/>
              <a:t>В прошлом году перед нашей командой встала задача ускорить обработку видео в продукте — в первую очередь за счёт аппаратного ускорения, например Intel Quick </a:t>
            </a:r>
            <a:r>
              <a:rPr lang="ru-RU" dirty="0" err="1"/>
              <a:t>Sync</a:t>
            </a:r>
            <a:r>
              <a:rPr lang="ru-RU" dirty="0"/>
              <a:t> Video.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15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Казалось бы, ну ускорить и ускорить. Приключение на пару недель.</a:t>
            </a:r>
          </a:p>
          <a:p>
            <a:r>
              <a:rPr lang="ru-RU" dirty="0"/>
              <a:t>Ну, мы так думали. Но реальность как всегда преподнесла нам сюрпризы.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52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использовали F</a:t>
            </a:r>
            <a:r>
              <a:rPr lang="en-US" dirty="0"/>
              <a:t>Fm</a:t>
            </a:r>
            <a:r>
              <a:rPr lang="ru-RU" dirty="0" err="1"/>
              <a:t>peg</a:t>
            </a:r>
            <a:r>
              <a:rPr lang="ru-RU" dirty="0"/>
              <a:t> 4.x 2018 года, поэтому в первую очередь нам нужно было обновить его на актуальную на тот момент версию 7.1.</a:t>
            </a:r>
          </a:p>
          <a:p>
            <a:endParaRPr lang="ru-RU" dirty="0"/>
          </a:p>
          <a:p>
            <a:r>
              <a:rPr lang="ru-RU" dirty="0"/>
              <a:t>Это оказалось отдельным приключением — API сильно поменялись и многое пришлось переписывать.</a:t>
            </a:r>
          </a:p>
          <a:p>
            <a:br>
              <a:rPr lang="ru-RU" dirty="0"/>
            </a:br>
            <a:r>
              <a:rPr lang="ru-RU" dirty="0"/>
              <a:t>И</a:t>
            </a:r>
            <a:r>
              <a:rPr lang="en-US" dirty="0"/>
              <a:t> </a:t>
            </a:r>
            <a:r>
              <a:rPr lang="ru-RU" dirty="0"/>
              <a:t>из этого мы вынесли полезный урок: </a:t>
            </a:r>
            <a:r>
              <a:rPr lang="ru-RU" b="1" dirty="0"/>
              <a:t>зависимости лучше обновлять постепенно, а не делать один большой скачок.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6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обновления мы начали экспериментировать с аппаратным ускорением и обнаружили, что оно не даёт желательного ускорения.</a:t>
            </a:r>
          </a:p>
          <a:p>
            <a:endParaRPr lang="ru-RU" dirty="0"/>
          </a:p>
          <a:p>
            <a:r>
              <a:rPr lang="ru-RU" b="0" dirty="0"/>
              <a:t>Проблема была в архитектуре транскодера.</a:t>
            </a:r>
          </a:p>
          <a:p>
            <a:r>
              <a:rPr lang="ru-RU" dirty="0"/>
              <a:t>Он был последовательным и просто не мог эффективно использовать ресурсы системы.</a:t>
            </a:r>
          </a:p>
          <a:p>
            <a:endParaRPr lang="ru-RU" dirty="0"/>
          </a:p>
          <a:p>
            <a:r>
              <a:rPr lang="ru-RU" dirty="0"/>
              <a:t>Поэтому мы пересобрали весь </a:t>
            </a:r>
            <a:r>
              <a:rPr lang="ru-RU" dirty="0" err="1"/>
              <a:t>pipeline</a:t>
            </a:r>
            <a:r>
              <a:rPr lang="ru-RU" dirty="0"/>
              <a:t> обработки видео и по пути столкнулись с рядом нетривиальных задач</a:t>
            </a:r>
          </a:p>
          <a:p>
            <a:endParaRPr lang="ru-RU" dirty="0"/>
          </a:p>
          <a:p>
            <a:r>
              <a:rPr lang="ru-RU" dirty="0"/>
              <a:t>В итоге ускорили на 30-60%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59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докладе я хочу показать не просто “как пользоваться FFmpeg”, а как вокруг него построить удобную архитектуру на современном C++.</a:t>
            </a:r>
          </a:p>
          <a:p>
            <a:endParaRPr lang="ru-RU" dirty="0"/>
          </a:p>
          <a:p>
            <a:r>
              <a:rPr lang="ru-RU" dirty="0"/>
              <a:t>Сначала мы очень кратко разберёмся, как вообще устроен FFmpeg, чтобы понимать, с чем мы работаем.</a:t>
            </a:r>
          </a:p>
          <a:p>
            <a:endParaRPr lang="ru-RU" dirty="0"/>
          </a:p>
          <a:p>
            <a:r>
              <a:rPr lang="ru-RU" dirty="0"/>
              <a:t>Дальше я покажу, как аккуратно и безопасно интегрировать </a:t>
            </a:r>
            <a:r>
              <a:rPr lang="ru-RU" dirty="0" err="1"/>
              <a:t>сишный</a:t>
            </a:r>
            <a:r>
              <a:rPr lang="ru-RU" dirty="0"/>
              <a:t> API </a:t>
            </a:r>
            <a:r>
              <a:rPr lang="en-US" dirty="0" err="1"/>
              <a:t>ffmpeg</a:t>
            </a:r>
            <a:r>
              <a:rPr lang="ru-RU" dirty="0"/>
              <a:t> в приложение на C++23 — с использованием </a:t>
            </a:r>
            <a:r>
              <a:rPr lang="ru-RU" dirty="0" err="1"/>
              <a:t>modules</a:t>
            </a:r>
            <a:r>
              <a:rPr lang="ru-RU" dirty="0"/>
              <a:t> и RAII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expected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После этого перейдём к архитектуре.</a:t>
            </a:r>
          </a:p>
          <a:p>
            <a:r>
              <a:rPr lang="ru-RU" dirty="0"/>
              <a:t>Мы начнём с простого последовательного транскодера, посмотрим, где у него пределы, и затем шаг за шагом превратим его в асинхронный </a:t>
            </a:r>
            <a:r>
              <a:rPr lang="ru-RU" dirty="0" err="1"/>
              <a:t>pipeline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 пути разберём ряд решений: очереди, обратное давление, взаимодействие потоков.</a:t>
            </a:r>
          </a:p>
          <a:p>
            <a:r>
              <a:rPr lang="ru-RU" dirty="0"/>
              <a:t>И в конце обязательно посмотрим на производительность — что получилось ускорить, а где всё ещё остаются ограничения.</a:t>
            </a:r>
          </a:p>
          <a:p>
            <a:endParaRPr lang="ru-RU" dirty="0"/>
          </a:p>
          <a:p>
            <a:r>
              <a:rPr lang="ru-RU" dirty="0"/>
              <a:t>То есть это история не про “ещё один </a:t>
            </a:r>
            <a:r>
              <a:rPr lang="ru-RU" dirty="0" err="1"/>
              <a:t>враппер</a:t>
            </a:r>
            <a:r>
              <a:rPr lang="ru-RU" dirty="0"/>
              <a:t> над FFmpeg”, а про эволюцию архитектуры от простой к производительной.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53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2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FFmpeg</a:t>
            </a:r>
            <a:r>
              <a:rPr lang="ru-RU" dirty="0"/>
              <a:t> — это универсальный инструмент для работы с мультимедиа.</a:t>
            </a:r>
          </a:p>
          <a:p>
            <a:r>
              <a:rPr lang="ru-RU" dirty="0"/>
              <a:t>Он умеет читать и писать видео- и аудиофайлы, декодировать их, обрабатывать и кодировать обратно в нужный формат.</a:t>
            </a:r>
          </a:p>
          <a:p>
            <a:endParaRPr lang="ru-RU" dirty="0"/>
          </a:p>
          <a:p>
            <a:r>
              <a:rPr lang="ru-RU" dirty="0"/>
              <a:t>Если чуть точнее, внутри </a:t>
            </a:r>
            <a:r>
              <a:rPr lang="ru-RU" dirty="0" err="1"/>
              <a:t>FFmpeg</a:t>
            </a:r>
            <a:r>
              <a:rPr lang="ru-RU" dirty="0"/>
              <a:t> есть такие операции как:</a:t>
            </a:r>
          </a:p>
          <a:p>
            <a:pPr marL="171450" indent="-171450">
              <a:buFontTx/>
              <a:buChar char="-"/>
            </a:pPr>
            <a:r>
              <a:rPr lang="ru-RU" i="1" dirty="0" err="1"/>
              <a:t>demux</a:t>
            </a:r>
            <a:r>
              <a:rPr lang="ru-RU" dirty="0"/>
              <a:t> — разбор контейнера на потоки,</a:t>
            </a:r>
          </a:p>
          <a:p>
            <a:pPr marL="171450" indent="-171450">
              <a:buFontTx/>
              <a:buChar char="-"/>
            </a:pPr>
            <a:r>
              <a:rPr lang="ru-RU" dirty="0"/>
              <a:t>и </a:t>
            </a:r>
            <a:r>
              <a:rPr lang="ru-RU" i="1" dirty="0" err="1"/>
              <a:t>mux</a:t>
            </a:r>
            <a:r>
              <a:rPr lang="ru-RU" dirty="0"/>
              <a:t> — сборка обратно.</a:t>
            </a:r>
          </a:p>
          <a:p>
            <a:pPr marL="0" indent="0">
              <a:buFontTx/>
              <a:buNone/>
            </a:pPr>
            <a:endParaRPr lang="ru-RU" dirty="0"/>
          </a:p>
          <a:p>
            <a:r>
              <a:rPr lang="ru-RU" dirty="0"/>
              <a:t>Но для начала можно думать о нём просто как о системе, которая умеет разобрать файл, обработать данные и собрать обратно.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08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понять, как устроен транскодер, давайте посмотрим, как данные проходят через FFmpeg.</a:t>
            </a:r>
          </a:p>
          <a:p>
            <a:endParaRPr lang="ru-RU" dirty="0"/>
          </a:p>
          <a:p>
            <a:r>
              <a:rPr lang="ru-RU" dirty="0"/>
              <a:t>Здесь важно уточнить термин “контейнер”.</a:t>
            </a:r>
            <a:br>
              <a:rPr lang="ru-RU" dirty="0"/>
            </a:br>
            <a:r>
              <a:rPr lang="ru-RU" dirty="0"/>
              <a:t>Контейнер — это формат файла, который хранит внутри несколько потоков и метаданные. Чаще всего потоки — это видео и аудио, но могут быть и другие, например субтитры.</a:t>
            </a:r>
            <a:br>
              <a:rPr lang="ru-RU" dirty="0"/>
            </a:br>
            <a:r>
              <a:rPr lang="ru-RU" dirty="0"/>
              <a:t>Например, MP4 или MKV — это контейнеры.</a:t>
            </a:r>
            <a:br>
              <a:rPr lang="ru-RU" dirty="0"/>
            </a:br>
            <a:r>
              <a:rPr lang="ru-RU" dirty="0"/>
              <a:t>А H.264, AAC или AV1 — это уже форматы сжатия самих данных, то есть кодеки.</a:t>
            </a:r>
          </a:p>
          <a:p>
            <a:endParaRPr lang="ru-RU" dirty="0"/>
          </a:p>
          <a:p>
            <a:r>
              <a:rPr lang="ru-RU" dirty="0"/>
              <a:t>Сначала файл читает </a:t>
            </a:r>
            <a:r>
              <a:rPr lang="ru-RU" b="1" dirty="0" err="1"/>
              <a:t>demuxer</a:t>
            </a:r>
            <a:r>
              <a:rPr lang="ru-RU" dirty="0"/>
              <a:t>. Он разбирает контейнер и извлекает из него сжатые данные — так называемые </a:t>
            </a:r>
            <a:r>
              <a:rPr lang="ru-RU" b="1" dirty="0"/>
              <a:t>пакеты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эти данные пока в сжатом виде, их нельзя ни отобразить, ни обработать напрямую.</a:t>
            </a:r>
          </a:p>
          <a:p>
            <a:endParaRPr lang="ru-RU" dirty="0"/>
          </a:p>
          <a:p>
            <a:r>
              <a:rPr lang="ru-RU" dirty="0"/>
              <a:t>Дальше в дело вступает декодер. Он “распаковывает” пакеты и превращает их в сырые данные — </a:t>
            </a:r>
            <a:r>
              <a:rPr lang="ru-RU" b="1" dirty="0"/>
              <a:t>фреймы</a:t>
            </a:r>
            <a:r>
              <a:rPr lang="ru-RU" dirty="0"/>
              <a:t>, или </a:t>
            </a:r>
            <a:r>
              <a:rPr lang="ru-RU" i="1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Для видео это кадры — пиксели, для аудио — наборы звуковых сэмплов.</a:t>
            </a:r>
          </a:p>
          <a:p>
            <a:endParaRPr lang="en-US" dirty="0"/>
          </a:p>
          <a:p>
            <a:r>
              <a:rPr lang="ru-RU" dirty="0"/>
              <a:t>После декодирования данные можно обрабатывать.</a:t>
            </a:r>
            <a:br>
              <a:rPr lang="ru-RU" dirty="0"/>
            </a:br>
            <a:r>
              <a:rPr lang="ru-RU" dirty="0"/>
              <a:t>Например, для видео это может быть масштабирование, изменение формата пикселей, наложение эффектов или аппаратная обработка.</a:t>
            </a:r>
          </a:p>
          <a:p>
            <a:r>
              <a:rPr lang="ru-RU" dirty="0"/>
              <a:t>Для аудио — изменение громкости, </a:t>
            </a:r>
            <a:r>
              <a:rPr lang="ru-RU" dirty="0" err="1"/>
              <a:t>ресемплинг</a:t>
            </a:r>
            <a:r>
              <a:rPr lang="ru-RU" dirty="0"/>
              <a:t>, сведение каналов или применение аудиоэффектов.</a:t>
            </a:r>
          </a:p>
          <a:p>
            <a:r>
              <a:rPr lang="ru-RU" dirty="0"/>
              <a:t>После этого данные снова проходят через </a:t>
            </a:r>
            <a:r>
              <a:rPr lang="ru-RU" dirty="0" err="1"/>
              <a:t>encoder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 err="1"/>
              <a:t>Encoder</a:t>
            </a:r>
            <a:r>
              <a:rPr lang="ru-RU" dirty="0"/>
              <a:t> делает обратное — берёт фреймы и сжимает их обратно в пакеты.</a:t>
            </a:r>
          </a:p>
          <a:p>
            <a:endParaRPr lang="ru-RU" dirty="0"/>
          </a:p>
          <a:p>
            <a:r>
              <a:rPr lang="ru-RU" dirty="0"/>
              <a:t>И на последнем этапе </a:t>
            </a:r>
            <a:r>
              <a:rPr lang="ru-RU" dirty="0" err="1"/>
              <a:t>muxer</a:t>
            </a:r>
            <a:r>
              <a:rPr lang="ru-RU" dirty="0"/>
              <a:t> собирает пакеты разных потоков и записывает их обратно в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48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52FAF-6A0C-D581-488E-E02B65F2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CE7CD-F7AE-A417-F16A-8F40B1D05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33486-B3DD-F7B8-BB2D-7CF5D7069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FFmpeg — это C-библиотека, поэтому работа с её объектами обычно начинается с явной аллокации.</a:t>
            </a:r>
          </a:p>
          <a:p>
            <a:endParaRPr lang="en-US" dirty="0"/>
          </a:p>
          <a:p>
            <a:r>
              <a:rPr lang="ru-RU" dirty="0"/>
              <a:t>В данном случае мы создаём пакет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av_packet_alloc</a:t>
            </a:r>
            <a:r>
              <a:rPr lang="ru-RU" dirty="0"/>
              <a:t>, получаем сырой указатель, потом передаём его в функции FFmpeg, например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av_read_frame</a:t>
            </a:r>
            <a:r>
              <a:rPr lang="ru-RU" dirty="0"/>
              <a:t>, а когда пакет больше не нужен — обязаны явно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av_packet_free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вот здесь возникает типичная проблема C API: программист сам отвечает за то, чтобы память была освобождена на всех путях выполнения. Не только в </a:t>
            </a:r>
            <a:r>
              <a:rPr lang="ru-RU" dirty="0" err="1"/>
              <a:t>happy</a:t>
            </a:r>
            <a:r>
              <a:rPr lang="ru-RU" dirty="0"/>
              <a:t> </a:t>
            </a:r>
            <a:r>
              <a:rPr lang="ru-RU" dirty="0" err="1"/>
              <a:t>path</a:t>
            </a:r>
            <a:r>
              <a:rPr lang="ru-RU" dirty="0"/>
              <a:t>, но и при любой ошибке.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5A7DA-F5F4-27CE-1B30-0DD26DE89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7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 код маленький, это выглядит терпимо. Но как только появляется несколько ресурсов, несколько </a:t>
            </a:r>
            <a:r>
              <a:rPr lang="ru-RU" dirty="0" err="1"/>
              <a:t>return</a:t>
            </a:r>
            <a:r>
              <a:rPr lang="ru-RU" dirty="0"/>
              <a:t>, несколько уровней вызовов, а в C++ ещё и исключения, такой стиль становится очень ненадёжным. Мы пишем не на </a:t>
            </a:r>
            <a:r>
              <a:rPr lang="en-US" dirty="0"/>
              <a:t>C++</a:t>
            </a:r>
            <a:r>
              <a:rPr lang="ru-RU" dirty="0"/>
              <a:t>, а на </a:t>
            </a:r>
            <a:r>
              <a:rPr lang="en-US" dirty="0"/>
              <a:t>C.</a:t>
            </a:r>
            <a:endParaRPr lang="ru-RU" dirty="0"/>
          </a:p>
          <a:p>
            <a:endParaRPr lang="ru-RU" dirty="0"/>
          </a:p>
          <a:p>
            <a:r>
              <a:rPr lang="ru-RU" dirty="0"/>
              <a:t>Поэтому мы не должны работать с такими объектами напрямую. Вместо этого поверх C API строят RAII-обёртки, которые автоматически освобождают ресурс в деструкторе.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70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43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тем как перейти к коду, давайте зафиксируем, какие цели я ставил при проектировании обёрток.</a:t>
            </a:r>
          </a:p>
          <a:p>
            <a:r>
              <a:rPr lang="ru-RU" dirty="0"/>
              <a:t>Во-первых, это современный C++. Я хотел использовать возможности C++23 и модули, чтобы изолировать FFmpeg и не тянуть его заголовки по всей кодовой базе.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Во-вторых, безопасность. Вся ручная работа с памятью должна быть спрятана внутри, а снаружи — обычные RAII-объекты, с которыми сложно ошибиться.</a:t>
            </a:r>
          </a:p>
          <a:p>
            <a:endParaRPr lang="en-US" dirty="0"/>
          </a:p>
          <a:p>
            <a:r>
              <a:rPr lang="ru-RU" dirty="0"/>
              <a:t>Третье — производительность. Обёртки не должны добавлять лишний </a:t>
            </a:r>
            <a:r>
              <a:rPr lang="ru-RU" dirty="0" err="1"/>
              <a:t>overhead</a:t>
            </a:r>
            <a:r>
              <a:rPr lang="ru-RU" dirty="0"/>
              <a:t>. Все простые операции должны компилироваться практически в те же инструкции, что и работа с сырыми указателями.</a:t>
            </a:r>
          </a:p>
          <a:p>
            <a:endParaRPr lang="en-US" dirty="0"/>
          </a:p>
          <a:p>
            <a:r>
              <a:rPr lang="ru-RU" dirty="0"/>
              <a:t>Дальше — изоляция. Пользователь обёртки не должен знать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AVPacket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AVFrame</a:t>
            </a:r>
            <a:r>
              <a:rPr lang="ru-RU" dirty="0"/>
              <a:t> и другие детали FFmpeg, кроме тех мест, где это действительно необходимо.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14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FDCF-F4A1-902A-BFDF-9C1E1A46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2A708-A777-CE23-D3DB-0601FBCB2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40B5F-0640-6131-F2B9-F6571395C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Прежде чем идти дальше, буквально в двух словах напомню, что такое C++ </a:t>
            </a:r>
            <a:r>
              <a:rPr lang="ru-RU" dirty="0" err="1"/>
              <a:t>modules</a:t>
            </a:r>
            <a:r>
              <a:rPr lang="ru-RU" dirty="0"/>
              <a:t>.</a:t>
            </a:r>
          </a:p>
          <a:p>
            <a:r>
              <a:rPr lang="ru-RU" dirty="0"/>
              <a:t>Модуль обычно состоит из двух частей: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— публичный интерфейс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dirty="0" err="1"/>
              <a:t>implementation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— реализация </a:t>
            </a:r>
          </a:p>
          <a:p>
            <a:r>
              <a:rPr lang="ru-RU" dirty="0"/>
              <a:t>В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мы экспортируем наружу только то, что хотим сделать частью API модуля.</a:t>
            </a:r>
          </a:p>
          <a:p>
            <a:endParaRPr lang="ru-RU" dirty="0"/>
          </a:p>
          <a:p>
            <a:r>
              <a:rPr lang="ru-RU" dirty="0"/>
              <a:t>Обратите внимание: не всё внутри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обязано быть экспортируемым.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NonExportedClass</a:t>
            </a:r>
            <a:r>
              <a:rPr lang="ru-RU" dirty="0"/>
              <a:t> остаётся внутренней деталью реализации и снаружи модуля не виден.</a:t>
            </a:r>
          </a:p>
          <a:p>
            <a:endParaRPr lang="ru-RU" dirty="0"/>
          </a:p>
          <a:p>
            <a:r>
              <a:rPr lang="ru-RU" dirty="0"/>
              <a:t>Справа показан </a:t>
            </a:r>
            <a:r>
              <a:rPr lang="ru-RU" dirty="0" err="1"/>
              <a:t>implementation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содержит обычную реализацию методов и подключается к модулю через: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my_module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То есть по сути это современный аналог схемы: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.h + 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2CA34-6F29-2405-C9A0-30E1DAC9D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66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1024-E6B2-0F75-2119-6B62B88D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519E-CBE8-5A77-AD07-68F2D1CD9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018DA-3364-C242-634A-27D7FDCE6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здесь появляется важная вещь —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module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.</a:t>
            </a:r>
          </a:p>
          <a:p>
            <a:r>
              <a:rPr lang="ru-RU" dirty="0"/>
              <a:t>Это секция в начале файла,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</a:t>
            </a:r>
            <a:r>
              <a:rPr lang="ru-RU" dirty="0"/>
              <a:t>.</a:t>
            </a:r>
          </a:p>
          <a:p>
            <a:r>
              <a:rPr lang="ru-RU" dirty="0"/>
              <a:t>Она может быть и в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, и в </a:t>
            </a:r>
            <a:r>
              <a:rPr lang="ru-RU" dirty="0" err="1"/>
              <a:t>implementation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и обычно используется для старых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, потому что большинство существующих библиотек, включая FFmpeg, пока не являются модульными.</a:t>
            </a:r>
          </a:p>
          <a:p>
            <a:endParaRPr lang="ru-RU" dirty="0"/>
          </a:p>
          <a:p>
            <a:r>
              <a:rPr lang="ru-RU" dirty="0"/>
              <a:t>И здесь есть важное ограничение: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module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 допускаются только препроцессорные директивы.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из-за этого ограничения дальше нам понадобится небольшой адаптационный слой для интеграции C API.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8628E-06BE-138C-7D75-052E6B80E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12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FFmpeg — это изначально C-библиотек. Это осознанный выбор авторов: публичный API у неё чисто на C и не пытается быть C++-дружественным.</a:t>
            </a:r>
          </a:p>
          <a:p>
            <a:r>
              <a:rPr lang="ru-RU" dirty="0"/>
              <a:t>Поэтому при использовании из C++ нам нужно самим позаботиться о корректной интеграции. В частности, подключать заголовки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, чтобы отключить </a:t>
            </a:r>
            <a:r>
              <a:rPr lang="ru-RU" dirty="0" err="1"/>
              <a:t>манглирование</a:t>
            </a:r>
            <a:r>
              <a:rPr lang="ru-RU" dirty="0"/>
              <a:t> имён.</a:t>
            </a:r>
          </a:p>
          <a:p>
            <a:endParaRPr lang="ru-RU" dirty="0"/>
          </a:p>
          <a:p>
            <a:r>
              <a:rPr lang="ru-RU" dirty="0"/>
              <a:t>Но здесь возникает нюанс, связанный с </a:t>
            </a:r>
            <a:r>
              <a:rPr lang="ru-RU" dirty="0" err="1"/>
              <a:t>modules</a:t>
            </a:r>
            <a:r>
              <a:rPr lang="ru-RU" dirty="0"/>
              <a:t>. На предыдущем слайде мы обсуждали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module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 — секцию в начале </a:t>
            </a:r>
            <a:r>
              <a:rPr lang="ru-RU" dirty="0" err="1"/>
              <a:t>module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.</a:t>
            </a:r>
          </a:p>
          <a:p>
            <a:r>
              <a:rPr lang="ru-RU" dirty="0"/>
              <a:t>И проблема в том, что внутри неё разрешены только директивы препроцессора. То есть написать там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 блок напрямую нельзя.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Решение — ввести промежуточный </a:t>
            </a:r>
            <a:r>
              <a:rPr lang="ru-RU" dirty="0" err="1"/>
              <a:t>header</a:t>
            </a:r>
            <a:r>
              <a:rPr lang="ru-RU" dirty="0"/>
              <a:t>, так называемый </a:t>
            </a:r>
            <a:r>
              <a:rPr lang="ru-RU" dirty="0" err="1"/>
              <a:t>bridge</a:t>
            </a:r>
            <a:r>
              <a:rPr lang="ru-RU" dirty="0"/>
              <a:t> </a:t>
            </a:r>
            <a:r>
              <a:rPr lang="ru-RU" dirty="0" err="1"/>
              <a:t>header</a:t>
            </a:r>
            <a:r>
              <a:rPr lang="ru-RU" dirty="0"/>
              <a:t>.</a:t>
            </a:r>
          </a:p>
          <a:p>
            <a:r>
              <a:rPr lang="ru-RU" dirty="0"/>
              <a:t>В нём мы оборачиваем C-заголовки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"C" {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libavcodec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packet.h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ru-RU" dirty="0"/>
              <a:t>А уже этот </a:t>
            </a:r>
            <a:r>
              <a:rPr lang="ru-RU" dirty="0" err="1"/>
              <a:t>header</a:t>
            </a:r>
            <a:r>
              <a:rPr lang="ru-RU" dirty="0"/>
              <a:t> подключаем внутри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module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Получается небольшой адаптационный слой между C API и современным C++ кодом.</a:t>
            </a:r>
          </a:p>
          <a:p>
            <a:r>
              <a:rPr lang="ru-RU" dirty="0"/>
              <a:t>Снаружи пользователь работает с нормальными C++ модулями, а детали интеграции с C остаются спрятаны внутри.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601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обёртки над </a:t>
            </a:r>
            <a:r>
              <a:rPr lang="ru-RU" dirty="0" err="1"/>
              <a:t>AVPacket</a:t>
            </a:r>
            <a:r>
              <a:rPr lang="ru-RU" dirty="0"/>
              <a:t>.</a:t>
            </a:r>
          </a:p>
          <a:p>
            <a:r>
              <a:rPr lang="ru-RU" dirty="0"/>
              <a:t>Снаружи это обычный C++ класс, но внутри он хранит указатель на структуру FFmpeg, обёрнутый в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unique_ptr</a:t>
            </a:r>
            <a:r>
              <a:rPr lang="ru-RU" dirty="0"/>
              <a:t> с кастомным </a:t>
            </a:r>
            <a:r>
              <a:rPr lang="ru-RU" dirty="0" err="1"/>
              <a:t>deleter</a:t>
            </a:r>
            <a:r>
              <a:rPr lang="ru-RU" dirty="0"/>
              <a:t>-ом.</a:t>
            </a:r>
          </a:p>
          <a:p>
            <a:endParaRPr lang="ru-RU" dirty="0"/>
          </a:p>
          <a:p>
            <a:r>
              <a:rPr lang="ru-RU" dirty="0" err="1"/>
              <a:t>Deleter</a:t>
            </a:r>
            <a:r>
              <a:rPr lang="ru-RU" dirty="0"/>
              <a:t> нужен потому, что FFmpeg освобождает память не через </a:t>
            </a:r>
            <a:r>
              <a:rPr lang="ru-RU" dirty="0" err="1"/>
              <a:t>delete</a:t>
            </a:r>
            <a:r>
              <a:rPr lang="ru-RU" dirty="0"/>
              <a:t>, а через свою функцию </a:t>
            </a:r>
            <a:r>
              <a:rPr lang="ru-RU" dirty="0" err="1"/>
              <a:t>av_packet_free</a:t>
            </a:r>
            <a:r>
              <a:rPr lang="ru-RU" dirty="0"/>
              <a:t>.</a:t>
            </a:r>
          </a:p>
          <a:p>
            <a:r>
              <a:rPr lang="ru-RU" dirty="0"/>
              <a:t>Таким образом, управление временем жизни полностью автоматизировано: как только объект Packet выходит из области видимости, память освобождается.</a:t>
            </a:r>
          </a:p>
          <a:p>
            <a:endParaRPr lang="ru-RU" dirty="0"/>
          </a:p>
          <a:p>
            <a:r>
              <a:rPr lang="ru-RU" dirty="0"/>
              <a:t>Обратите внимание на метод </a:t>
            </a:r>
            <a:r>
              <a:rPr lang="ru-RU" dirty="0" err="1"/>
              <a:t>Null</a:t>
            </a:r>
            <a:r>
              <a:rPr lang="ru-RU" dirty="0"/>
              <a:t>. Он создаёт “пустой” пакет, то есть объект без реального </a:t>
            </a:r>
            <a:r>
              <a:rPr lang="ru-RU" dirty="0" err="1"/>
              <a:t>AVPacket</a:t>
            </a:r>
            <a:r>
              <a:rPr lang="ru-RU" dirty="0"/>
              <a:t> внутри.</a:t>
            </a:r>
          </a:p>
          <a:p>
            <a:r>
              <a:rPr lang="ru-RU" dirty="0"/>
              <a:t>В моём </a:t>
            </a:r>
            <a:r>
              <a:rPr lang="ru-RU" dirty="0" err="1"/>
              <a:t>пайплайне</a:t>
            </a:r>
            <a:r>
              <a:rPr lang="ru-RU" dirty="0"/>
              <a:t> такие значения используются для передачи специальных состояний, например EOF.</a:t>
            </a:r>
          </a:p>
          <a:p>
            <a:r>
              <a:rPr lang="ru-RU" dirty="0"/>
              <a:t>Почему статический метод, а не конструктор, принимающий </a:t>
            </a:r>
            <a:r>
              <a:rPr lang="en-US" dirty="0" err="1"/>
              <a:t>nullptr</a:t>
            </a:r>
            <a:r>
              <a:rPr lang="en-US" dirty="0"/>
              <a:t>? </a:t>
            </a:r>
            <a:r>
              <a:rPr lang="ru-RU" dirty="0"/>
              <a:t>Потому что такой способ кажется более наглядным.</a:t>
            </a:r>
          </a:p>
          <a:p>
            <a:endParaRPr lang="ru-RU" dirty="0"/>
          </a:p>
          <a:p>
            <a:r>
              <a:rPr lang="ru-RU" dirty="0"/>
              <a:t>Ещё один важный момент — использование C++ </a:t>
            </a:r>
            <a:r>
              <a:rPr lang="ru-RU" dirty="0" err="1"/>
              <a:t>modules</a:t>
            </a:r>
            <a:r>
              <a:rPr lang="ru-RU" dirty="0"/>
              <a:t>.</a:t>
            </a:r>
          </a:p>
          <a:p>
            <a:r>
              <a:rPr lang="ru-RU" dirty="0"/>
              <a:t>Здесь видно, что C-заголовок FFmpeg подключается через промежуточный </a:t>
            </a:r>
            <a:r>
              <a:rPr lang="en-US" dirty="0"/>
              <a:t>bridge </a:t>
            </a:r>
            <a:r>
              <a:rPr lang="ru-RU" dirty="0" err="1"/>
              <a:t>header</a:t>
            </a:r>
            <a:r>
              <a:rPr lang="ru-RU" dirty="0"/>
              <a:t> с </a:t>
            </a:r>
            <a:r>
              <a:rPr lang="ru-RU" dirty="0" err="1"/>
              <a:t>extern</a:t>
            </a:r>
            <a:r>
              <a:rPr lang="ru-RU" dirty="0"/>
              <a:t> "C", а сам класс уже экспортируется из модуля.</a:t>
            </a:r>
          </a:p>
          <a:p>
            <a:r>
              <a:rPr lang="ru-RU" dirty="0"/>
              <a:t>Таким образом, мы изолируем C API и не распространяем его по всей кодовой базе.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80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интерфейс класса</a:t>
            </a:r>
            <a:r>
              <a:rPr lang="en-US" dirty="0"/>
              <a:t> Packet.</a:t>
            </a:r>
            <a:endParaRPr lang="ru-RU" dirty="0"/>
          </a:p>
          <a:p>
            <a:r>
              <a:rPr lang="ru-RU" dirty="0"/>
              <a:t>Во-первых, есть явное приведение к </a:t>
            </a:r>
            <a:r>
              <a:rPr lang="ru-RU" dirty="0" err="1"/>
              <a:t>bool</a:t>
            </a:r>
            <a:r>
              <a:rPr lang="ru-RU" dirty="0"/>
              <a:t>. Оно позволяет удобно проверять, содержит ли объект реальный пакет или это </a:t>
            </a:r>
            <a:r>
              <a:rPr lang="ru-RU" dirty="0" err="1"/>
              <a:t>Null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dirty="0" err="1"/>
              <a:t>get</a:t>
            </a:r>
            <a:r>
              <a:rPr lang="ru-RU" dirty="0"/>
              <a:t> возвращает сырой указатель на </a:t>
            </a:r>
            <a:r>
              <a:rPr lang="ru-RU" dirty="0" err="1"/>
              <a:t>AVPacket</a:t>
            </a:r>
            <a:r>
              <a:rPr lang="ru-RU" dirty="0"/>
              <a:t>. Он используется в тех местах, где нужно вызвать функции FFmpeg.</a:t>
            </a:r>
          </a:p>
          <a:p>
            <a:r>
              <a:rPr lang="ru-RU" dirty="0"/>
              <a:t>Обратите внимание, что он написан с использованием </a:t>
            </a:r>
            <a:r>
              <a:rPr lang="ru-RU" dirty="0" err="1"/>
              <a:t>this</a:t>
            </a:r>
            <a:r>
              <a:rPr lang="ru-RU" dirty="0"/>
              <a:t>-параметра — это возможность C++23, которая позволяет объединить </a:t>
            </a:r>
            <a:r>
              <a:rPr lang="ru-RU" dirty="0" err="1"/>
              <a:t>const</a:t>
            </a:r>
            <a:r>
              <a:rPr lang="ru-RU" dirty="0"/>
              <a:t> и </a:t>
            </a:r>
            <a:r>
              <a:rPr lang="ru-RU" dirty="0" err="1"/>
              <a:t>non-const</a:t>
            </a:r>
            <a:r>
              <a:rPr lang="ru-RU" dirty="0"/>
              <a:t> версии.</a:t>
            </a:r>
          </a:p>
          <a:p>
            <a:endParaRPr lang="ru-RU" dirty="0"/>
          </a:p>
          <a:p>
            <a:r>
              <a:rPr lang="ru-RU" dirty="0"/>
              <a:t>При этом тип возвращаемого указателя приходится вычислять вручную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conditional_t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Дело в том, что компилятор сам не выводит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AVPacket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AVPacket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в зависимости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</a:t>
            </a:r>
            <a:r>
              <a:rPr lang="ru-RU" dirty="0"/>
              <a:t>, поэтому это соответствие нужно явно описать в возвращаемом типе.</a:t>
            </a:r>
          </a:p>
          <a:p>
            <a:endParaRPr lang="ru-RU" dirty="0"/>
          </a:p>
          <a:p>
            <a:r>
              <a:rPr lang="ru-RU" dirty="0"/>
              <a:t>Операторы * и -&gt; делают обёртку удобной в использовании и позволяют работать с ней почти так же, как с обычным указателем.</a:t>
            </a:r>
          </a:p>
          <a:p>
            <a:r>
              <a:rPr lang="ru-RU" dirty="0"/>
              <a:t>При этом внутри есть </a:t>
            </a:r>
            <a:r>
              <a:rPr lang="ru-RU" dirty="0" err="1"/>
              <a:t>assert</a:t>
            </a:r>
            <a:r>
              <a:rPr lang="ru-RU" dirty="0"/>
              <a:t>, который гарантирует, что мы не </a:t>
            </a:r>
            <a:r>
              <a:rPr lang="ru-RU" dirty="0" err="1"/>
              <a:t>разыменуем</a:t>
            </a:r>
            <a:r>
              <a:rPr lang="ru-RU" dirty="0"/>
              <a:t> </a:t>
            </a:r>
            <a:r>
              <a:rPr lang="ru-RU" dirty="0" err="1"/>
              <a:t>Null</a:t>
            </a:r>
            <a:r>
              <a:rPr lang="ru-RU" dirty="0"/>
              <a:t>-пакет.</a:t>
            </a:r>
          </a:p>
          <a:p>
            <a:endParaRPr lang="ru-RU" dirty="0"/>
          </a:p>
          <a:p>
            <a:r>
              <a:rPr lang="ru-RU" dirty="0"/>
              <a:t>В итоге получается тонкая обёртка: снаружи это удобный C++-объект, внутри — тот же </a:t>
            </a:r>
            <a:r>
              <a:rPr lang="ru-RU" dirty="0" err="1"/>
              <a:t>AVPacket</a:t>
            </a:r>
            <a:r>
              <a:rPr lang="ru-RU" dirty="0"/>
              <a:t> без лишнего </a:t>
            </a:r>
            <a:r>
              <a:rPr lang="ru-RU" dirty="0" err="1"/>
              <a:t>overhead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190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реализацию.</a:t>
            </a:r>
          </a:p>
          <a:p>
            <a:r>
              <a:rPr lang="ru-RU" dirty="0"/>
              <a:t>Конструктор просто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av_packet_alloc</a:t>
            </a:r>
            <a:r>
              <a:rPr lang="ru-RU" dirty="0"/>
              <a:t> — стандартную функцию FFmpeg для создания пакета.</a:t>
            </a:r>
          </a:p>
          <a:p>
            <a:r>
              <a:rPr lang="ru-RU" dirty="0"/>
              <a:t>Если аллокация не удалась, выбрасывается исключение.</a:t>
            </a:r>
          </a:p>
          <a:p>
            <a:endParaRPr lang="ru-RU" dirty="0"/>
          </a:p>
          <a:p>
            <a:r>
              <a:rPr lang="ru-RU" dirty="0"/>
              <a:t>Может возникнуть вопрос: зачем вообще выносить реализацию в отдельный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 файл? Ведь модули позволяют писать всё прямо в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.</a:t>
            </a:r>
          </a:p>
          <a:p>
            <a:r>
              <a:rPr lang="ru-RU" dirty="0"/>
              <a:t>Да, можно было бы разместить весь код прямо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ixx</a:t>
            </a:r>
            <a:r>
              <a:rPr lang="ru-RU" dirty="0"/>
              <a:t> файле. Но тогда при любом изменении реализации пришлось бы пересобирать все модули, которые его импортируют.</a:t>
            </a:r>
          </a:p>
          <a:p>
            <a:endParaRPr lang="ru-RU" dirty="0"/>
          </a:p>
          <a:p>
            <a:r>
              <a:rPr lang="ru-RU" dirty="0"/>
              <a:t>Поэтому, несмотря на использование модулей, разделение на интерфейс и реализацию остаётся актуальным.</a:t>
            </a:r>
            <a:endParaRPr lang="en-US" dirty="0"/>
          </a:p>
          <a:p>
            <a:r>
              <a:rPr lang="ru-RU" dirty="0"/>
              <a:t>Мы по-прежнему хотим держать интерфейс стабильным и минимизировать лишнюю пересборку </a:t>
            </a:r>
          </a:p>
          <a:p>
            <a:endParaRPr lang="ru-RU" dirty="0"/>
          </a:p>
          <a:p>
            <a:r>
              <a:rPr lang="ru-RU" dirty="0"/>
              <a:t>В итоге получается привычная структура: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с объявлением, </a:t>
            </a:r>
            <a:r>
              <a:rPr lang="ru-RU" dirty="0" err="1"/>
              <a:t>implementation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с реализацией </a:t>
            </a:r>
          </a:p>
          <a:p>
            <a:r>
              <a:rPr lang="ru-RU" dirty="0"/>
              <a:t>Просто вместо заголовков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 файлов у нас теперь </a:t>
            </a:r>
            <a:r>
              <a:rPr lang="ru-RU" dirty="0" err="1"/>
              <a:t>modules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здесь важно, что вся работа с C API остаётся внутри реализации.</a:t>
            </a:r>
            <a:r>
              <a:rPr lang="en-US" dirty="0"/>
              <a:t> </a:t>
            </a:r>
            <a:r>
              <a:rPr lang="ru-RU" dirty="0"/>
              <a:t>Снаружи пользователь класса вообще не думает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 — он просто работает с объектом.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43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Отдельно пришлось продумать стратегию обработки ошибок.</a:t>
            </a:r>
          </a:p>
          <a:p>
            <a:r>
              <a:rPr lang="ru-RU" dirty="0"/>
              <a:t>Здесь у меня было две основные альтернативы: либо использовать исключения везде, либо строить API вокруг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итоге я выбрал смешанный подход.</a:t>
            </a:r>
          </a:p>
          <a:p>
            <a:r>
              <a:rPr lang="ru-RU" dirty="0"/>
              <a:t>Для обычных операций я использую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-методы, которые возвращают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 Это делает ошибку частью интерфейса и заставляет явно учитывать неуспешный результат.</a:t>
            </a:r>
          </a:p>
          <a:p>
            <a:r>
              <a:rPr lang="ru-RU" dirty="0"/>
              <a:t>Кроме того, такие методы помечены атрибутом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nodiscard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]]</a:t>
            </a:r>
            <a:r>
              <a:rPr lang="ru-RU" dirty="0"/>
              <a:t>, чтобы компилятор предупреждал, если результат вызова проигнорирован. Для низкоуровневой обёртки над FFmpeg это особенно полезно, потому что “забыть проверить ошибку” здесь очень легко.</a:t>
            </a:r>
          </a:p>
          <a:p>
            <a:r>
              <a:rPr lang="ru-RU" dirty="0"/>
              <a:t>Исключения я оставил только в конструкторах. Причина простая: если объект не удалось корректно создать, я не хочу иметь дело с частично или некорректно сконструированным состоянием.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Почему не сделать всё на исключениях? Во-первых, исключения имеют свой </a:t>
            </a:r>
            <a:r>
              <a:rPr lang="ru-RU" dirty="0" err="1"/>
              <a:t>overhead</a:t>
            </a:r>
            <a:r>
              <a:rPr lang="ru-RU" dirty="0"/>
              <a:t>. Во-вторых, на уровне FFmpeg-обёртки мне не хотелось безапелляционно навязывать вызывающему коду именно исключающую модель обработки ошибок. Поэтому базовый интерфейс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При этом в некоторых местах, например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InputFormatContext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OutputFormatContext</a:t>
            </a:r>
            <a:r>
              <a:rPr lang="ru-RU" dirty="0"/>
              <a:t>, я дополнительно сделал методы-обёртки, которые внутри вызывают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-метод, а в случае ошибки уже выбрасывают исключение.</a:t>
            </a:r>
          </a:p>
          <a:p>
            <a:r>
              <a:rPr lang="ru-RU" dirty="0"/>
              <a:t>То есть в итоге получается два уровня API: базовый, явно работающий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;  и более удобный </a:t>
            </a:r>
            <a:r>
              <a:rPr lang="ru-RU" dirty="0" err="1"/>
              <a:t>throwing</a:t>
            </a:r>
            <a:r>
              <a:rPr lang="ru-RU" dirty="0"/>
              <a:t> API там, где он действительно нужен. </a:t>
            </a:r>
          </a:p>
          <a:p>
            <a:endParaRPr lang="ru-RU" dirty="0"/>
          </a:p>
          <a:p>
            <a:r>
              <a:rPr lang="ru-RU" dirty="0"/>
              <a:t>Мне нравится этот подход тем, что он даёт выбор.</a:t>
            </a:r>
          </a:p>
          <a:p>
            <a:r>
              <a:rPr lang="ru-RU" dirty="0"/>
              <a:t>На низком уровне можно писать код с явной обработкой ошибок без исключений, а на более высоком уровне — использовать более удобный интерфейс, если это лучше подходит конкретному сценарию.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34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FFmpeg возвращает ошибки в виде целочисленных кодов, и напрямую работать с ними в C++ неудобно.</a:t>
            </a:r>
          </a:p>
          <a:p>
            <a:r>
              <a:rPr lang="ru-RU" dirty="0"/>
              <a:t>Поэтому я ввёл простой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, который хранит сам код и место, где ошибка возникла.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Здесь может возникнуть вопрос: почему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 не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error_code</a:t>
            </a:r>
            <a:r>
              <a:rPr lang="ru-RU" dirty="0"/>
              <a:t>? Потому что внутри этого модуля все ошибки по определению приходят только из FFmpeg.</a:t>
            </a:r>
            <a:br>
              <a:rPr lang="ru-RU" dirty="0"/>
            </a:br>
            <a:r>
              <a:rPr lang="ru-RU" dirty="0"/>
              <a:t>То есть домен ошибок уже известен, и мне не нужно дополнительно проверять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error_category</a:t>
            </a:r>
            <a:r>
              <a:rPr lang="ru-RU" dirty="0"/>
              <a:t>. При этом при необходимости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 всё равно можно преобразовать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error_code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ToErrorCode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добавил небольшие вспомогательные функции.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MakeError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MakeUnexpected</a:t>
            </a:r>
            <a:r>
              <a:rPr lang="ru-RU" dirty="0"/>
              <a:t> позволяют компактно создавать ошибки и возвращать их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ExpectedFromErrorCode</a:t>
            </a:r>
            <a:r>
              <a:rPr lang="ru-RU" dirty="0"/>
              <a:t> — это основной адаптер.</a:t>
            </a:r>
          </a:p>
          <a:p>
            <a:r>
              <a:rPr lang="ru-RU" dirty="0"/>
              <a:t>Она переводит код возврата FFmpeg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: отрицательное значение превращается в ошибку, всё остальное — в успешный результат.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итоге любую функцию FFmpeg, возвращающую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можно обернуть одной строкой и получить аккуратный C++ API.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98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итоге я использую смешанный подход к обработке ошибок. Базовый слой API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-методы, которые возвращают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. Они не бросают исключений и явно сигнализируют об ошибках выполнения.</a:t>
            </a:r>
          </a:p>
          <a:p>
            <a:endParaRPr lang="ru-RU" dirty="0"/>
          </a:p>
          <a:p>
            <a:r>
              <a:rPr lang="ru-RU" dirty="0"/>
              <a:t>Ошибки использования API — например, вызов метода в некорректном состоянии — я считаю багом, поэтому они проверяются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для удобства поверх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-методов есть </a:t>
            </a:r>
            <a:r>
              <a:rPr lang="ru-RU" dirty="0" err="1"/>
              <a:t>throwing</a:t>
            </a:r>
            <a:r>
              <a:rPr lang="ru-RU" dirty="0"/>
              <a:t>-обёртки. Функция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</a:t>
            </a:r>
            <a:r>
              <a:rPr lang="ru-RU" dirty="0"/>
              <a:t> либо возвращает результат, либо выбрасывает исключение.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Таким образом получается два уровня API:</a:t>
            </a:r>
          </a:p>
          <a:p>
            <a:r>
              <a:rPr lang="ru-RU" dirty="0"/>
              <a:t>- низкоуровневый — без исключений,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</a:t>
            </a:r>
            <a:r>
              <a:rPr lang="ru-RU" dirty="0"/>
              <a:t> </a:t>
            </a:r>
          </a:p>
          <a:p>
            <a:r>
              <a:rPr lang="ru-RU" dirty="0"/>
              <a:t>- более удобный — с исключениями, там где это нужно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08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51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показана общая архитектура решения.</a:t>
            </a:r>
          </a:p>
          <a:p>
            <a:r>
              <a:rPr lang="ru-RU" dirty="0"/>
              <a:t>Справа находится модуль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ffmpeg</a:t>
            </a:r>
            <a:r>
              <a:rPr lang="ru-RU" dirty="0"/>
              <a:t> — это тот слой, который мы только что разобрали. Он содержит RAII-обёртки над низкоуровневыми сущностями FFmpeg: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InputFormatContext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OutputFormatContext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CodecContext</a:t>
            </a:r>
            <a:r>
              <a:rPr lang="ru-RU" dirty="0"/>
              <a:t>, а также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Packet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Слева находится модуль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mm_pipeline</a:t>
            </a:r>
            <a:r>
              <a:rPr lang="ru-RU" dirty="0"/>
              <a:t> — это уже более высокий уровень абстракции. Здесь мы больше не работаем напрямую с FFmpeg API, а оперируем понятными компонентами </a:t>
            </a:r>
            <a:r>
              <a:rPr lang="ru-RU" dirty="0" err="1"/>
              <a:t>пайплайна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Начнём сверху.</a:t>
            </a:r>
          </a:p>
          <a:p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Demuxer</a:t>
            </a:r>
            <a:r>
              <a:rPr lang="ru-RU" dirty="0"/>
              <a:t> читает пакеты из входного файла. Внутри он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InputFormatContext</a:t>
            </a:r>
            <a:r>
              <a:rPr lang="ru-RU" dirty="0"/>
              <a:t>, но снаружи это просто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TryRead</a:t>
            </a:r>
            <a:r>
              <a:rPr lang="ru-RU" dirty="0"/>
              <a:t>, который возвращает пакет.</a:t>
            </a:r>
          </a:p>
          <a:p>
            <a:endParaRPr lang="ru-RU" dirty="0"/>
          </a:p>
          <a:p>
            <a:r>
              <a:rPr lang="ru-RU" dirty="0"/>
              <a:t>Дальше пакет передаётся в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ru-RU" dirty="0"/>
              <a:t> оборачивает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CodecContext</a:t>
            </a:r>
            <a:r>
              <a:rPr lang="ru-RU" dirty="0"/>
              <a:t> и реализует классическую модель FFmpeg: мы отправляем пакет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TrySend</a:t>
            </a:r>
            <a:r>
              <a:rPr lang="ru-RU" dirty="0"/>
              <a:t> и получаем фреймы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TryReceive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фреймы попадают в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Encoder</a:t>
            </a:r>
            <a:r>
              <a:rPr lang="ru-RU" dirty="0"/>
              <a:t>, который делает обратное преобразование: принимает фреймы и возвращает закодированные пакеты.</a:t>
            </a:r>
          </a:p>
          <a:p>
            <a:endParaRPr lang="ru-RU" dirty="0"/>
          </a:p>
          <a:p>
            <a:r>
              <a:rPr lang="ru-RU" dirty="0"/>
              <a:t>Эти пакеты передаются в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Muxer</a:t>
            </a:r>
            <a:r>
              <a:rPr lang="ru-RU" dirty="0"/>
              <a:t>, который записывает их в выходной файл. Он работает поверх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OutputFormatContext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И, наконец, есть класс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Transcoder</a:t>
            </a:r>
            <a:r>
              <a:rPr lang="ru-RU" dirty="0"/>
              <a:t>. Он не занимается обработкой данных напрямую, а координирует работу всех компонентов: читает пакеты, передаёт их дальше по </a:t>
            </a:r>
            <a:r>
              <a:rPr lang="ru-RU" dirty="0" err="1"/>
              <a:t>пайплайну</a:t>
            </a:r>
            <a:r>
              <a:rPr lang="ru-RU" dirty="0"/>
              <a:t> и управляет общим процессом.</a:t>
            </a:r>
          </a:p>
          <a:p>
            <a:endParaRPr lang="ru-RU" dirty="0"/>
          </a:p>
          <a:p>
            <a:r>
              <a:rPr lang="ru-RU" dirty="0"/>
              <a:t>Важно, что на этом уровне FFmpeg почти не виден. Вся низкоуровневая логика скрыта внутри обёрток,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mm_pipeline</a:t>
            </a:r>
            <a:r>
              <a:rPr lang="ru-RU" dirty="0"/>
              <a:t> работает уже с более понятными абстракциями.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73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Прежде чем смотреть на реализацию, давайте разберёмся, как устроен транскодер внутри.</a:t>
            </a:r>
          </a:p>
          <a:p>
            <a:r>
              <a:rPr lang="ru-RU" dirty="0"/>
              <a:t>Транскодер — это, по сути, оркестратор. Он сам не обрабатывает данные, а управляет другими компонентами.</a:t>
            </a:r>
          </a:p>
          <a:p>
            <a:endParaRPr lang="ru-RU" dirty="0"/>
          </a:p>
          <a:p>
            <a:r>
              <a:rPr lang="ru-RU" dirty="0"/>
              <a:t>У него есть ссылки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Demuxer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Muxer</a:t>
            </a:r>
            <a:r>
              <a:rPr lang="ru-RU" dirty="0"/>
              <a:t> — они отвечают за ввод и вывод.</a:t>
            </a:r>
          </a:p>
          <a:p>
            <a:r>
              <a:rPr lang="ru-RU" dirty="0"/>
              <a:t>И есть две ветки обработки — для видео и для аудио.</a:t>
            </a:r>
          </a:p>
          <a:p>
            <a:endParaRPr lang="ru-RU" dirty="0"/>
          </a:p>
          <a:p>
            <a:r>
              <a:rPr lang="ru-RU" dirty="0"/>
              <a:t>Каждая ветка — это связка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Encoder</a:t>
            </a:r>
            <a:r>
              <a:rPr lang="ru-RU" dirty="0"/>
              <a:t>, плюс информация о том, с каким потоком мы работаем и куда записывать результат.</a:t>
            </a:r>
          </a:p>
          <a:p>
            <a:r>
              <a:rPr lang="ru-RU" dirty="0"/>
              <a:t>Таким образом, транскодер просто соединяет все части вместе и прогоняет данные через </a:t>
            </a:r>
            <a:r>
              <a:rPr lang="ru-RU" dirty="0" err="1"/>
              <a:t>pipeline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51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главный цикл транскодера. В начале мы задаём простую модель </a:t>
            </a:r>
            <a:r>
              <a:rPr lang="ru-RU" dirty="0" err="1"/>
              <a:t>таймстампов</a:t>
            </a:r>
            <a:r>
              <a:rPr lang="ru-RU" dirty="0"/>
              <a:t>.</a:t>
            </a:r>
          </a:p>
          <a:p>
            <a:r>
              <a:rPr lang="ru-RU" dirty="0"/>
              <a:t>Для видео — это просто счётчик кадров. Для аудио — количество сэмплов, накопленное во времени.</a:t>
            </a:r>
          </a:p>
          <a:p>
            <a:r>
              <a:rPr lang="ru-RU" dirty="0"/>
              <a:t>Это упрощённая схема, но для демонстрации она подходит.</a:t>
            </a:r>
          </a:p>
          <a:p>
            <a:endParaRPr lang="ru-RU" dirty="0"/>
          </a:p>
          <a:p>
            <a:r>
              <a:rPr lang="ru-RU" dirty="0"/>
              <a:t>Дальше идёт основной цикл.</a:t>
            </a:r>
          </a:p>
          <a:p>
            <a:r>
              <a:rPr lang="ru-RU" dirty="0"/>
              <a:t>Мы читаем пакеты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Demuxer</a:t>
            </a:r>
            <a:r>
              <a:rPr lang="ru-RU" dirty="0"/>
              <a:t> и в зависимости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индекса потока </a:t>
            </a:r>
            <a:r>
              <a:rPr lang="ru-RU" dirty="0"/>
              <a:t>направляем их либо в </a:t>
            </a:r>
            <a:r>
              <a:rPr lang="ru-RU" dirty="0" err="1"/>
              <a:t>видеоветку</a:t>
            </a:r>
            <a:r>
              <a:rPr lang="ru-RU" dirty="0"/>
              <a:t>, либо в </a:t>
            </a:r>
            <a:r>
              <a:rPr lang="ru-RU" dirty="0" err="1"/>
              <a:t>аудиоветку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Каждый пакет передаётся в соответствующую ветку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SendPacket</a:t>
            </a:r>
            <a:r>
              <a:rPr lang="ru-RU" dirty="0"/>
              <a:t>, вместе с функцией, которая отвечает за выставление PTS.</a:t>
            </a:r>
          </a:p>
          <a:p>
            <a:endParaRPr lang="ru-RU" dirty="0"/>
          </a:p>
          <a:p>
            <a:r>
              <a:rPr lang="ru-RU" dirty="0"/>
              <a:t>После того как входной поток закончился,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Flush</a:t>
            </a:r>
            <a:r>
              <a:rPr lang="ru-RU" dirty="0"/>
              <a:t> для каждой ветки. Это важно, потому что внутри кодеков FFmpeg есть буферы, и часть данных может “задерживаться” до конца.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20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устроена работа с декодером. FFmpeg использует так называемую модель </a:t>
            </a:r>
            <a:r>
              <a:rPr lang="ru-RU" i="1" dirty="0" err="1"/>
              <a:t>send</a:t>
            </a:r>
            <a:r>
              <a:rPr lang="ru-RU" i="1" dirty="0"/>
              <a:t>/</a:t>
            </a:r>
            <a:r>
              <a:rPr lang="ru-RU" i="1" dirty="0" err="1"/>
              <a:t>receive</a:t>
            </a:r>
            <a:r>
              <a:rPr lang="ru-RU" dirty="0"/>
              <a:t>. Мы отправляем данные в декодер и отдельно пытаемся получить результат.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SendPacket</a:t>
            </a:r>
            <a:r>
              <a:rPr lang="ru-RU" dirty="0"/>
              <a:t> пытается передать пакет в декодер. Если декодер не готов его принять, он возвращает специальный статус, и тогда мы сначала должны “освободить место” — вычитать из него уже готовые фреймы.</a:t>
            </a:r>
          </a:p>
          <a:p>
            <a:r>
              <a:rPr lang="ru-RU" dirty="0"/>
              <a:t>Именно этим занимается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DrainDecoder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DrainDecoder</a:t>
            </a:r>
            <a:r>
              <a:rPr lang="ru-RU" dirty="0"/>
              <a:t> в цикле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</a:t>
            </a:r>
            <a:r>
              <a:rPr lang="ru-RU" dirty="0"/>
              <a:t> и забирает все доступные фреймы. Каждый полученный фрейм мы сначала обрабатываем — в данном случае выставляем PTS — а затем передаём дальше, в </a:t>
            </a:r>
            <a:r>
              <a:rPr lang="ru-RU" dirty="0" err="1"/>
              <a:t>encoder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внимание, что после успешной отправки пакета мы ещё раз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DrainDecoder</a:t>
            </a:r>
            <a:r>
              <a:rPr lang="ru-RU" dirty="0"/>
              <a:t>. Это важно: один пакет может породить несколько фреймов, и их нужно полностью вычитать.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860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 с энкодером устроена симметрично декодеру.</a:t>
            </a:r>
          </a:p>
          <a:p>
            <a:r>
              <a:rPr lang="ru-RU" dirty="0"/>
              <a:t>Мы отправляем фреймы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SendFrame</a:t>
            </a:r>
            <a:r>
              <a:rPr lang="ru-RU" dirty="0"/>
              <a:t>, и если энкодер не готов их принять, сначала вычитываем уже готовые пакеты.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DrainEncoder</a:t>
            </a:r>
            <a:r>
              <a:rPr lang="ru-RU" dirty="0"/>
              <a:t> делает именно это — в цикле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</a:t>
            </a:r>
            <a:r>
              <a:rPr lang="ru-RU" dirty="0"/>
              <a:t> и передаёт полученные пакеты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Muxer</a:t>
            </a:r>
            <a:r>
              <a:rPr lang="ru-RU" dirty="0"/>
              <a:t>, который записывает их в файл.</a:t>
            </a:r>
          </a:p>
          <a:p>
            <a:endParaRPr lang="ru-RU" dirty="0"/>
          </a:p>
          <a:p>
            <a:r>
              <a:rPr lang="ru-RU" dirty="0"/>
              <a:t>Обратите внимание, что после успешной отправки фрейма мы ещё раз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DrainEncoder</a:t>
            </a:r>
            <a:r>
              <a:rPr lang="ru-RU" dirty="0"/>
              <a:t>. Это важно: один фрейм может породить несколько пакетов, и их нужно полностью вычитать.</a:t>
            </a:r>
          </a:p>
          <a:p>
            <a:endParaRPr lang="ru-RU" dirty="0"/>
          </a:p>
          <a:p>
            <a:r>
              <a:rPr lang="ru-RU" dirty="0"/>
              <a:t>Отдельно стоит сказать про завершение работы. FFmpeg-кодеки буферизуют данные, поэтому в конце нужно явно “протолкнуть” оставшиеся данные через </a:t>
            </a:r>
            <a:r>
              <a:rPr lang="ru-RU" dirty="0" err="1"/>
              <a:t>pipeline</a:t>
            </a:r>
            <a:r>
              <a:rPr lang="ru-RU" dirty="0"/>
              <a:t>. Для этого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Flush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Мы отправляем в декодер и энкодер специальные 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которые означают конец потока, и тем самым заставляем их выдать все накопленные данные.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108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сравнили наш последовательный </a:t>
            </a:r>
            <a:r>
              <a:rPr lang="ru-RU" dirty="0" err="1"/>
              <a:t>pipeline</a:t>
            </a:r>
            <a:r>
              <a:rPr lang="ru-RU" dirty="0"/>
              <a:t> с консольным </a:t>
            </a:r>
            <a:r>
              <a:rPr lang="ru-RU" dirty="0" err="1"/>
              <a:t>ffmpeg</a:t>
            </a:r>
            <a:r>
              <a:rPr lang="ru-RU" dirty="0"/>
              <a:t>. Разница получилась довольно заметной — примерно в </a:t>
            </a:r>
            <a:r>
              <a:rPr lang="en-US" dirty="0"/>
              <a:t>1.7</a:t>
            </a:r>
            <a:r>
              <a:rPr lang="ru-RU" dirty="0"/>
              <a:t> раза.</a:t>
            </a:r>
          </a:p>
          <a:p>
            <a:endParaRPr lang="ru-RU" dirty="0"/>
          </a:p>
          <a:p>
            <a:r>
              <a:rPr lang="ru-RU" dirty="0"/>
              <a:t>Но ещё интереснее посмотреть не только на время, а на загрузку процессора.</a:t>
            </a:r>
            <a:r>
              <a:rPr lang="en-US" dirty="0"/>
              <a:t> </a:t>
            </a:r>
            <a:r>
              <a:rPr lang="ru-RU" dirty="0"/>
              <a:t>Во время работы нашего </a:t>
            </a:r>
            <a:r>
              <a:rPr lang="ru-RU" dirty="0" err="1"/>
              <a:t>pipeline</a:t>
            </a:r>
            <a:r>
              <a:rPr lang="ru-RU" dirty="0"/>
              <a:t> CPU был загружен далеко не полностью.</a:t>
            </a:r>
          </a:p>
          <a:p>
            <a:endParaRPr lang="ru-RU" dirty="0"/>
          </a:p>
          <a:p>
            <a:r>
              <a:rPr lang="ru-RU" dirty="0"/>
              <a:t>Причина простая: все этапы выполняются последовательно.</a:t>
            </a:r>
            <a:r>
              <a:rPr lang="en-US" dirty="0"/>
              <a:t> </a:t>
            </a:r>
            <a:r>
              <a:rPr lang="ru-RU" dirty="0"/>
              <a:t>Сначала мы читаем пакет, потом декодируем, потом кодируем, потом записываем — и только после этого берём следующий.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итоге в каждый момент времени работает только одна часть конвейера, а остальные простаивают.</a:t>
            </a:r>
          </a:p>
          <a:p>
            <a:br>
              <a:rPr lang="ru-RU" dirty="0"/>
            </a:br>
            <a:r>
              <a:rPr lang="ru-RU" dirty="0"/>
              <a:t>Мы упираемся не в производительность кода, а в архитектуру.</a:t>
            </a:r>
          </a:p>
          <a:p>
            <a:r>
              <a:rPr lang="ru-RU" dirty="0"/>
              <a:t>Значит следующий логичный шаг — попробовать распараллелить эти этапы и заставить их работать одновременно.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49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746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Следующая идея довольно естественная: если </a:t>
            </a:r>
            <a:r>
              <a:rPr lang="ru-RU" dirty="0" err="1"/>
              <a:t>decoder</a:t>
            </a:r>
            <a:r>
              <a:rPr lang="ru-RU" dirty="0"/>
              <a:t> и </a:t>
            </a:r>
            <a:r>
              <a:rPr lang="ru-RU" dirty="0" err="1"/>
              <a:t>encoder</a:t>
            </a:r>
            <a:r>
              <a:rPr lang="ru-RU" dirty="0"/>
              <a:t> независимы, давайте выполнять их параллельно.</a:t>
            </a:r>
          </a:p>
          <a:p>
            <a:r>
              <a:rPr lang="ru-RU" dirty="0" err="1"/>
              <a:t>Decoder</a:t>
            </a:r>
            <a:r>
              <a:rPr lang="ru-RU" dirty="0"/>
              <a:t> будет работать в одном потоке, </a:t>
            </a:r>
            <a:r>
              <a:rPr lang="ru-RU" dirty="0" err="1"/>
              <a:t>encoder</a:t>
            </a:r>
            <a:r>
              <a:rPr lang="ru-RU" dirty="0"/>
              <a:t> — в другом. Между ними появится очередь.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Decoder</a:t>
            </a:r>
            <a:r>
              <a:rPr lang="ru-RU" dirty="0"/>
              <a:t> становится </a:t>
            </a:r>
            <a:r>
              <a:rPr lang="ru-RU" dirty="0" err="1"/>
              <a:t>producer</a:t>
            </a:r>
            <a:r>
              <a:rPr lang="ru-RU" dirty="0"/>
              <a:t>-ом: он получает </a:t>
            </a:r>
            <a:r>
              <a:rPr lang="ru-RU" dirty="0" err="1"/>
              <a:t>packets</a:t>
            </a:r>
            <a:r>
              <a:rPr lang="ru-RU" dirty="0"/>
              <a:t>, декодирует их во </a:t>
            </a:r>
            <a:r>
              <a:rPr lang="ru-RU" dirty="0" err="1"/>
              <a:t>frames</a:t>
            </a:r>
            <a:r>
              <a:rPr lang="ru-RU" dirty="0"/>
              <a:t> и кладёт результат в очередь.</a:t>
            </a:r>
          </a:p>
          <a:p>
            <a:r>
              <a:rPr lang="ru-RU" dirty="0" err="1"/>
              <a:t>Encoder</a:t>
            </a:r>
            <a:r>
              <a:rPr lang="ru-RU" dirty="0"/>
              <a:t> становится </a:t>
            </a:r>
            <a:r>
              <a:rPr lang="ru-RU" dirty="0" err="1"/>
              <a:t>consumer</a:t>
            </a:r>
            <a:r>
              <a:rPr lang="ru-RU" dirty="0"/>
              <a:t>-ом: он забирает </a:t>
            </a:r>
            <a:r>
              <a:rPr lang="ru-RU" dirty="0" err="1"/>
              <a:t>frames</a:t>
            </a:r>
            <a:r>
              <a:rPr lang="ru-RU" dirty="0"/>
              <a:t> из очереди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здесь есть проблема.</a:t>
            </a:r>
          </a:p>
          <a:p>
            <a:r>
              <a:rPr lang="ru-RU" dirty="0" err="1"/>
              <a:t>Decoder</a:t>
            </a:r>
            <a:r>
              <a:rPr lang="ru-RU" dirty="0"/>
              <a:t> обычно работает быстрее </a:t>
            </a:r>
            <a:r>
              <a:rPr lang="ru-RU" dirty="0" err="1"/>
              <a:t>encoder</a:t>
            </a:r>
            <a:r>
              <a:rPr lang="ru-RU" dirty="0"/>
              <a:t>-а. Кроме того, входные </a:t>
            </a:r>
            <a:r>
              <a:rPr lang="ru-RU" dirty="0" err="1"/>
              <a:t>packets</a:t>
            </a:r>
            <a:r>
              <a:rPr lang="ru-RU" dirty="0"/>
              <a:t> компактные, а </a:t>
            </a:r>
            <a:r>
              <a:rPr lang="ru-RU" dirty="0" err="1"/>
              <a:t>decoded</a:t>
            </a:r>
            <a:r>
              <a:rPr lang="ru-RU" dirty="0"/>
              <a:t> </a:t>
            </a:r>
            <a:r>
              <a:rPr lang="ru-RU" dirty="0" err="1"/>
              <a:t>frames</a:t>
            </a:r>
            <a:r>
              <a:rPr lang="ru-RU" dirty="0"/>
              <a:t> для видео могут занимать мегабайты памяти.</a:t>
            </a:r>
          </a:p>
          <a:p>
            <a:r>
              <a:rPr lang="ru-RU" dirty="0"/>
              <a:t>Если сделать обычную неограниченную очередь, </a:t>
            </a:r>
            <a:r>
              <a:rPr lang="ru-RU" dirty="0" err="1"/>
              <a:t>decoder</a:t>
            </a:r>
            <a:r>
              <a:rPr lang="ru-RU" dirty="0"/>
              <a:t> может быстро </a:t>
            </a:r>
            <a:r>
              <a:rPr lang="ru-RU" dirty="0" err="1"/>
              <a:t>нагенерировать</a:t>
            </a:r>
            <a:r>
              <a:rPr lang="ru-RU" dirty="0"/>
              <a:t> огромное количество </a:t>
            </a:r>
            <a:r>
              <a:rPr lang="ru-RU" dirty="0" err="1"/>
              <a:t>frames</a:t>
            </a:r>
            <a:r>
              <a:rPr lang="ru-RU" dirty="0"/>
              <a:t>, и память начнёт расти бесконтрольно.</a:t>
            </a:r>
          </a:p>
          <a:p>
            <a:endParaRPr lang="ru-RU" dirty="0"/>
          </a:p>
          <a:p>
            <a:r>
              <a:rPr lang="ru-RU" dirty="0"/>
              <a:t>Поэтому нам нужна не просто очередь, а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 — очередь с ограниченной ёмкостью.</a:t>
            </a:r>
          </a:p>
          <a:p>
            <a:r>
              <a:rPr lang="ru-RU" dirty="0"/>
              <a:t>Если очередь заполнена, </a:t>
            </a:r>
            <a:r>
              <a:rPr lang="ru-RU" dirty="0" err="1"/>
              <a:t>decoder</a:t>
            </a:r>
            <a:r>
              <a:rPr lang="ru-RU" dirty="0"/>
              <a:t> не продолжает производить новые </a:t>
            </a:r>
            <a:r>
              <a:rPr lang="ru-RU" dirty="0" err="1"/>
              <a:t>frames</a:t>
            </a:r>
            <a:r>
              <a:rPr lang="ru-RU" dirty="0"/>
              <a:t>, а ждёт, пока </a:t>
            </a:r>
            <a:r>
              <a:rPr lang="ru-RU" dirty="0" err="1"/>
              <a:t>encoder</a:t>
            </a:r>
            <a:r>
              <a:rPr lang="ru-RU" dirty="0"/>
              <a:t> разгребёт часть работы.</a:t>
            </a:r>
          </a:p>
          <a:p>
            <a:endParaRPr lang="ru-RU" dirty="0"/>
          </a:p>
          <a:p>
            <a:r>
              <a:rPr lang="ru-RU" dirty="0"/>
              <a:t>Это и есть </a:t>
            </a:r>
            <a:r>
              <a:rPr lang="ru-RU" dirty="0" err="1"/>
              <a:t>backpressure</a:t>
            </a:r>
            <a:r>
              <a:rPr lang="ru-RU" dirty="0"/>
              <a:t>: более медленная стадия автоматически притормаживает более быструю. Именно с этой очереди начинается переход от последовательного </a:t>
            </a:r>
            <a:r>
              <a:rPr lang="ru-RU" dirty="0" err="1"/>
              <a:t>pipeline</a:t>
            </a:r>
            <a:r>
              <a:rPr lang="ru-RU" dirty="0"/>
              <a:t> к управляемому асинхронному </a:t>
            </a:r>
            <a:r>
              <a:rPr lang="ru-RU" dirty="0" err="1"/>
              <a:t>pipeline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56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389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911BF-41FB-4708-DF28-C91968AF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78430-B22D-501B-5504-C09EA1A7C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2A853-8BDD-5E84-B7BB-43DB4273E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2059-E719-015F-41D9-6911AA503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21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48F92-6439-B1BD-1E9B-481F1072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71171-C214-D707-BD57-6CAEFFA95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7B219-8D7D-D594-75C4-8FD9B265F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6A055-12DC-F532-328F-D83249D5F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120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D5BC-6F59-62C3-2859-F56472EC7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925F3-A39E-2929-8833-2CAABE6B4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E880C-62E9-7A9C-8A0B-DD86BB457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C9A64-AE7E-E00E-0385-013099ABC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766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F204-551C-833A-241F-C53EFF59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EE9CE-AE6E-A919-0E61-365C75A18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24B83-F5CA-3A93-BA7A-76E8500E5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FD7DD-1C32-EA1E-8886-9631C329B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275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091B-B3C1-91F7-3184-3EEE40D9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EA0E5-456F-E5DF-C521-F46A8F908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9CECE-AD72-4019-274D-AFDC6581B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2AF0D-DE09-902F-058E-D00ACE890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093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D7B4-E04F-CE4A-5A8B-B7B0772DE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FF591-66DF-7A85-A0DF-3F5AF1200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3424D-C011-861D-C7C3-4455BFAB5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78CF6-7E59-D65F-5CD6-FDB072BA2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373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FC2F-BB25-14DA-8A04-D3861F54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BB67C-F8C4-D1E1-C059-1450E0D4B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19562-7078-FD66-DB1A-7274A80D9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93D56-871D-E5B4-F4F0-F7643A493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667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8062-4472-D897-84EB-0F3F7C3D1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4E491-C060-1925-F2C8-94A62DBD0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7D185-6203-D3D9-9D16-0356DCE18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5A0A4-1B7D-2A84-A5DF-B4DBE351C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529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8D334-BDB1-5D78-4BAD-B3A8A5EAC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A9F40-FC70-ABAD-ACFE-92F0A25F7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DAF49-2AC4-048E-E73D-07593DC2A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97E87-4069-E23E-C62D-4C53BAAE0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996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081ED-13BE-CC3F-A5D5-48930DC2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63439-3DF7-CB21-E789-509031561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E1274-7CC4-EEF9-335A-12D40E2AC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CEFD-4BAD-D6D7-2765-D19AC373F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597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A47A-90D0-D42C-87A2-263BEEE5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FC9A1-D472-C8D4-104E-271FBA2DA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B758A-1AE9-F3EC-1D89-690EDC483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A0435-0332-4ABA-2C3F-C4F020C82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776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AD2AC-51D4-9EAA-E6F8-852C69EB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8F24F-82F2-D1D2-986B-51574340B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291F0-A114-0A8A-4675-28646F627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B4A62-F7D5-44DB-F5E9-61C11F543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041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424E0-2EC5-162A-A8F7-E5885338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A7281-01FD-6117-CF06-52A7BCAC5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2CB2A-1646-17F6-D3E5-4ACCABF91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03284-6FC8-582A-9685-81917364E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0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79526-1C0B-8C12-FDD1-EBE73655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B14EA-45C2-F21A-B0C9-9C7731C83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E9A49-0D02-4996-E2CB-B3084A0ED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07C0-7869-6C03-B7F4-F236D58A8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401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788B0-CF5B-A40E-D712-5E726F35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FAB10-482B-FDB4-8A14-0612CC51E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30A0D-696C-A949-C077-BF8A56410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выглядит асинхронный, или параллельный, </a:t>
            </a:r>
            <a:r>
              <a:rPr lang="ru-RU" dirty="0" err="1"/>
              <a:t>pipeline</a:t>
            </a:r>
            <a:r>
              <a:rPr lang="ru-RU" dirty="0"/>
              <a:t>. Слева у нас источник данных — </a:t>
            </a:r>
            <a:r>
              <a:rPr lang="ru-RU" dirty="0" err="1"/>
              <a:t>demuxer</a:t>
            </a:r>
            <a:r>
              <a:rPr lang="ru-RU" dirty="0"/>
              <a:t>. Он читает из файла сжатые пакеты.</a:t>
            </a:r>
          </a:p>
          <a:p>
            <a:endParaRPr lang="ru-RU" dirty="0"/>
          </a:p>
          <a:p>
            <a:r>
              <a:rPr lang="ru-RU" dirty="0"/>
              <a:t>Дальше эти пакеты попадают в первую очередь — это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Она буферизует данные и позволяет отделить одну стадию от другой.</a:t>
            </a:r>
          </a:p>
          <a:p>
            <a:endParaRPr lang="ru-RU" dirty="0"/>
          </a:p>
          <a:p>
            <a:r>
              <a:rPr lang="ru-RU" dirty="0"/>
              <a:t>Следующий этап — </a:t>
            </a:r>
            <a:r>
              <a:rPr lang="ru-RU" dirty="0" err="1"/>
              <a:t>decoder</a:t>
            </a:r>
            <a:r>
              <a:rPr lang="ru-RU" dirty="0"/>
              <a:t>. Он работает в своём потоке и преобразует </a:t>
            </a:r>
            <a:r>
              <a:rPr lang="ru-RU" dirty="0" err="1"/>
              <a:t>packets</a:t>
            </a:r>
            <a:r>
              <a:rPr lang="ru-RU" dirty="0"/>
              <a:t> в </a:t>
            </a:r>
            <a:r>
              <a:rPr lang="ru-RU" dirty="0" err="1"/>
              <a:t>frames</a:t>
            </a:r>
            <a:r>
              <a:rPr lang="ru-RU" dirty="0"/>
              <a:t>.</a:t>
            </a:r>
          </a:p>
          <a:p>
            <a:r>
              <a:rPr lang="ru-RU" dirty="0"/>
              <a:t>И вот здесь происходит важный момент: </a:t>
            </a:r>
            <a:r>
              <a:rPr lang="ru-RU" dirty="0" err="1"/>
              <a:t>frames</a:t>
            </a:r>
            <a:r>
              <a:rPr lang="ru-RU" dirty="0"/>
              <a:t> — это уже “тяжёлые” данные. Для видео один кадр может занимать мегабайты памяти.</a:t>
            </a:r>
          </a:p>
          <a:p>
            <a:r>
              <a:rPr lang="ru-RU" dirty="0"/>
              <a:t>Поэтому после </a:t>
            </a:r>
            <a:r>
              <a:rPr lang="ru-RU" dirty="0" err="1"/>
              <a:t>decoder</a:t>
            </a:r>
            <a:r>
              <a:rPr lang="ru-RU" dirty="0"/>
              <a:t>-а у нас снова стоит очередь.</a:t>
            </a:r>
          </a:p>
          <a:p>
            <a:br>
              <a:rPr lang="ru-RU" dirty="0"/>
            </a:br>
            <a:r>
              <a:rPr lang="ru-RU" dirty="0"/>
              <a:t>Она ограничена по размеру и играет ключевую роль в управлении нагрузкой. </a:t>
            </a:r>
            <a:r>
              <a:rPr lang="ru-RU" dirty="0" err="1"/>
              <a:t>Decoder</a:t>
            </a:r>
            <a:r>
              <a:rPr lang="ru-RU" dirty="0"/>
              <a:t> кладёт туда готовые </a:t>
            </a:r>
            <a:r>
              <a:rPr lang="ru-RU" dirty="0" err="1"/>
              <a:t>frames</a:t>
            </a:r>
            <a:r>
              <a:rPr lang="ru-RU" dirty="0"/>
              <a:t>, а </a:t>
            </a:r>
            <a:r>
              <a:rPr lang="ru-RU" dirty="0" err="1"/>
              <a:t>encoder</a:t>
            </a:r>
            <a:r>
              <a:rPr lang="ru-RU" dirty="0"/>
              <a:t> — забирает их.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не успевает, очередь заполняется, и </a:t>
            </a:r>
            <a:r>
              <a:rPr lang="ru-RU" dirty="0" err="1"/>
              <a:t>decoder</a:t>
            </a:r>
            <a:r>
              <a:rPr lang="ru-RU" dirty="0"/>
              <a:t> автоматически начинает ждать. То есть система сама балансирует скорость работы стадий.</a:t>
            </a:r>
          </a:p>
          <a:p>
            <a:r>
              <a:rPr lang="ru-RU" dirty="0"/>
              <a:t>Это и есть механизм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</a:t>
            </a:r>
            <a:r>
              <a:rPr lang="ru-RU" dirty="0" err="1"/>
              <a:t>encoder</a:t>
            </a:r>
            <a:r>
              <a:rPr lang="ru-RU" dirty="0"/>
              <a:t>, уже в своём потоке, берёт </a:t>
            </a:r>
            <a:r>
              <a:rPr lang="ru-RU" dirty="0" err="1"/>
              <a:t>frames</a:t>
            </a:r>
            <a:r>
              <a:rPr lang="ru-RU" dirty="0"/>
              <a:t> и кодирует их обратно в </a:t>
            </a:r>
            <a:r>
              <a:rPr lang="ru-RU" dirty="0" err="1"/>
              <a:t>packets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него снова может быть очередь, и затем данные уходят в </a:t>
            </a:r>
            <a:r>
              <a:rPr lang="ru-RU" dirty="0" err="1"/>
              <a:t>muxer</a:t>
            </a:r>
            <a:r>
              <a:rPr lang="ru-RU" dirty="0"/>
              <a:t>, который записывает их в выходной файл.</a:t>
            </a:r>
          </a:p>
          <a:p>
            <a:endParaRPr lang="ru-RU" dirty="0"/>
          </a:p>
          <a:p>
            <a:r>
              <a:rPr lang="ru-RU" dirty="0"/>
              <a:t>Важно, что теперь все стадии могут работать одновременно. Пока </a:t>
            </a:r>
            <a:r>
              <a:rPr lang="ru-RU" dirty="0" err="1"/>
              <a:t>encoder</a:t>
            </a:r>
            <a:r>
              <a:rPr lang="ru-RU" dirty="0"/>
              <a:t> обрабатывает один кадр, </a:t>
            </a:r>
            <a:r>
              <a:rPr lang="ru-RU" dirty="0" err="1"/>
              <a:t>decoder</a:t>
            </a:r>
            <a:r>
              <a:rPr lang="ru-RU" dirty="0"/>
              <a:t> уже может декодировать следующий, а </a:t>
            </a:r>
            <a:r>
              <a:rPr lang="ru-RU" dirty="0" err="1"/>
              <a:t>demuxer</a:t>
            </a:r>
            <a:r>
              <a:rPr lang="ru-RU" dirty="0"/>
              <a:t> — читать следующий пакет. В результате </a:t>
            </a:r>
            <a:r>
              <a:rPr lang="ru-RU" dirty="0" err="1"/>
              <a:t>pipeline</a:t>
            </a:r>
            <a:r>
              <a:rPr lang="ru-RU" dirty="0"/>
              <a:t> начинает “заполняться”, и CPU используется гораздо эффективнее.</a:t>
            </a:r>
          </a:p>
          <a:p>
            <a:endParaRPr lang="ru-RU" dirty="0"/>
          </a:p>
          <a:p>
            <a:r>
              <a:rPr lang="ru-RU" dirty="0"/>
              <a:t>Таким образом, ключевая идея такая — разделить </a:t>
            </a:r>
            <a:r>
              <a:rPr lang="ru-RU" dirty="0" err="1"/>
              <a:t>pipeline</a:t>
            </a:r>
            <a:r>
              <a:rPr lang="ru-RU" dirty="0"/>
              <a:t> на независимые стадии и соединить их через </a:t>
            </a:r>
            <a:r>
              <a:rPr lang="ru-RU" dirty="0" err="1"/>
              <a:t>bounded</a:t>
            </a:r>
            <a:r>
              <a:rPr lang="ru-RU" dirty="0"/>
              <a:t> очереди, которые не только передают данные, но и управляют скоростью выполнения.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C50A8-518E-5F99-16B4-A6A23E17D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475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460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Слева показан </a:t>
            </a:r>
            <a:r>
              <a:rPr lang="ru-RU" dirty="0" err="1"/>
              <a:t>Async</a:t>
            </a:r>
            <a:r>
              <a:rPr lang="ru-RU" dirty="0"/>
              <a:t> </a:t>
            </a:r>
            <a:r>
              <a:rPr lang="ru-RU" dirty="0" err="1"/>
              <a:t>Decoder</a:t>
            </a:r>
            <a:r>
              <a:rPr lang="ru-RU" dirty="0"/>
              <a:t>, справа — </a:t>
            </a:r>
            <a:r>
              <a:rPr lang="ru-RU" dirty="0" err="1"/>
              <a:t>Async</a:t>
            </a:r>
            <a:r>
              <a:rPr lang="ru-RU" dirty="0"/>
              <a:t> </a:t>
            </a:r>
            <a:r>
              <a:rPr lang="ru-RU" dirty="0" err="1"/>
              <a:t>Encoder</a:t>
            </a:r>
            <a:r>
              <a:rPr lang="ru-RU" dirty="0"/>
              <a:t>. И если посмотреть внимательно, они устроены практически одинаково.</a:t>
            </a:r>
          </a:p>
          <a:p>
            <a:r>
              <a:rPr lang="ru-RU" dirty="0"/>
              <a:t>У каждой стадии есть: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входная очередь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выходная очередь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отдельный </a:t>
            </a: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thread</a:t>
            </a:r>
            <a:r>
              <a:rPr lang="ru-RU" dirty="0"/>
              <a:t>, который выполняет обработку </a:t>
            </a:r>
          </a:p>
          <a:p>
            <a:r>
              <a:rPr lang="ru-RU" dirty="0"/>
              <a:t>Что делает этот </a:t>
            </a: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thread</a:t>
            </a:r>
            <a:r>
              <a:rPr lang="ru-RU" dirty="0"/>
              <a:t>?</a:t>
            </a:r>
          </a:p>
          <a:p>
            <a:endParaRPr lang="ru-RU" dirty="0"/>
          </a:p>
          <a:p>
            <a:r>
              <a:rPr lang="ru-RU" dirty="0"/>
              <a:t>Он крутится в цикле и делает четыре очень простых шага: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берёт элемент из входной очереди.</a:t>
            </a:r>
            <a:br>
              <a:rPr lang="ru-RU" dirty="0"/>
            </a:br>
            <a:r>
              <a:rPr lang="ru-RU" dirty="0"/>
              <a:t>Дальше отправляет его в соответствующий обработчик — </a:t>
            </a:r>
            <a:r>
              <a:rPr lang="ru-RU" dirty="0" err="1"/>
              <a:t>decoder</a:t>
            </a:r>
            <a:r>
              <a:rPr lang="ru-RU" dirty="0"/>
              <a:t> или </a:t>
            </a:r>
            <a:r>
              <a:rPr lang="ru-RU" dirty="0" err="1"/>
              <a:t>encoder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 этого пытается получить из обработчика готовые результаты.</a:t>
            </a:r>
            <a:br>
              <a:rPr lang="ru-RU" dirty="0"/>
            </a:br>
            <a:r>
              <a:rPr lang="ru-RU" dirty="0"/>
              <a:t>И, наконец, складывает их в выходную очередь.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затем всё повторяется.</a:t>
            </a:r>
          </a:p>
          <a:p>
            <a:endParaRPr lang="ru-RU" dirty="0"/>
          </a:p>
          <a:p>
            <a:r>
              <a:rPr lang="ru-RU" dirty="0"/>
              <a:t>Обратите внимание: логика полностью одинаковая. Меняется только тип данных и конкретный обработчик.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одном случае это преобразование Packet в Frame,</a:t>
            </a:r>
            <a:br>
              <a:rPr lang="ru-RU" dirty="0"/>
            </a:br>
            <a:r>
              <a:rPr lang="ru-RU" dirty="0"/>
              <a:t>в другом — из Frame в Packet.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Поэтому делаем вывод. Нам на самом деле нужны две базовые абстракции:</a:t>
            </a:r>
          </a:p>
          <a:p>
            <a:r>
              <a:rPr lang="ru-RU" dirty="0"/>
              <a:t>Во-первых, асинхронная очередь, которая соединяет стадии и управляет обратным </a:t>
            </a:r>
            <a:r>
              <a:rPr lang="ru-RU" dirty="0" err="1"/>
              <a:t>давленеим</a:t>
            </a:r>
            <a:r>
              <a:rPr lang="ru-RU" dirty="0"/>
              <a:t>.</a:t>
            </a:r>
          </a:p>
          <a:p>
            <a:r>
              <a:rPr lang="ru-RU" dirty="0"/>
              <a:t>Во-вторых, некий обобщённый “</a:t>
            </a:r>
            <a:r>
              <a:rPr lang="ru-RU" dirty="0" err="1"/>
              <a:t>pipeline</a:t>
            </a:r>
            <a:r>
              <a:rPr lang="ru-RU" dirty="0"/>
              <a:t> </a:t>
            </a:r>
            <a:r>
              <a:rPr lang="ru-RU" dirty="0" err="1"/>
              <a:t>stage</a:t>
            </a:r>
            <a:r>
              <a:rPr lang="ru-RU" dirty="0"/>
              <a:t>”, который: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читает из входа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вызывает обработчик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пишет в выход </a:t>
            </a:r>
          </a:p>
          <a:p>
            <a:r>
              <a:rPr lang="ru-RU" dirty="0"/>
              <a:t>И уже конкретные </a:t>
            </a:r>
            <a:r>
              <a:rPr lang="ru-RU" dirty="0" err="1"/>
              <a:t>AsyncDecoder</a:t>
            </a:r>
            <a:r>
              <a:rPr lang="ru-RU" dirty="0"/>
              <a:t> и </a:t>
            </a:r>
            <a:r>
              <a:rPr lang="ru-RU" dirty="0" err="1"/>
              <a:t>AsyncEncoder</a:t>
            </a:r>
            <a:r>
              <a:rPr lang="ru-RU" dirty="0"/>
              <a:t> — это просто частные случаи этого общего шаблона.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8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Начиная с C++20 в стандартной библиотеке появился механизм </a:t>
            </a:r>
            <a:r>
              <a:rPr lang="ru-RU" dirty="0" err="1"/>
              <a:t>cooperative</a:t>
            </a:r>
            <a:r>
              <a:rPr lang="ru-RU" dirty="0"/>
              <a:t> </a:t>
            </a:r>
            <a:r>
              <a:rPr lang="ru-RU" dirty="0" err="1"/>
              <a:t>cancellation</a:t>
            </a:r>
            <a:r>
              <a:rPr lang="ru-RU" dirty="0"/>
              <a:t>.</a:t>
            </a:r>
          </a:p>
          <a:p>
            <a:r>
              <a:rPr lang="ru-RU" dirty="0"/>
              <a:t>Идея здесь в том, что поток не убивается принудительно, а получает сигнал: “пора корректно завершаться”.</a:t>
            </a:r>
          </a:p>
          <a:p>
            <a:r>
              <a:rPr lang="ru-RU" dirty="0"/>
              <a:t>Для этого используется пара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stop_source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.</a:t>
            </a:r>
          </a:p>
          <a:p>
            <a:r>
              <a:rPr lang="ru-RU" dirty="0"/>
              <a:t>Один поток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а другой может периодически проверять: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st.stop_requested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dirty="0"/>
              <a:t>не попросили ли его остановиться.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Самое удобное, что этот механизм встроен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, который тоже появился в C++20.</a:t>
            </a:r>
          </a:p>
          <a:p>
            <a:r>
              <a:rPr lang="ru-RU" dirty="0"/>
              <a:t>Если функция потока принимает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 первым аргументом,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автоматически передаст токен в </a:t>
            </a: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function</a:t>
            </a:r>
            <a:r>
              <a:rPr lang="ru-RU" dirty="0"/>
              <a:t>.</a:t>
            </a:r>
          </a:p>
          <a:p>
            <a:r>
              <a:rPr lang="ru-RU" dirty="0"/>
              <a:t>Кроме того, при уничтожении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автоматически вызывает: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r>
              <a:rPr lang="ru-RU" dirty="0"/>
              <a:t>и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</a:t>
            </a:r>
          </a:p>
          <a:p>
            <a:r>
              <a:rPr lang="ru-RU" dirty="0"/>
              <a:t>То есть поток получает шанс корректно завершиться без ручного управления </a:t>
            </a:r>
            <a:r>
              <a:rPr lang="ru-RU" dirty="0" err="1"/>
              <a:t>lifecycle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самое интересное для многопоточного кода — это интеграция с </a:t>
            </a:r>
            <a:r>
              <a:rPr lang="ru-RU" dirty="0" err="1"/>
              <a:t>condition</a:t>
            </a:r>
            <a:r>
              <a:rPr lang="ru-RU" dirty="0"/>
              <a:t> </a:t>
            </a:r>
            <a:r>
              <a:rPr lang="ru-RU" dirty="0" err="1"/>
              <a:t>variable</a:t>
            </a:r>
            <a:r>
              <a:rPr lang="ru-RU" dirty="0"/>
              <a:t>.</a:t>
            </a:r>
          </a:p>
          <a:p>
            <a:r>
              <a:rPr lang="ru-RU" dirty="0"/>
              <a:t>Начиная с C++20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condition_variable_any</a:t>
            </a:r>
            <a:r>
              <a:rPr lang="ru-RU" dirty="0"/>
              <a:t> умеет принимать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 прямо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поток можно разбудить не только появлением данных, но и сигналом остановки.</a:t>
            </a:r>
          </a:p>
          <a:p>
            <a:r>
              <a:rPr lang="ru-RU" dirty="0"/>
              <a:t>В моем проекте это используется в асинхронных очередях:</a:t>
            </a:r>
            <a:br>
              <a:rPr lang="ru-RU" dirty="0"/>
            </a:b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thread</a:t>
            </a:r>
            <a:r>
              <a:rPr lang="ru-RU" dirty="0"/>
              <a:t> может “спать”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PushOrWait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PopOrWait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но при остановке </a:t>
            </a:r>
            <a:r>
              <a:rPr lang="ru-RU" dirty="0" err="1"/>
              <a:t>пайплайна</a:t>
            </a:r>
            <a:r>
              <a:rPr lang="ru-RU" dirty="0"/>
              <a:t> ожидание автоматически прерывается, и поток корректно завершает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354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у нас появляется ключевой строительный блок — асинхронная очередь. 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Снаружи это шаблон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AsyncQueue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&lt;T&gt;</a:t>
            </a:r>
            <a:r>
              <a:rPr lang="ru-RU" dirty="0"/>
              <a:t>, внутри — </a:t>
            </a:r>
            <a:r>
              <a:rPr lang="ru-RU" dirty="0" err="1"/>
              <a:t>mutex</a:t>
            </a:r>
            <a:r>
              <a:rPr lang="ru-RU" dirty="0"/>
              <a:t>, </a:t>
            </a:r>
            <a:r>
              <a:rPr lang="ru-RU" dirty="0" err="1"/>
              <a:t>condition</a:t>
            </a:r>
            <a:r>
              <a:rPr lang="ru-RU" dirty="0"/>
              <a:t> </a:t>
            </a:r>
            <a:r>
              <a:rPr lang="ru-RU" dirty="0" err="1"/>
              <a:t>variables</a:t>
            </a:r>
            <a:r>
              <a:rPr lang="ru-RU" dirty="0"/>
              <a:t> и очередь вместимостью </a:t>
            </a:r>
            <a:r>
              <a:rPr lang="en-US" dirty="0" err="1"/>
              <a:t>m_capacity</a:t>
            </a:r>
            <a:r>
              <a:rPr lang="ru-RU" dirty="0"/>
              <a:t>.</a:t>
            </a:r>
          </a:p>
          <a:p>
            <a:r>
              <a:rPr lang="ru-RU" dirty="0"/>
              <a:t>Часть реализации вынесена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AsyncQueueBase</a:t>
            </a:r>
            <a:r>
              <a:rPr lang="ru-RU" dirty="0"/>
              <a:t> — туда уходит всё, что не зависит от типа.</a:t>
            </a:r>
            <a:r>
              <a:rPr lang="en-US" dirty="0"/>
              <a:t> </a:t>
            </a:r>
            <a:r>
              <a:rPr lang="ru-RU" dirty="0"/>
              <a:t>Это уменьшает шаблонный код и ускоряет компиляцию.</a:t>
            </a:r>
          </a:p>
          <a:p>
            <a:endParaRPr lang="ru-RU" dirty="0"/>
          </a:p>
          <a:p>
            <a:r>
              <a:rPr lang="ru-RU" dirty="0"/>
              <a:t>API разбит на три группы.</a:t>
            </a:r>
          </a:p>
          <a:p>
            <a:r>
              <a:rPr lang="ru-RU" dirty="0"/>
              <a:t>Первая — неблокирующие вызовы: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TryPush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Они сразу возвращают результат: успешно, очередь заполнена или закрыта.</a:t>
            </a:r>
          </a:p>
          <a:p>
            <a:endParaRPr lang="ru-RU" dirty="0"/>
          </a:p>
          <a:p>
            <a:r>
              <a:rPr lang="ru-RU" dirty="0"/>
              <a:t>Вторая — блокирующие: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PushOrWait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PopOrWait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Ждём, пока операция станет возможной, с поддержкой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Третья — </a:t>
            </a:r>
            <a:r>
              <a:rPr lang="ru-RU" dirty="0" err="1"/>
              <a:t>batching</a:t>
            </a:r>
            <a:r>
              <a:rPr lang="ru-RU" dirty="0"/>
              <a:t>: можно за раз забрать несколько элементов.</a:t>
            </a:r>
            <a:br>
              <a:rPr lang="ru-RU" dirty="0"/>
            </a:br>
            <a:r>
              <a:rPr lang="ru-RU" dirty="0"/>
              <a:t>Это сильно снижает </a:t>
            </a:r>
            <a:r>
              <a:rPr lang="ru-RU" dirty="0" err="1"/>
              <a:t>overhead</a:t>
            </a:r>
            <a:r>
              <a:rPr lang="ru-RU" dirty="0"/>
              <a:t> на синхронизацию.</a:t>
            </a:r>
          </a:p>
          <a:p>
            <a:endParaRPr lang="ru-RU" dirty="0"/>
          </a:p>
          <a:p>
            <a:r>
              <a:rPr lang="ru-RU" dirty="0"/>
              <a:t>И есть отдельно методы управления жизненным циклом. </a:t>
            </a:r>
            <a:r>
              <a:rPr lang="en-US" dirty="0"/>
              <a:t>Close – </a:t>
            </a:r>
            <a:r>
              <a:rPr lang="ru-RU" dirty="0"/>
              <a:t>служит для отправки завершающего пакета или фрейма, а </a:t>
            </a:r>
            <a:r>
              <a:rPr lang="en-US" dirty="0" err="1"/>
              <a:t>NotifyAll</a:t>
            </a:r>
            <a:r>
              <a:rPr lang="en-US" dirty="0"/>
              <a:t> </a:t>
            </a:r>
            <a:r>
              <a:rPr lang="ru-RU" dirty="0"/>
              <a:t>будит все потоки, которые ждут на очереди.</a:t>
            </a:r>
            <a:r>
              <a:rPr lang="en-US" dirty="0"/>
              <a:t> </a:t>
            </a:r>
            <a:r>
              <a:rPr lang="ru-RU" dirty="0"/>
              <a:t>Это нужно при остановке: поток может “спать”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PopOrWait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PushOrWait</a:t>
            </a:r>
            <a:r>
              <a:rPr lang="ru-RU" dirty="0"/>
              <a:t> и не заметить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ru-RU" dirty="0"/>
              <a:t>.</a:t>
            </a:r>
          </a:p>
          <a:p>
            <a:r>
              <a:rPr lang="ru-RU" dirty="0"/>
              <a:t>Поэтому мы явно будим всех, чтобы они корректно завершились и не зависли.</a:t>
            </a:r>
          </a:p>
          <a:p>
            <a:endParaRPr lang="ru-RU" dirty="0"/>
          </a:p>
          <a:p>
            <a:r>
              <a:rPr lang="ru-RU" dirty="0"/>
              <a:t>В итоге эта очередь решает три задачи:</a:t>
            </a:r>
            <a:r>
              <a:rPr lang="en-US" dirty="0"/>
              <a:t> </a:t>
            </a:r>
            <a:r>
              <a:rPr lang="ru-RU" dirty="0"/>
              <a:t>передача данных между потоками, ограничение памяти и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206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обобщим идею </a:t>
            </a:r>
            <a:r>
              <a:rPr lang="ru-RU" dirty="0" err="1"/>
              <a:t>encoder</a:t>
            </a:r>
            <a:r>
              <a:rPr lang="ru-RU" dirty="0"/>
              <a:t> и </a:t>
            </a:r>
            <a:r>
              <a:rPr lang="ru-RU" dirty="0" err="1"/>
              <a:t>decoder</a:t>
            </a:r>
            <a:r>
              <a:rPr lang="ru-RU" dirty="0"/>
              <a:t> и перейдём к классу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AsyncStage</a:t>
            </a:r>
            <a:r>
              <a:rPr lang="ru-RU" dirty="0"/>
              <a:t>.</a:t>
            </a:r>
          </a:p>
          <a:p>
            <a:r>
              <a:rPr lang="ru-RU" dirty="0"/>
              <a:t>Он </a:t>
            </a:r>
            <a:r>
              <a:rPr lang="ru-RU" dirty="0" err="1"/>
              <a:t>параметризуется</a:t>
            </a:r>
            <a:r>
              <a:rPr lang="ru-RU" dirty="0"/>
              <a:t> тремя вещами: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ru-RU" dirty="0"/>
              <a:t> — входные данные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r>
              <a:rPr lang="ru-RU" dirty="0"/>
              <a:t> — выходные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</a:t>
            </a:r>
            <a:r>
              <a:rPr lang="ru-RU" dirty="0"/>
              <a:t> — логика преобразования </a:t>
            </a:r>
          </a:p>
          <a:p>
            <a:r>
              <a:rPr lang="ru-RU" dirty="0"/>
              <a:t>Например, </a:t>
            </a:r>
            <a:r>
              <a:rPr lang="ru-RU" dirty="0" err="1"/>
              <a:t>decoder</a:t>
            </a:r>
            <a:r>
              <a:rPr lang="ru-RU" dirty="0"/>
              <a:t>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Packet → Frame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 err="1"/>
              <a:t>encoder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 → Packet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Внутри у нас две очереди: входная и выходная.</a:t>
            </a:r>
            <a:r>
              <a:rPr lang="en-US" dirty="0"/>
              <a:t> </a:t>
            </a:r>
            <a:r>
              <a:rPr lang="ru-RU" dirty="0"/>
              <a:t>Они передают данные между стадиями и реализуют </a:t>
            </a:r>
            <a:r>
              <a:rPr lang="ru-RU" dirty="0" err="1"/>
              <a:t>backpressure</a:t>
            </a:r>
            <a:r>
              <a:rPr lang="ru-RU" dirty="0"/>
              <a:t>.</a:t>
            </a:r>
          </a:p>
          <a:p>
            <a:r>
              <a:rPr lang="ru-RU" dirty="0"/>
              <a:t>Есть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</a:t>
            </a:r>
            <a:r>
              <a:rPr lang="ru-RU" dirty="0"/>
              <a:t>, который делает саму обработку,</a:t>
            </a:r>
            <a:r>
              <a:rPr lang="en-US" dirty="0"/>
              <a:t> </a:t>
            </a:r>
            <a:r>
              <a:rPr lang="ru-RU" dirty="0"/>
              <a:t>и флаг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m_inputClosed</a:t>
            </a:r>
            <a:r>
              <a:rPr lang="ru-RU" dirty="0"/>
              <a:t> для корректного завершения.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Отдельно стоит обратить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PipelineNotifier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Это механизм, который позволяет стадии “сигналить наружу”:</a:t>
            </a:r>
            <a:r>
              <a:rPr lang="en-US" dirty="0"/>
              <a:t> </a:t>
            </a:r>
            <a:r>
              <a:rPr lang="ru-RU" dirty="0"/>
              <a:t>что появились новые данные или изменилось состояние.</a:t>
            </a:r>
          </a:p>
          <a:p>
            <a:r>
              <a:rPr lang="ru-RU" dirty="0"/>
              <a:t>То есть стадии не изолированы — они взаимодействуют с </a:t>
            </a:r>
            <a:r>
              <a:rPr lang="ru-RU" dirty="0" err="1"/>
              <a:t>orchestrator’ом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который может проснуться и продолжить работу конвейера.</a:t>
            </a:r>
          </a:p>
          <a:p>
            <a:endParaRPr lang="ru-RU" dirty="0"/>
          </a:p>
          <a:p>
            <a:r>
              <a:rPr lang="ru-RU" dirty="0"/>
              <a:t>С точки зрения интерфейса всё просто: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Start()</a:t>
            </a:r>
            <a:r>
              <a:rPr lang="ru-RU" dirty="0"/>
              <a:t> — запустить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остановить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TryPush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отправить данные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CloseInput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завершит подачу входных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получить результат </a:t>
            </a:r>
          </a:p>
          <a:p>
            <a:endParaRPr lang="ru-RU" dirty="0"/>
          </a:p>
          <a:p>
            <a:r>
              <a:rPr lang="ru-RU" dirty="0"/>
              <a:t>И ключевой момент: пользователь этого класса вообще не знает, что внутри. Ни про фоновый поток, ни про работу с очередями. Снаружи это просто чёрный ящик: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 мы отделяем инфраструктуру асинхронности от логики обработки данных. И один и тот же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AsyncStage</a:t>
            </a:r>
            <a:r>
              <a:rPr lang="ru-RU" dirty="0"/>
              <a:t> можно использовать для </a:t>
            </a:r>
            <a:r>
              <a:rPr lang="ru-RU" dirty="0" err="1"/>
              <a:t>decoder</a:t>
            </a:r>
            <a:r>
              <a:rPr lang="ru-RU" dirty="0"/>
              <a:t>, </a:t>
            </a:r>
            <a:r>
              <a:rPr lang="ru-RU" dirty="0" err="1"/>
              <a:t>encoder</a:t>
            </a:r>
            <a:r>
              <a:rPr lang="ru-RU" dirty="0"/>
              <a:t> и (теоретически) для других стадий конвейера, например, обработки фреймов.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690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рабочий цикл стадии. Поток в бесконечном цикле забирает данные из входной очереди: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m_inputQueue.PopAllOrWait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stopToken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Здесь мы забираем </a:t>
            </a:r>
            <a:r>
              <a:rPr lang="ru-RU" b="1" dirty="0"/>
              <a:t>сразу всю пачку</a:t>
            </a:r>
            <a:r>
              <a:rPr lang="ru-RU" dirty="0"/>
              <a:t>, а не по одному элементу. Это позволяет снизить количество блокировок на </a:t>
            </a:r>
            <a:r>
              <a:rPr lang="ru-RU" dirty="0" err="1"/>
              <a:t>mutex</a:t>
            </a:r>
            <a:r>
              <a:rPr lang="ru-RU" dirty="0"/>
              <a:t> и уменьшить накладные расходы.</a:t>
            </a:r>
          </a:p>
          <a:p>
            <a:endParaRPr lang="ru-RU" dirty="0"/>
          </a:p>
          <a:p>
            <a:r>
              <a:rPr lang="ru-RU" dirty="0"/>
              <a:t>Сразу после этого вызывается: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m_pipelineNotifier.Notify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Это сигнал наружу: в </a:t>
            </a:r>
            <a:r>
              <a:rPr lang="ru-RU" dirty="0" err="1"/>
              <a:t>пайплайне</a:t>
            </a:r>
            <a:r>
              <a:rPr lang="ru-RU" dirty="0"/>
              <a:t> появились новые данные или изменилась ситуация.</a:t>
            </a:r>
            <a:br>
              <a:rPr lang="ru-RU" dirty="0"/>
            </a:br>
            <a:r>
              <a:rPr lang="ru-RU" dirty="0"/>
              <a:t>Внешний </a:t>
            </a:r>
            <a:r>
              <a:rPr lang="ru-RU" dirty="0" err="1"/>
              <a:t>orchestrator</a:t>
            </a:r>
            <a:r>
              <a:rPr lang="ru-RU" dirty="0"/>
              <a:t> может проснуться и, например, начать забирать результаты из следующих стадий.</a:t>
            </a:r>
          </a:p>
          <a:p>
            <a:endParaRPr lang="ru-RU" dirty="0"/>
          </a:p>
          <a:p>
            <a:r>
              <a:rPr lang="ru-RU" dirty="0"/>
              <a:t>Дальше мы просто обрабатываем элементы </a:t>
            </a:r>
            <a:r>
              <a:rPr lang="ru-RU" dirty="0" err="1"/>
              <a:t>batch’а</a:t>
            </a:r>
            <a:r>
              <a:rPr lang="ru-RU" dirty="0"/>
              <a:t> по очереди.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Если встречаем EOF — закрываем выходную очередь и завершаем поток.</a:t>
            </a:r>
          </a:p>
          <a:p>
            <a:endParaRPr lang="ru-RU" dirty="0"/>
          </a:p>
          <a:p>
            <a:r>
              <a:rPr lang="ru-RU" dirty="0"/>
              <a:t>Весь цикл обёрнут в </a:t>
            </a:r>
            <a:r>
              <a:rPr lang="ru-RU" dirty="0" err="1"/>
              <a:t>try-catch</a:t>
            </a:r>
            <a:r>
              <a:rPr lang="ru-RU" dirty="0"/>
              <a:t>. Если происходит ошибка — сохраняем исключение и переводим стадию в состояние </a:t>
            </a:r>
            <a:r>
              <a:rPr lang="ru-RU" dirty="0" err="1"/>
              <a:t>Failed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 итоге модель очень простая: забрали </a:t>
            </a:r>
            <a:r>
              <a:rPr lang="ru-RU" dirty="0" err="1"/>
              <a:t>batch</a:t>
            </a:r>
            <a:r>
              <a:rPr lang="ru-RU" dirty="0"/>
              <a:t> → уведомили → обработали → повторили</a:t>
            </a:r>
          </a:p>
          <a:p>
            <a:r>
              <a:rPr lang="ru-RU" dirty="0"/>
              <a:t>Но за счёт </a:t>
            </a:r>
            <a:r>
              <a:rPr lang="ru-RU" dirty="0" err="1"/>
              <a:t>batching</a:t>
            </a:r>
            <a:r>
              <a:rPr lang="ru-RU" dirty="0"/>
              <a:t> и уведомлений мы снижаем накладные расходы, и вовремя пробуждаем оркестратор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524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 теперь то, ради чего всё это делалось.</a:t>
            </a:r>
            <a:r>
              <a:rPr lang="en-US" dirty="0"/>
              <a:t> </a:t>
            </a:r>
            <a:r>
              <a:rPr lang="ru-RU" dirty="0"/>
              <a:t>Универсальная логика обработки.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ProcessInput</a:t>
            </a:r>
            <a:r>
              <a:rPr lang="ru-RU" dirty="0"/>
              <a:t> реализует классическую модель FFmpeg: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</a:t>
            </a:r>
            <a:r>
              <a:rPr lang="ru-RU" dirty="0"/>
              <a:t>.</a:t>
            </a:r>
          </a:p>
          <a:p>
            <a:r>
              <a:rPr lang="ru-RU" dirty="0"/>
              <a:t>Мы отправляем входные данные в </a:t>
            </a:r>
            <a:r>
              <a:rPr lang="ru-RU" dirty="0" err="1"/>
              <a:t>processor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m_processor.Send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Если </a:t>
            </a:r>
            <a:r>
              <a:rPr lang="ru-RU" dirty="0" err="1"/>
              <a:t>processor</a:t>
            </a:r>
            <a:r>
              <a:rPr lang="ru-RU" dirty="0"/>
              <a:t> не готов принять данные, он говорит: “сначала забери результаты”. </a:t>
            </a:r>
          </a:p>
          <a:p>
            <a:r>
              <a:rPr lang="ru-RU" dirty="0"/>
              <a:t>И тогда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DrainProcessor</a:t>
            </a:r>
            <a:r>
              <a:rPr lang="ru-RU" dirty="0"/>
              <a:t>.</a:t>
            </a:r>
          </a:p>
          <a:p>
            <a:r>
              <a:rPr lang="ru-RU" dirty="0"/>
              <a:t>После успешной отправки — ещё раз делаем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</a:t>
            </a:r>
            <a:r>
              <a:rPr lang="ru-RU" dirty="0"/>
              <a:t>, потому что один вход может породить несколько выходов.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DrainProcessor</a:t>
            </a:r>
            <a:r>
              <a:rPr lang="ru-RU" dirty="0"/>
              <a:t> мы в цикле получаем готовые результаты: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m_processor.Receive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</a:t>
            </a:r>
            <a:r>
              <a:rPr lang="ru-RU" dirty="0"/>
              <a:t>И складываем их в выходную очередь.</a:t>
            </a:r>
          </a:p>
          <a:p>
            <a:r>
              <a:rPr lang="ru-RU" dirty="0"/>
              <a:t>Здесь снова важный момент: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PushOrWait</a:t>
            </a:r>
            <a:r>
              <a:rPr lang="ru-RU" dirty="0"/>
              <a:t>, то есть если очередь заполнена — будем ждать.</a:t>
            </a:r>
          </a:p>
          <a:p>
            <a:endParaRPr lang="ru-RU" dirty="0"/>
          </a:p>
          <a:p>
            <a:r>
              <a:rPr lang="ru-RU" dirty="0"/>
              <a:t>Это и есть </a:t>
            </a:r>
            <a:r>
              <a:rPr lang="ru-RU" dirty="0" err="1"/>
              <a:t>backpressure</a:t>
            </a:r>
            <a:r>
              <a:rPr lang="ru-RU" dirty="0"/>
              <a:t>: медленная стадия автоматически тормозит быструю.</a:t>
            </a:r>
          </a:p>
          <a:p>
            <a:r>
              <a:rPr lang="ru-RU" dirty="0"/>
              <a:t>После каждого результата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PipelineNotifier</a:t>
            </a:r>
            <a:r>
              <a:rPr lang="ru-RU" dirty="0"/>
              <a:t>, чтобы разбудить внешний </a:t>
            </a:r>
            <a:r>
              <a:rPr lang="ru-RU" dirty="0" err="1"/>
              <a:t>orchestrator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CloseOutput</a:t>
            </a:r>
            <a:r>
              <a:rPr lang="ru-RU" dirty="0"/>
              <a:t> завершает стадию: мы меняем состояние, закрываем очередь и снова уведомляем систему.</a:t>
            </a:r>
          </a:p>
          <a:p>
            <a:endParaRPr lang="ru-RU" dirty="0"/>
          </a:p>
          <a:p>
            <a:r>
              <a:rPr lang="ru-RU" dirty="0"/>
              <a:t>И теперь главный вывод. Вся эта логика — полностью универсальна. Она не зависит от того, что именно мы обрабатываем.</a:t>
            </a:r>
            <a:endParaRPr lang="en-US" dirty="0"/>
          </a:p>
          <a:p>
            <a:r>
              <a:rPr lang="ru-RU" dirty="0"/>
              <a:t>Таким образом </a:t>
            </a:r>
            <a:r>
              <a:rPr lang="ru-RU"/>
              <a:t>получилось описать и асинхронный декодер, </a:t>
            </a:r>
            <a:r>
              <a:rPr lang="ru-RU" dirty="0"/>
              <a:t>и асинхронный энкодер через шаблон </a:t>
            </a:r>
            <a:r>
              <a:rPr lang="en-US" dirty="0" err="1"/>
              <a:t>AsyncStage</a:t>
            </a:r>
            <a:r>
              <a:rPr lang="en-US" dirty="0"/>
              <a:t>. </a:t>
            </a:r>
            <a:r>
              <a:rPr lang="en-US" dirty="0" err="1"/>
              <a:t>AsyncEncoder</a:t>
            </a:r>
            <a:r>
              <a:rPr lang="en-US" dirty="0"/>
              <a:t> – </a:t>
            </a:r>
            <a:r>
              <a:rPr lang="ru-RU" dirty="0"/>
              <a:t>это стадия </a:t>
            </a:r>
            <a:r>
              <a:rPr lang="ru-RU" dirty="0" err="1"/>
              <a:t>пайплайна</a:t>
            </a:r>
            <a:r>
              <a:rPr lang="ru-RU" dirty="0"/>
              <a:t>, которая при помощи </a:t>
            </a:r>
            <a:r>
              <a:rPr lang="en-US" dirty="0"/>
              <a:t>Encoder</a:t>
            </a:r>
            <a:r>
              <a:rPr lang="ru-RU" dirty="0"/>
              <a:t> преобразовывает фреймы в пакеты, а асинхронный декодер при помощи декодера распаковывает пакеты и получает фреймы.</a:t>
            </a:r>
            <a:endParaRPr lang="en-US" dirty="0"/>
          </a:p>
          <a:p>
            <a:r>
              <a:rPr lang="ru-RU" dirty="0"/>
              <a:t>Мы убрали дублирование и получили единый, переиспользуемый </a:t>
            </a:r>
            <a:r>
              <a:rPr lang="ru-RU" dirty="0" err="1"/>
              <a:t>pipeline</a:t>
            </a:r>
            <a:r>
              <a:rPr lang="ru-RU" dirty="0"/>
              <a:t> </a:t>
            </a:r>
            <a:r>
              <a:rPr lang="ru-RU" dirty="0" err="1"/>
              <a:t>stage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294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посмотрим, как устроено взаимодействие стадий с внешним </a:t>
            </a:r>
            <a:r>
              <a:rPr lang="ru-RU" dirty="0" err="1"/>
              <a:t>orchestrator’ом</a:t>
            </a:r>
            <a:r>
              <a:rPr lang="ru-RU" dirty="0"/>
              <a:t>. Для этого у нас есть простой компонент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PipelineNotifier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Идея здесь следующая. Стадии работают в своих потоках, а снаружи есть код, который координирует </a:t>
            </a:r>
            <a:r>
              <a:rPr lang="ru-RU" dirty="0" err="1"/>
              <a:t>pipeline</a:t>
            </a:r>
            <a:r>
              <a:rPr lang="ru-RU" dirty="0"/>
              <a:t> — например, читает результаты</a:t>
            </a:r>
            <a:r>
              <a:rPr lang="en-US" dirty="0"/>
              <a:t> </a:t>
            </a:r>
            <a:r>
              <a:rPr lang="ru-RU" dirty="0"/>
              <a:t>и передаёт их между стадиями.</a:t>
            </a:r>
          </a:p>
          <a:p>
            <a:r>
              <a:rPr lang="ru-RU" dirty="0"/>
              <a:t>Нам нужно уметь сказать этому коду: “что-то изменилось — проснись и проверь”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Для этого используется счётчик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</a:t>
            </a:r>
            <a:r>
              <a:rPr lang="ru-RU" dirty="0"/>
              <a:t>. Каждый раз, когда в </a:t>
            </a:r>
            <a:r>
              <a:rPr lang="ru-RU" dirty="0" err="1"/>
              <a:t>пайплайне</a:t>
            </a:r>
            <a:r>
              <a:rPr lang="ru-RU" dirty="0"/>
              <a:t> что-то происходит — появились новые данные, закрылась очередь, изменилась стадия —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Он увеличивает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</a:t>
            </a:r>
            <a:r>
              <a:rPr lang="ru-RU" dirty="0"/>
              <a:t> и будит один ожидающий поток.</a:t>
            </a:r>
          </a:p>
          <a:p>
            <a:endParaRPr lang="ru-RU" dirty="0"/>
          </a:p>
          <a:p>
            <a:r>
              <a:rPr lang="ru-RU" dirty="0"/>
              <a:t>С другой стороны, </a:t>
            </a:r>
            <a:r>
              <a:rPr lang="ru-RU" dirty="0" err="1"/>
              <a:t>orchestrator</a:t>
            </a:r>
            <a:r>
              <a:rPr lang="ru-RU" dirty="0"/>
              <a:t> запоминает текущее значение </a:t>
            </a:r>
            <a:r>
              <a:rPr lang="en-US" dirty="0"/>
              <a:t>epoch</a:t>
            </a:r>
            <a:r>
              <a:rPr lang="ru-RU" dirty="0"/>
              <a:t>, а потом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Он засыпает и ждёт, пока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</a:t>
            </a:r>
            <a:r>
              <a:rPr lang="ru-RU" dirty="0"/>
              <a:t> изменится. Как только кто-то вызвал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значение меняется — и ожидание завершается.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Почему не просто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? Потому что здесь важно не “событие”, а </a:t>
            </a:r>
            <a:r>
              <a:rPr lang="ru-RU" b="1" dirty="0"/>
              <a:t>факт изменения состояния</a:t>
            </a:r>
            <a:r>
              <a:rPr lang="ru-RU" dirty="0"/>
              <a:t>. Даже если уведомление пришло раньше, чем мы начали ждать,</a:t>
            </a:r>
            <a:br>
              <a:rPr lang="ru-RU" dirty="0"/>
            </a:br>
            <a:r>
              <a:rPr lang="ru-RU" dirty="0"/>
              <a:t>мы это не пропустим —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</a:t>
            </a:r>
            <a:r>
              <a:rPr lang="ru-RU" dirty="0"/>
              <a:t> уже изменился.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То есть это такой лёгкий механизм: “что-то поменялось — проверь ещё раз”</a:t>
            </a:r>
          </a:p>
          <a:p>
            <a:endParaRPr lang="ru-RU" dirty="0"/>
          </a:p>
          <a:p>
            <a:r>
              <a:rPr lang="ru-RU" dirty="0"/>
              <a:t>Он не передаёт данные и не гарантирует точное событие, но отлично подходит для координации стадий </a:t>
            </a:r>
            <a:r>
              <a:rPr lang="ru-RU" dirty="0" err="1"/>
              <a:t>pipeline</a:t>
            </a:r>
            <a:r>
              <a:rPr lang="ru-RU" dirty="0"/>
              <a:t> без </a:t>
            </a:r>
            <a:r>
              <a:rPr lang="ru-RU" dirty="0" err="1"/>
              <a:t>busy</a:t>
            </a:r>
            <a:r>
              <a:rPr lang="ru-RU" dirty="0"/>
              <a:t> </a:t>
            </a:r>
            <a:r>
              <a:rPr lang="ru-RU" dirty="0" err="1"/>
              <a:t>loop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082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что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AsyncTranscoder</a:t>
            </a:r>
            <a:r>
              <a:rPr lang="ru-RU" dirty="0"/>
              <a:t>. Как и синхронный </a:t>
            </a:r>
            <a:r>
              <a:rPr lang="en-US" dirty="0"/>
              <a:t>Transcoder, </a:t>
            </a:r>
            <a:r>
              <a:rPr lang="ru-RU" dirty="0"/>
              <a:t>это </a:t>
            </a:r>
            <a:r>
              <a:rPr lang="ru-RU" dirty="0" err="1"/>
              <a:t>orchestrator</a:t>
            </a:r>
            <a:r>
              <a:rPr lang="ru-RU" dirty="0"/>
              <a:t>, который связывает все стадии </a:t>
            </a:r>
            <a:r>
              <a:rPr lang="ru-RU" dirty="0" err="1"/>
              <a:t>pipeline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нас есть две ветки конвейера — видео и аудио.</a:t>
            </a:r>
            <a:r>
              <a:rPr lang="en-US" dirty="0"/>
              <a:t> </a:t>
            </a:r>
            <a:r>
              <a:rPr lang="ru-RU" dirty="0"/>
              <a:t>Обе представлены одинаковой структурой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Branch</a:t>
            </a:r>
            <a:r>
              <a:rPr lang="ru-RU" dirty="0"/>
              <a:t>.</a:t>
            </a:r>
          </a:p>
          <a:p>
            <a:r>
              <a:rPr lang="ru-RU" dirty="0"/>
              <a:t>Внутри каждой ветки: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decoder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dirty="0"/>
              <a:t> информация о потоке и набор флагов состояния: закрыт ли вход, получен ли EOF </a:t>
            </a:r>
          </a:p>
          <a:p>
            <a:endParaRPr lang="ru-RU" dirty="0"/>
          </a:p>
          <a:p>
            <a:r>
              <a:rPr lang="ru-RU" dirty="0"/>
              <a:t>Отдельно обратите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pendingPacket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pendingFrame</a:t>
            </a:r>
            <a:r>
              <a:rPr lang="ru-RU" dirty="0"/>
              <a:t>. Они нужны,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TryPush</a:t>
            </a:r>
            <a:r>
              <a:rPr lang="ru-RU" dirty="0"/>
              <a:t> может не принять данные, например, если очередь заполнена.</a:t>
            </a:r>
          </a:p>
          <a:p>
            <a:r>
              <a:rPr lang="ru-RU" dirty="0"/>
              <a:t>В этом случае мы </a:t>
            </a:r>
            <a:r>
              <a:rPr lang="ru-RU" b="0" dirty="0"/>
              <a:t>не должны потерять пакет или фрейм</a:t>
            </a:r>
            <a:r>
              <a:rPr lang="ru-RU" dirty="0"/>
              <a:t>, поэтому временно сохраняем его, чтобы попробовать отправить позже.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Также у нас есть: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Demuxer</a:t>
            </a:r>
            <a:r>
              <a:rPr lang="ru-RU" dirty="0"/>
              <a:t> — источник данных,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Muxer</a:t>
            </a:r>
            <a:r>
              <a:rPr lang="ru-RU" dirty="0"/>
              <a:t> — приёмник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PipelineNotifier</a:t>
            </a:r>
            <a:r>
              <a:rPr lang="ru-RU" dirty="0"/>
              <a:t> — для координации снаружи. Флаг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m_demuxEof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сигнализирует, что вход закончился.</a:t>
            </a:r>
          </a:p>
          <a:p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AsyncTranscoder</a:t>
            </a:r>
            <a:r>
              <a:rPr lang="ru-RU" dirty="0"/>
              <a:t> хранит состояние всех стадий и управляет движением данных между ними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8121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Внутри цикла выполняются четыре фазы.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Первая фаза — забираем готовые </a:t>
            </a:r>
            <a:r>
              <a:rPr lang="ru-RU" dirty="0" err="1"/>
              <a:t>packet</a:t>
            </a:r>
            <a:r>
              <a:rPr lang="ru-RU" dirty="0"/>
              <a:t>-ы из </a:t>
            </a:r>
            <a:r>
              <a:rPr lang="ru-RU" dirty="0" err="1"/>
              <a:t>encoder-ов</a:t>
            </a:r>
            <a:r>
              <a:rPr lang="ru-RU" dirty="0"/>
              <a:t> и записываем их в </a:t>
            </a:r>
            <a:r>
              <a:rPr lang="ru-RU" dirty="0" err="1"/>
              <a:t>muxer</a:t>
            </a:r>
            <a:r>
              <a:rPr lang="ru-RU" dirty="0"/>
              <a:t>.</a:t>
            </a:r>
          </a:p>
          <a:p>
            <a:r>
              <a:rPr lang="ru-RU" dirty="0" err="1"/>
              <a:t>Encoder</a:t>
            </a:r>
            <a:r>
              <a:rPr lang="ru-RU" dirty="0"/>
              <a:t>-ы работают независимо в своих потоках и складывают результат в выходную очередь.</a:t>
            </a:r>
            <a:br>
              <a:rPr lang="ru-RU" dirty="0"/>
            </a:br>
            <a:r>
              <a:rPr lang="ru-RU" dirty="0"/>
              <a:t>Главный поток неблокирующим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забирает </a:t>
            </a:r>
            <a:r>
              <a:rPr lang="ru-RU" dirty="0" err="1"/>
              <a:t>packet</a:t>
            </a:r>
            <a:r>
              <a:rPr lang="ru-RU" dirty="0"/>
              <a:t>-ы и пишет их в выходной файл.</a:t>
            </a:r>
          </a:p>
          <a:p>
            <a:r>
              <a:rPr lang="ru-RU" dirty="0"/>
              <a:t>Когда </a:t>
            </a:r>
            <a:r>
              <a:rPr lang="ru-RU" dirty="0" err="1"/>
              <a:t>encoder</a:t>
            </a:r>
            <a:r>
              <a:rPr lang="ru-RU" dirty="0"/>
              <a:t> завершает работу, он отправляет EOF, и транскодер понимает, что соответствующая ветка конвейера завершена.</a:t>
            </a:r>
          </a:p>
          <a:p>
            <a:endParaRPr lang="ru-RU" dirty="0"/>
          </a:p>
          <a:p>
            <a:r>
              <a:rPr lang="ru-RU" dirty="0"/>
              <a:t>Вторая фаза — забираем готовые </a:t>
            </a:r>
            <a:r>
              <a:rPr lang="ru-RU" dirty="0" err="1"/>
              <a:t>frame</a:t>
            </a:r>
            <a:r>
              <a:rPr lang="ru-RU" dirty="0"/>
              <a:t>-ы из </a:t>
            </a:r>
            <a:r>
              <a:rPr lang="ru-RU" dirty="0" err="1"/>
              <a:t>decoder-ов</a:t>
            </a:r>
            <a:r>
              <a:rPr lang="ru-RU" dirty="0"/>
              <a:t> и отправляем их в </a:t>
            </a:r>
            <a:r>
              <a:rPr lang="ru-RU" dirty="0" err="1"/>
              <a:t>encoder</a:t>
            </a:r>
            <a:r>
              <a:rPr lang="ru-RU" dirty="0"/>
              <a:t>-ы.</a:t>
            </a:r>
          </a:p>
          <a:p>
            <a:r>
              <a:rPr lang="ru-RU" dirty="0"/>
              <a:t>Перед отправкой здесь же выполняется дополнительная обработка.</a:t>
            </a:r>
            <a:br>
              <a:rPr lang="ru-RU" dirty="0"/>
            </a:br>
            <a:r>
              <a:rPr lang="ru-RU" dirty="0"/>
              <a:t>Например, для видео я выставляю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PTS</a:t>
            </a:r>
            <a:r>
              <a:rPr lang="ru-RU" dirty="0"/>
              <a:t> и сбрасываю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pict_type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внимание, что взаимодействие полностью неблокирующее.</a:t>
            </a:r>
            <a:br>
              <a:rPr lang="ru-RU" dirty="0"/>
            </a:br>
            <a:r>
              <a:rPr lang="ru-RU" dirty="0"/>
              <a:t>Если </a:t>
            </a:r>
            <a:r>
              <a:rPr lang="ru-RU" dirty="0" err="1"/>
              <a:t>encoder</a:t>
            </a:r>
            <a:r>
              <a:rPr lang="ru-RU" dirty="0"/>
              <a:t> временно не успевает принимать новые </a:t>
            </a:r>
            <a:r>
              <a:rPr lang="ru-RU" dirty="0" err="1"/>
              <a:t>frame</a:t>
            </a:r>
            <a:r>
              <a:rPr lang="ru-RU" dirty="0"/>
              <a:t>-ы,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TryPush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ru-RU" dirty="0"/>
              <a:t>.</a:t>
            </a:r>
          </a:p>
          <a:p>
            <a:r>
              <a:rPr lang="ru-RU" dirty="0"/>
              <a:t>В этом случае </a:t>
            </a:r>
            <a:r>
              <a:rPr lang="ru-RU" dirty="0" err="1"/>
              <a:t>frame</a:t>
            </a:r>
            <a:r>
              <a:rPr lang="ru-RU" dirty="0"/>
              <a:t> сохраняется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pendingFrame</a:t>
            </a:r>
            <a:r>
              <a:rPr lang="ru-RU" dirty="0"/>
              <a:t>, и транскодер попробует отправить его позже.</a:t>
            </a:r>
          </a:p>
          <a:p>
            <a:r>
              <a:rPr lang="ru-RU" dirty="0"/>
              <a:t>То есть </a:t>
            </a:r>
            <a:r>
              <a:rPr lang="ru-RU" dirty="0" err="1"/>
              <a:t>backpressure</a:t>
            </a:r>
            <a:r>
              <a:rPr lang="ru-RU" dirty="0"/>
              <a:t> автоматически распространяется через весь </a:t>
            </a:r>
            <a:r>
              <a:rPr lang="ru-RU" dirty="0" err="1"/>
              <a:t>pipeline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Третья фаза — читаем </a:t>
            </a:r>
            <a:r>
              <a:rPr lang="ru-RU" dirty="0" err="1"/>
              <a:t>packet</a:t>
            </a:r>
            <a:r>
              <a:rPr lang="ru-RU" dirty="0"/>
              <a:t>-ы из </a:t>
            </a:r>
            <a:r>
              <a:rPr lang="ru-RU" dirty="0" err="1"/>
              <a:t>demuxer</a:t>
            </a:r>
            <a:r>
              <a:rPr lang="ru-RU" dirty="0"/>
              <a:t>-а и отправляем их в нужный </a:t>
            </a:r>
            <a:r>
              <a:rPr lang="ru-RU" dirty="0" err="1"/>
              <a:t>decoder</a:t>
            </a:r>
            <a:r>
              <a:rPr lang="ru-RU" dirty="0"/>
              <a:t>.</a:t>
            </a:r>
          </a:p>
          <a:p>
            <a:r>
              <a:rPr lang="ru-RU" dirty="0"/>
              <a:t>Здесь используется такая же схема.</a:t>
            </a:r>
            <a:br>
              <a:rPr lang="ru-RU" dirty="0"/>
            </a:br>
            <a:r>
              <a:rPr lang="ru-RU" dirty="0"/>
              <a:t>Если </a:t>
            </a:r>
            <a:r>
              <a:rPr lang="ru-RU" dirty="0" err="1"/>
              <a:t>decoder</a:t>
            </a:r>
            <a:r>
              <a:rPr lang="ru-RU" dirty="0"/>
              <a:t> не может принять пакет, то пакет временно сохраняется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pendingPacket</a:t>
            </a:r>
            <a:r>
              <a:rPr lang="ru-RU" dirty="0"/>
              <a:t>.</a:t>
            </a:r>
          </a:p>
          <a:p>
            <a:r>
              <a:rPr lang="ru-RU" dirty="0"/>
              <a:t>Когда </a:t>
            </a:r>
            <a:r>
              <a:rPr lang="ru-RU" dirty="0" err="1"/>
              <a:t>demuxer</a:t>
            </a:r>
            <a:r>
              <a:rPr lang="ru-RU" dirty="0"/>
              <a:t> доходит до конца файла, транскодер закрывает входные очереди </a:t>
            </a:r>
            <a:r>
              <a:rPr lang="ru-RU" dirty="0" err="1"/>
              <a:t>decoder-ов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После этого </a:t>
            </a:r>
            <a:r>
              <a:rPr lang="ru-RU" dirty="0" err="1"/>
              <a:t>decoder</a:t>
            </a:r>
            <a:r>
              <a:rPr lang="ru-RU" dirty="0"/>
              <a:t>-ы делают </a:t>
            </a:r>
            <a:r>
              <a:rPr lang="ru-RU" dirty="0" err="1"/>
              <a:t>flush</a:t>
            </a:r>
            <a:r>
              <a:rPr lang="ru-RU" dirty="0"/>
              <a:t>, отправляют EOF дальше по </a:t>
            </a:r>
            <a:r>
              <a:rPr lang="ru-RU" dirty="0" err="1"/>
              <a:t>pipeline</a:t>
            </a:r>
            <a:r>
              <a:rPr lang="ru-RU" dirty="0"/>
              <a:t>, и </a:t>
            </a:r>
            <a:r>
              <a:rPr lang="ru-RU" dirty="0" err="1"/>
              <a:t>encoder</a:t>
            </a:r>
            <a:r>
              <a:rPr lang="ru-RU" dirty="0"/>
              <a:t>-ы постепенно завершают работу.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последняя фаза — ожидание.</a:t>
            </a:r>
          </a:p>
          <a:p>
            <a:r>
              <a:rPr lang="ru-RU" dirty="0"/>
              <a:t>Если ни на одном этапе не произошло прогресса, главный поток вызывает: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Это легковесный механизм уведомлений.</a:t>
            </a:r>
          </a:p>
          <a:p>
            <a:br>
              <a:rPr lang="ru-RU" dirty="0"/>
            </a:br>
            <a:r>
              <a:rPr lang="ru-RU" dirty="0"/>
              <a:t>Рабочие потоки будят </a:t>
            </a:r>
            <a:r>
              <a:rPr lang="ru-RU" dirty="0" err="1"/>
              <a:t>orchestrator</a:t>
            </a:r>
            <a:r>
              <a:rPr lang="ru-RU" dirty="0"/>
              <a:t> только тогда, когда появляется новая работа.</a:t>
            </a:r>
          </a:p>
          <a:p>
            <a:r>
              <a:rPr lang="ru-RU" dirty="0"/>
              <a:t>Получается такой кооперативный </a:t>
            </a:r>
            <a:r>
              <a:rPr lang="ru-RU" dirty="0" err="1"/>
              <a:t>scheduler</a:t>
            </a:r>
            <a:r>
              <a:rPr lang="ru-RU" dirty="0"/>
              <a:t>: главный поток сам ничего тяжелого не вычисляет, а только координирует движение данных между асинхронными стадиями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99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Вот как выглядит этот цикл в коде:</a:t>
            </a:r>
          </a:p>
          <a:p>
            <a:endParaRPr lang="ru-RU" b="0" dirty="0"/>
          </a:p>
          <a:p>
            <a:r>
              <a:rPr lang="ru-RU" b="0" dirty="0"/>
              <a:t>Мы пытаемся “продвинуть” </a:t>
            </a:r>
            <a:r>
              <a:rPr lang="ru-RU" b="0" dirty="0" err="1"/>
              <a:t>pipeline</a:t>
            </a:r>
            <a:r>
              <a:rPr lang="ru-RU" b="0" dirty="0"/>
              <a:t> во всех возможных местах.</a:t>
            </a:r>
          </a:p>
          <a:p>
            <a:r>
              <a:rPr lang="ru-RU" b="0" dirty="0"/>
              <a:t>Сначала вычитываем готовые данные из </a:t>
            </a:r>
            <a:r>
              <a:rPr lang="ru-RU" b="0" dirty="0" err="1"/>
              <a:t>encoder-ов</a:t>
            </a:r>
            <a:r>
              <a:rPr lang="ru-RU" b="0" dirty="0"/>
              <a:t> — это финальный результат.</a:t>
            </a:r>
          </a:p>
          <a:p>
            <a:r>
              <a:rPr lang="ru-RU" b="0" dirty="0"/>
              <a:t>Дальше читаем данные из </a:t>
            </a:r>
            <a:r>
              <a:rPr lang="ru-RU" b="0" dirty="0" err="1"/>
              <a:t>decoder-ов</a:t>
            </a:r>
            <a:r>
              <a:rPr lang="ru-RU" b="0" dirty="0"/>
              <a:t> и передаём их в </a:t>
            </a:r>
            <a:r>
              <a:rPr lang="ru-RU" b="0" dirty="0" err="1"/>
              <a:t>encoder</a:t>
            </a:r>
            <a:r>
              <a:rPr lang="ru-RU" b="0" dirty="0"/>
              <a:t>.</a:t>
            </a:r>
          </a:p>
          <a:p>
            <a:r>
              <a:rPr lang="ru-RU" b="0" dirty="0"/>
              <a:t>И в конце — подаём новые пакеты из </a:t>
            </a:r>
            <a:r>
              <a:rPr lang="ru-RU" b="0" dirty="0" err="1"/>
              <a:t>demuxer</a:t>
            </a:r>
            <a:r>
              <a:rPr lang="ru-RU" b="0" dirty="0"/>
              <a:t>-а.</a:t>
            </a:r>
            <a:br>
              <a:rPr lang="ru-RU" b="0" dirty="0"/>
            </a:br>
            <a:endParaRPr lang="ru-RU" b="0" dirty="0"/>
          </a:p>
          <a:p>
            <a:r>
              <a:rPr lang="ru-RU" b="0" dirty="0"/>
              <a:t>Обратите внимание на порядок. Мы начинаем не с </a:t>
            </a:r>
            <a:r>
              <a:rPr lang="ru-RU" b="0" dirty="0" err="1"/>
              <a:t>demuxer</a:t>
            </a:r>
            <a:r>
              <a:rPr lang="ru-RU" b="0" dirty="0"/>
              <a:t>-а, а с конца </a:t>
            </a:r>
            <a:r>
              <a:rPr lang="ru-RU" b="0" dirty="0" err="1"/>
              <a:t>pipeline</a:t>
            </a:r>
            <a:r>
              <a:rPr lang="ru-RU" b="0" dirty="0"/>
              <a:t> — с </a:t>
            </a:r>
            <a:r>
              <a:rPr lang="ru-RU" b="0" dirty="0" err="1"/>
              <a:t>encoder-ов</a:t>
            </a:r>
            <a:r>
              <a:rPr lang="ru-RU" b="0" dirty="0"/>
              <a:t>. Почему так?</a:t>
            </a:r>
            <a:r>
              <a:rPr lang="en-US" b="0" dirty="0"/>
              <a:t> </a:t>
            </a:r>
            <a:r>
              <a:rPr lang="ru-RU" b="0" dirty="0"/>
              <a:t>Потому что конечные стадии освобождают ресурсы.</a:t>
            </a:r>
          </a:p>
          <a:p>
            <a:endParaRPr lang="ru-RU" b="0" dirty="0"/>
          </a:p>
          <a:p>
            <a:r>
              <a:rPr lang="ru-RU" b="0" dirty="0"/>
              <a:t>Если </a:t>
            </a:r>
            <a:r>
              <a:rPr lang="ru-RU" b="0" dirty="0" err="1"/>
              <a:t>encoder</a:t>
            </a:r>
            <a:r>
              <a:rPr lang="ru-RU" b="0" dirty="0"/>
              <a:t> не прочитан до конца, его очередь может заполниться, он перестанет принимать данные, и весь </a:t>
            </a:r>
            <a:r>
              <a:rPr lang="ru-RU" b="0" dirty="0" err="1"/>
              <a:t>pipeline</a:t>
            </a:r>
            <a:r>
              <a:rPr lang="ru-RU" b="0" dirty="0"/>
              <a:t> начнёт блокироваться.</a:t>
            </a:r>
          </a:p>
          <a:p>
            <a:r>
              <a:rPr lang="ru-RU" b="0" dirty="0"/>
              <a:t>Поэтому мы сначала “разгребаем хвост”, а уже потом подаём новые данные.</a:t>
            </a:r>
            <a:br>
              <a:rPr lang="ru-RU" b="0" dirty="0"/>
            </a:br>
            <a:endParaRPr lang="ru-RU" b="0" dirty="0"/>
          </a:p>
          <a:p>
            <a:r>
              <a:rPr lang="ru-RU" b="0" dirty="0"/>
              <a:t>Каждая операция возвращает, был ли сделан прогресс. Если ни одна стадия не смогла ничего сделать — значит </a:t>
            </a:r>
            <a:r>
              <a:rPr lang="ru-RU" b="0" dirty="0" err="1"/>
              <a:t>pipeline</a:t>
            </a:r>
            <a:r>
              <a:rPr lang="ru-RU" b="0" dirty="0"/>
              <a:t> временно “застыл”.</a:t>
            </a:r>
          </a:p>
          <a:p>
            <a:endParaRPr lang="ru-RU" b="0" dirty="0"/>
          </a:p>
          <a:p>
            <a:r>
              <a:rPr lang="ru-RU" b="0" dirty="0"/>
              <a:t>В этом случае мы засыпаем на </a:t>
            </a:r>
            <a:r>
              <a:rPr lang="en-US" b="0" dirty="0" err="1"/>
              <a:t>m_pipelineNotifier.Wait</a:t>
            </a:r>
            <a:r>
              <a:rPr lang="en-US" b="0" dirty="0"/>
              <a:t>(). </a:t>
            </a:r>
            <a:r>
              <a:rPr lang="ru-RU" b="0" dirty="0"/>
              <a:t>Если между чтением </a:t>
            </a:r>
            <a:r>
              <a:rPr lang="en-US" b="0" dirty="0"/>
              <a:t>epoch </a:t>
            </a:r>
            <a:r>
              <a:rPr lang="ru-RU" b="0" dirty="0"/>
              <a:t>и вызовом </a:t>
            </a:r>
            <a:r>
              <a:rPr lang="en-US" b="0" dirty="0"/>
              <a:t>Wait</a:t>
            </a:r>
            <a:r>
              <a:rPr lang="ru-RU" b="0" dirty="0"/>
              <a:t> любая из стадий успела вызвать </a:t>
            </a:r>
            <a:r>
              <a:rPr lang="en-US" b="0" dirty="0"/>
              <a:t>Notify</a:t>
            </a:r>
            <a:r>
              <a:rPr lang="ru-RU" b="0" dirty="0"/>
              <a:t>, то </a:t>
            </a:r>
            <a:r>
              <a:rPr lang="en-US" b="0" dirty="0"/>
              <a:t>Wait </a:t>
            </a:r>
            <a:r>
              <a:rPr lang="ru-RU" b="0" dirty="0"/>
              <a:t>сразу вернёт управление.</a:t>
            </a:r>
          </a:p>
          <a:p>
            <a:r>
              <a:rPr lang="ru-RU" b="0" dirty="0"/>
              <a:t>Таким образом мы получаем:</a:t>
            </a:r>
            <a:r>
              <a:rPr lang="en-US" b="0" dirty="0"/>
              <a:t> </a:t>
            </a:r>
            <a:r>
              <a:rPr lang="ru-RU" b="0" dirty="0"/>
              <a:t>активную работу, когда есть данные</a:t>
            </a:r>
            <a:r>
              <a:rPr lang="en-US" b="0" dirty="0"/>
              <a:t> </a:t>
            </a:r>
            <a:r>
              <a:rPr lang="ru-RU" b="0" dirty="0"/>
              <a:t>и отсутствие лишней нагрузки на CPU, когда работы нет</a:t>
            </a:r>
            <a:r>
              <a:rPr lang="en-US" b="0" dirty="0"/>
              <a:t>.</a:t>
            </a:r>
            <a:endParaRPr lang="ru-RU" b="0" dirty="0"/>
          </a:p>
          <a:p>
            <a:endParaRPr lang="ru-RU" b="0" dirty="0"/>
          </a:p>
          <a:p>
            <a:r>
              <a:rPr lang="ru-RU" b="0" dirty="0"/>
              <a:t>Цикл завершается, когда обе ветки — видео и аудио — дошли до конца,</a:t>
            </a:r>
            <a:r>
              <a:rPr lang="en-US" b="0" dirty="0"/>
              <a:t> </a:t>
            </a:r>
            <a:r>
              <a:rPr lang="ru-RU" b="0" dirty="0"/>
              <a:t>то есть </a:t>
            </a:r>
            <a:r>
              <a:rPr lang="ru-RU" b="0" dirty="0" err="1"/>
              <a:t>encoder</a:t>
            </a:r>
            <a:r>
              <a:rPr lang="ru-RU" b="0" dirty="0"/>
              <a:t>-ы выдали EOF.</a:t>
            </a:r>
          </a:p>
          <a:p>
            <a:endParaRPr lang="ru-R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394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устроено дренирование </a:t>
            </a:r>
            <a:r>
              <a:rPr lang="ru-RU" dirty="0" err="1"/>
              <a:t>encoder</a:t>
            </a:r>
            <a:r>
              <a:rPr lang="ru-RU" dirty="0"/>
              <a:t>-а — финальной стадии конвейера.</a:t>
            </a:r>
          </a:p>
          <a:p>
            <a:r>
              <a:rPr lang="ru-RU" dirty="0"/>
              <a:t>Здесь логика очень простая: мы пытаемся </a:t>
            </a:r>
            <a:r>
              <a:rPr lang="ru-RU" b="1" dirty="0"/>
              <a:t>забрать всё, что </a:t>
            </a:r>
            <a:r>
              <a:rPr lang="ru-RU" b="1" dirty="0" err="1"/>
              <a:t>encoder</a:t>
            </a:r>
            <a:r>
              <a:rPr lang="ru-RU" b="1" dirty="0"/>
              <a:t> уже произвёл</a:t>
            </a:r>
            <a:r>
              <a:rPr lang="ru-RU" dirty="0"/>
              <a:t>.</a:t>
            </a:r>
          </a:p>
          <a:p>
            <a:r>
              <a:rPr lang="ru-RU" dirty="0"/>
              <a:t>В цикле вызываем: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branch.encoder.TryPop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Если данных нет — выходим. Если есть — обрабатываем.</a:t>
            </a:r>
          </a:p>
          <a:p>
            <a:endParaRPr lang="ru-RU" dirty="0"/>
          </a:p>
          <a:p>
            <a:r>
              <a:rPr lang="ru-RU" dirty="0"/>
              <a:t>Если приходит специальное значение — EOF, значит </a:t>
            </a:r>
            <a:r>
              <a:rPr lang="ru-RU" dirty="0" err="1"/>
              <a:t>encoder</a:t>
            </a:r>
            <a:r>
              <a:rPr lang="ru-RU" dirty="0"/>
              <a:t> полностью завершил работу, мы выставляем флаг</a:t>
            </a:r>
            <a:r>
              <a:rPr lang="en-US" dirty="0"/>
              <a:t> </a:t>
            </a:r>
            <a:r>
              <a:rPr lang="en-US" dirty="0" err="1"/>
              <a:t>encoderEof</a:t>
            </a:r>
            <a:r>
              <a:rPr lang="en-US" dirty="0"/>
              <a:t> = true.</a:t>
            </a:r>
            <a:endParaRPr lang="ru-RU" dirty="0"/>
          </a:p>
          <a:p>
            <a:endParaRPr lang="ru-RU" dirty="0"/>
          </a:p>
          <a:p>
            <a:r>
              <a:rPr lang="ru-RU" dirty="0"/>
              <a:t>Если это обычный пакет — отправляем его в </a:t>
            </a:r>
            <a:r>
              <a:rPr lang="ru-RU" dirty="0" err="1"/>
              <a:t>muxer</a:t>
            </a:r>
            <a:r>
              <a:rPr lang="ru-RU" dirty="0"/>
              <a:t>, то есть записываем в выходной файл.</a:t>
            </a:r>
          </a:p>
          <a:p>
            <a:endParaRPr lang="ru-RU" dirty="0"/>
          </a:p>
          <a:p>
            <a:r>
              <a:rPr lang="ru-RU" dirty="0"/>
              <a:t>Обратите внимание: мы читаем </a:t>
            </a:r>
            <a:r>
              <a:rPr lang="ru-RU" dirty="0" err="1"/>
              <a:t>encoder</a:t>
            </a:r>
            <a:r>
              <a:rPr lang="ru-RU" dirty="0"/>
              <a:t> </a:t>
            </a:r>
            <a:r>
              <a:rPr lang="ru-RU" b="1" dirty="0"/>
              <a:t>до конца</a:t>
            </a:r>
            <a:r>
              <a:rPr lang="ru-RU" dirty="0"/>
              <a:t>, пока он отдаёт данные. Это важно, потому что: освобождается выходная очередь </a:t>
            </a:r>
            <a:r>
              <a:rPr lang="ru-RU" dirty="0" err="1"/>
              <a:t>encoder</a:t>
            </a:r>
            <a:r>
              <a:rPr lang="ru-RU" dirty="0"/>
              <a:t>-а, за счёт этого он может принять новые данные  и весь конвейер продолжает двигаться </a:t>
            </a:r>
          </a:p>
          <a:p>
            <a:endParaRPr lang="ru-RU" dirty="0"/>
          </a:p>
          <a:p>
            <a:r>
              <a:rPr lang="ru-RU" dirty="0"/>
              <a:t>Именно поэтому в общем цикле мы начинаем с </a:t>
            </a:r>
            <a:r>
              <a:rPr lang="ru-RU" dirty="0" err="1"/>
              <a:t>encoder</a:t>
            </a:r>
            <a:r>
              <a:rPr lang="ru-RU" dirty="0"/>
              <a:t>-а: сначала разгружаем выход, потом двигаем данные дальше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4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дренирование декодера — здесь логика уже чуть интереснее.</a:t>
            </a:r>
          </a:p>
          <a:p>
            <a:endParaRPr lang="ru-RU" dirty="0"/>
          </a:p>
          <a:p>
            <a:r>
              <a:rPr lang="ru-RU" dirty="0"/>
              <a:t>Первое, с чего мы начинаем — это попытка протолкнуть ранее не принятый </a:t>
            </a:r>
            <a:r>
              <a:rPr lang="ru-RU" dirty="0" err="1"/>
              <a:t>frame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branch.pendingFrame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 ... }</a:t>
            </a:r>
          </a:p>
          <a:p>
            <a:r>
              <a:rPr lang="ru-RU" dirty="0"/>
              <a:t>Почему это нужно? 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TryPush</a:t>
            </a:r>
            <a:r>
              <a:rPr lang="ru-RU" dirty="0"/>
              <a:t> может не принять данные, если очередь </a:t>
            </a:r>
            <a:r>
              <a:rPr lang="ru-RU" dirty="0" err="1"/>
              <a:t>encoder</a:t>
            </a:r>
            <a:r>
              <a:rPr lang="ru-RU" dirty="0"/>
              <a:t>-а заполнена. И тогда мы обязаны сохранить </a:t>
            </a:r>
            <a:r>
              <a:rPr lang="ru-RU" dirty="0" err="1"/>
              <a:t>frame</a:t>
            </a:r>
            <a:r>
              <a:rPr lang="ru-RU" dirty="0"/>
              <a:t> и попробовать снова позже.</a:t>
            </a:r>
          </a:p>
          <a:p>
            <a:endParaRPr lang="ru-RU" dirty="0"/>
          </a:p>
          <a:p>
            <a:r>
              <a:rPr lang="ru-RU" dirty="0"/>
              <a:t>Дальше идёт основной цикл: читаем </a:t>
            </a:r>
            <a:r>
              <a:rPr lang="ru-RU" dirty="0" err="1"/>
              <a:t>frames</a:t>
            </a:r>
            <a:r>
              <a:rPr lang="ru-RU" dirty="0"/>
              <a:t> из </a:t>
            </a:r>
            <a:r>
              <a:rPr lang="ru-RU" dirty="0" err="1"/>
              <a:t>decoder</a:t>
            </a:r>
            <a:r>
              <a:rPr lang="ru-RU" dirty="0"/>
              <a:t>-а. Если данных нет — выходим. Если есть — обрабатываем.</a:t>
            </a:r>
          </a:p>
          <a:p>
            <a:endParaRPr lang="ru-RU" dirty="0"/>
          </a:p>
          <a:p>
            <a:r>
              <a:rPr lang="ru-RU" dirty="0"/>
              <a:t>Если приходит EOF — значит </a:t>
            </a:r>
            <a:r>
              <a:rPr lang="ru-RU" dirty="0" err="1"/>
              <a:t>decoder</a:t>
            </a:r>
            <a:r>
              <a:rPr lang="ru-RU" dirty="0"/>
              <a:t> завершился. Мы фиксируем это и закрываем вход </a:t>
            </a:r>
            <a:r>
              <a:rPr lang="ru-RU" dirty="0" err="1"/>
              <a:t>encoder</a:t>
            </a:r>
            <a:r>
              <a:rPr lang="ru-RU" dirty="0"/>
              <a:t>-а. Это важно: мы явно сигналим следующей стадии, что входных данных больше не будет.</a:t>
            </a:r>
          </a:p>
          <a:p>
            <a:endParaRPr lang="ru-RU" dirty="0"/>
          </a:p>
          <a:p>
            <a:r>
              <a:rPr lang="ru-RU" dirty="0"/>
              <a:t>Если это обычный </a:t>
            </a:r>
            <a:r>
              <a:rPr lang="ru-RU" dirty="0" err="1"/>
              <a:t>frame</a:t>
            </a:r>
            <a:r>
              <a:rPr lang="ru-RU" dirty="0"/>
              <a:t>: сначала применяем обработку (например, выставляем PTS),  затем пытаемся отправить его в </a:t>
            </a:r>
            <a:r>
              <a:rPr lang="ru-RU" dirty="0" err="1"/>
              <a:t>encoder</a:t>
            </a:r>
            <a:r>
              <a:rPr lang="ru-RU" dirty="0"/>
              <a:t> </a:t>
            </a:r>
          </a:p>
          <a:p>
            <a:r>
              <a:rPr lang="ru-RU" dirty="0"/>
              <a:t>И вот здесь снова </a:t>
            </a:r>
            <a:r>
              <a:rPr lang="ru-RU" dirty="0" err="1"/>
              <a:t>backpressure</a:t>
            </a:r>
            <a:r>
              <a:rPr lang="ru-RU" dirty="0"/>
              <a:t>: если </a:t>
            </a:r>
            <a:r>
              <a:rPr lang="ru-RU" dirty="0" err="1"/>
              <a:t>encoder</a:t>
            </a:r>
            <a:r>
              <a:rPr lang="ru-RU" dirty="0"/>
              <a:t> не готов принять </a:t>
            </a:r>
            <a:r>
              <a:rPr lang="ru-RU" dirty="0" err="1"/>
              <a:t>frame</a:t>
            </a:r>
            <a:r>
              <a:rPr lang="ru-RU" dirty="0"/>
              <a:t> — мы сохраняем его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pendingFrame</a:t>
            </a:r>
            <a:r>
              <a:rPr lang="ru-RU" dirty="0"/>
              <a:t> и выходим.</a:t>
            </a:r>
          </a:p>
          <a:p>
            <a:endParaRPr lang="ru-RU" dirty="0"/>
          </a:p>
          <a:p>
            <a:r>
              <a:rPr lang="ru-RU" dirty="0"/>
              <a:t>В итоге эта функция делает три вещи: проталкивает старые данные → читает новые → передаёт дальше. И при этом аккуратно обрабатывает переполнение очередей и конец данных, и гарантирует, что данные не потеряются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105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подведём итог и посмотрим на результаты.</a:t>
            </a:r>
          </a:p>
          <a:p>
            <a:r>
              <a:rPr lang="ru-RU" dirty="0"/>
              <a:t>Мы протестировали два типа видео.</a:t>
            </a:r>
          </a:p>
          <a:p>
            <a:r>
              <a:rPr lang="ru-RU" dirty="0"/>
              <a:t>Первый — это </a:t>
            </a:r>
            <a:r>
              <a:rPr lang="ru-RU" dirty="0" err="1"/>
              <a:t>скринкаст</a:t>
            </a:r>
            <a:r>
              <a:rPr lang="ru-RU" dirty="0"/>
              <a:t>, длительностью почти 15 минут. В нём относительно мало движения, и он хорошо сжимается.</a:t>
            </a:r>
          </a:p>
          <a:p>
            <a:r>
              <a:rPr lang="ru-RU" dirty="0"/>
              <a:t>Здесь наш асинхронный </a:t>
            </a:r>
            <a:r>
              <a:rPr lang="ru-RU" dirty="0" err="1"/>
              <a:t>pipeline</a:t>
            </a:r>
            <a:r>
              <a:rPr lang="ru-RU" dirty="0"/>
              <a:t> дал заметный выигрыш: мы ускорились примерно в 1.6 раза и почти догнали </a:t>
            </a:r>
            <a:r>
              <a:rPr lang="ru-RU" dirty="0" err="1"/>
              <a:t>ffmpeg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на втором тесте — более динамичном видео, длительностью около 4.5 минут — ситуация другая.</a:t>
            </a:r>
          </a:p>
          <a:p>
            <a:r>
              <a:rPr lang="ru-RU" dirty="0"/>
              <a:t>Последовательный </a:t>
            </a:r>
            <a:r>
              <a:rPr lang="ru-RU" dirty="0" err="1"/>
              <a:t>pipeline</a:t>
            </a:r>
            <a:r>
              <a:rPr lang="ru-RU" dirty="0"/>
              <a:t> стал быстрее, но параллельный дал уже гораздо меньший прирост — всего около 10%.</a:t>
            </a:r>
          </a:p>
          <a:p>
            <a:r>
              <a:rPr lang="ru-RU" dirty="0"/>
              <a:t>И при этом </a:t>
            </a:r>
            <a:r>
              <a:rPr lang="ru-RU" dirty="0" err="1"/>
              <a:t>ffmpeg</a:t>
            </a:r>
            <a:r>
              <a:rPr lang="ru-RU" dirty="0"/>
              <a:t> ушёл вперёд заметно сильнее.</a:t>
            </a:r>
          </a:p>
          <a:p>
            <a:endParaRPr lang="ru-RU" dirty="0"/>
          </a:p>
          <a:p>
            <a:r>
              <a:rPr lang="ru-RU" dirty="0"/>
              <a:t>Что это значит?</a:t>
            </a:r>
          </a:p>
          <a:p>
            <a:r>
              <a:rPr lang="ru-RU" dirty="0"/>
              <a:t>Асинхронный </a:t>
            </a:r>
            <a:r>
              <a:rPr lang="ru-RU" dirty="0" err="1"/>
              <a:t>pipeline</a:t>
            </a:r>
            <a:r>
              <a:rPr lang="ru-RU" dirty="0"/>
              <a:t> действительно помогает — мы лучше используем CPU и ускоряем обработку. Но эффект сильно зависит от характера данных.</a:t>
            </a:r>
          </a:p>
          <a:p>
            <a:endParaRPr lang="ru-RU" dirty="0"/>
          </a:p>
          <a:p>
            <a:r>
              <a:rPr lang="ru-RU" dirty="0"/>
              <a:t>И здесь появляется важный вывод: одного только </a:t>
            </a:r>
            <a:r>
              <a:rPr lang="ru-RU" dirty="0" err="1"/>
              <a:t>pipeline</a:t>
            </a:r>
            <a:r>
              <a:rPr lang="ru-RU" dirty="0"/>
              <a:t>-параллелизма недостаточно. На простых видео он почти полностью раскрывается, а на сложных — упирается в </a:t>
            </a:r>
            <a:r>
              <a:rPr lang="ru-RU" dirty="0" err="1"/>
              <a:t>encoder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Именно поэтому </a:t>
            </a:r>
            <a:r>
              <a:rPr lang="ru-RU" dirty="0" err="1"/>
              <a:t>ffmpeg</a:t>
            </a:r>
            <a:r>
              <a:rPr lang="ru-RU" dirty="0"/>
              <a:t> выигрывает: он активно распараллеливает работу </a:t>
            </a:r>
            <a:r>
              <a:rPr lang="ru-RU" b="1" dirty="0"/>
              <a:t>внутри кодека</a:t>
            </a:r>
            <a:r>
              <a:rPr lang="ru-RU" dirty="0"/>
              <a:t>, а не только между стадиями.</a:t>
            </a:r>
          </a:p>
          <a:p>
            <a:endParaRPr lang="ru-RU" dirty="0"/>
          </a:p>
          <a:p>
            <a:r>
              <a:rPr lang="ru-RU" dirty="0"/>
              <a:t>То есть на этом этапе мы сделали большой шаг вперёд, но до уровня </a:t>
            </a:r>
            <a:r>
              <a:rPr lang="ru-RU" dirty="0" err="1"/>
              <a:t>ffmpeg</a:t>
            </a:r>
            <a:r>
              <a:rPr lang="ru-RU" dirty="0"/>
              <a:t> нам не хватает второго уровня параллелизма.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8881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подведём итоги.</a:t>
            </a:r>
          </a:p>
          <a:p>
            <a:r>
              <a:rPr lang="ru-RU" dirty="0"/>
              <a:t>Вначале мы разобрались, как интегрировать C-библиотеку F</a:t>
            </a:r>
            <a:r>
              <a:rPr lang="en-US" dirty="0"/>
              <a:t>f</a:t>
            </a:r>
            <a:r>
              <a:rPr lang="ru-RU" dirty="0" err="1"/>
              <a:t>mpeg</a:t>
            </a:r>
            <a:r>
              <a:rPr lang="ru-RU" dirty="0"/>
              <a:t> с современным C++ и модульной системой.</a:t>
            </a:r>
          </a:p>
          <a:p>
            <a:r>
              <a:rPr lang="ru-RU" dirty="0"/>
              <a:t>RAII-обёртки сильно упростили жизнь — за всё время разработки я ни разу не столкнулся с утечками памяти.</a:t>
            </a:r>
          </a:p>
          <a:p>
            <a:endParaRPr lang="ru-RU" dirty="0"/>
          </a:p>
          <a:p>
            <a:r>
              <a:rPr lang="ru-RU" dirty="0"/>
              <a:t>Дальше мы посмотрели, как устроен последовательный </a:t>
            </a:r>
            <a:r>
              <a:rPr lang="ru-RU" dirty="0" err="1"/>
              <a:t>pipeline</a:t>
            </a:r>
            <a:r>
              <a:rPr lang="ru-RU" dirty="0"/>
              <a:t>, увидели его ограничения и поняли, что проблема в последовательной архитектуре.</a:t>
            </a:r>
          </a:p>
          <a:p>
            <a:r>
              <a:rPr lang="ru-RU" dirty="0"/>
              <a:t>После этого мы перешли к асинхронной модели и смогли заметно ускорить обработку за счёт распараллеливания.</a:t>
            </a:r>
          </a:p>
          <a:p>
            <a:endParaRPr lang="ru-RU" dirty="0"/>
          </a:p>
          <a:p>
            <a:r>
              <a:rPr lang="ru-RU" dirty="0"/>
              <a:t>Тем не менее, полностью догнать </a:t>
            </a:r>
            <a:r>
              <a:rPr lang="ru-RU" dirty="0" err="1"/>
              <a:t>ffmpeg</a:t>
            </a:r>
            <a:r>
              <a:rPr lang="ru-RU" dirty="0"/>
              <a:t> нам пока не удалось. И это нормально. FFmpeg — это действительно промышленный инструмент,</a:t>
            </a:r>
            <a:r>
              <a:rPr lang="en-US" dirty="0"/>
              <a:t> </a:t>
            </a:r>
            <a:r>
              <a:rPr lang="ru-RU" dirty="0"/>
              <a:t>который развивается больше 25 лет</a:t>
            </a:r>
            <a:r>
              <a:rPr lang="en-US" dirty="0"/>
              <a:t> </a:t>
            </a:r>
            <a:r>
              <a:rPr lang="ru-RU" dirty="0"/>
              <a:t>и в который вложено огромное количество инженерного опыта.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Это значит, что следующий шаг —</a:t>
            </a:r>
            <a:r>
              <a:rPr lang="en-US" dirty="0"/>
              <a:t> </a:t>
            </a:r>
            <a:r>
              <a:rPr lang="ru-RU" dirty="0"/>
              <a:t>копать глубже и изучать, как он устроен внутри.</a:t>
            </a:r>
            <a:r>
              <a:rPr lang="en-US" dirty="0"/>
              <a:t> </a:t>
            </a:r>
            <a:r>
              <a:rPr lang="ru-RU" dirty="0"/>
              <a:t>Учиться у лучших.</a:t>
            </a:r>
          </a:p>
          <a:p>
            <a:endParaRPr lang="en-US" dirty="0"/>
          </a:p>
          <a:p>
            <a:r>
              <a:rPr lang="ru-RU" dirty="0"/>
              <a:t>Но это уже тема для следующего доклада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35333-98B4-4ADE-BC11-C05AE53D629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42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D279-BDF2-55A3-A7EC-37C016E93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4B091-4701-503F-A646-EC762AB35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0F3F0-D04F-FF74-D420-8AD2EF98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EDA2-7CA0-4A45-9CC9-1F5BCF7ECEBB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49143-26B1-9EBE-C587-6FFA2DAE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86D0E-0DC9-0652-AE60-FB0B3E7D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5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5AAA-6F34-61C3-8419-293932DB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5E971-A8AE-27B6-0C29-ABC0BBDF8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8C7DA-D6D1-984D-5EE9-EB5FED15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0E8E-10D5-40ED-B272-6E09244BF2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820F3-2C98-3E63-0075-C0AD8F82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87558-452C-83AA-1EF1-499966AA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1AE1-D1B5-3175-2E73-3582EBA8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33AA2-CFD4-380C-3D32-B82A5F1C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639D1-8000-07AD-53BB-D8461EFE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439E-F755-47DD-BCE0-862833A47477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2AF16-2832-C08C-1B54-196915F0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6B22A-EAC1-F4CB-8EED-57801D8A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8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294F-D60E-5247-2AFA-FD46DF10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509B-9A5A-72CD-275F-BABE89678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E0AB0-66EE-F6F9-D574-B9778411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21EF7-1D7C-0D1C-0030-45BF511A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11C1-A162-434E-80E9-9AE9E7117FBE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13F3B-C974-AD1C-C20F-AEC7D651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6BCD-050B-BFFD-F9C3-5F44C28E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9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4CA5-194D-C6AA-02E3-ECC67E14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E5F74-E3DA-6079-FFAF-E78A6B374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7F6B9-30E1-F208-5A21-840561723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B2066-FAF4-4004-0DE1-EB8D9E5D4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91E79-D6AE-E23C-C72A-8AF1A0CDB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E11FB8-C1D3-91D7-1A57-42038411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0B5B-088A-4639-B7BD-F076FF2DC487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86278-E8E4-80EE-FB11-A1D6EDFA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6977F-F919-8AE6-C32F-ED79F365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8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5DC3-5853-01B4-3E38-01E8B8B6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03DC9-4AE2-CC24-1175-2149AFB3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2AB5C-E5BB-4407-8B35-5E87B9EF0714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FE88-C5DF-0569-78AA-CA1A7271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6B5E5-AEE9-B41A-7E20-A130E877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3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0D09F-5D79-0E33-4900-9ED85614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ACC79-7462-4AEE-A667-B9DB25451E2F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91C7D-E25D-E9F5-2346-F2D7E275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08B2F-6EC3-B76D-812C-88C65BC3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5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49816-0568-61D2-3D13-DFDA7C2E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F5E61-D795-0202-6B62-37CACF22F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2A86F-397B-DBE3-EE76-73BF0B5E2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3E33B-F50A-3D12-B50B-02081867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BECE5-4109-4DAF-BC94-92B9FF389A71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A4CB3-771E-215F-697A-E014841B9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C8B19-1536-B5AB-6F1E-0D31CAA3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8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9928-8104-C19E-B05B-AFDF3D61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FB950-7E4C-7B5B-8F65-E88996AA8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D3733-5039-DC60-C5BC-7A7932B61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33B5A-A721-EEAB-56FB-879A6196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3E09-BC54-424D-AA68-7A69E63FBF8A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A432F-68FD-5F5D-372F-6134ABF9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5BF37-4E2D-E13B-3355-CFE342AF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5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726C-1F38-3B4A-F3F6-716AB6C6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0A4B9-F5CE-030D-DAB3-405E5A96B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CB970-C0CB-F4E8-3167-1175A865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0FCC-61A1-4220-82FE-72F7A7163DE8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093F0-4775-8DB5-C969-0F4E4D38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C71E4-6813-CDA7-6868-B2D34581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3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3FD9F-74FA-9198-E825-12476284F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42BF2-FCCD-980A-873A-5E10F6436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28B1D-AF9F-975D-73DC-F108ABD0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19CD2-242B-4803-A2B6-D4CC6AE1C08E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334D3-7249-9BB5-9066-CE6A7E60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B3700-3C47-551B-15CE-1BBED2F2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8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765EB-1910-5729-949A-B538237E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3117F-16E1-B715-FC68-6B63F0DC7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39DBF-D543-7FCF-42D0-91C4D5C49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625B8-5C90-44F2-92BD-16667EA61CD7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94D8F-C313-F5F5-86C1-E91322BA4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EB6D6-1D7D-9FA8-C209-60320F0FC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51C09-6E6B-483D-BDE5-B5F117BA9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9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hyperlink" Target="https://youtube.com/@vividbw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27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svg"/><Relationship Id="rId4" Type="http://schemas.openxmlformats.org/officeDocument/2006/relationships/image" Target="../media/image21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19.svg"/><Relationship Id="rId4" Type="http://schemas.openxmlformats.org/officeDocument/2006/relationships/image" Target="../media/image27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27.svg"/><Relationship Id="rId4" Type="http://schemas.openxmlformats.org/officeDocument/2006/relationships/image" Target="../media/image21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7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5" Type="http://schemas.openxmlformats.org/officeDocument/2006/relationships/image" Target="../media/image21.svg"/><Relationship Id="rId4" Type="http://schemas.openxmlformats.org/officeDocument/2006/relationships/image" Target="../media/image19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8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27.svg"/><Relationship Id="rId10" Type="http://schemas.openxmlformats.org/officeDocument/2006/relationships/image" Target="../media/image17.svg"/><Relationship Id="rId4" Type="http://schemas.openxmlformats.org/officeDocument/2006/relationships/image" Target="../media/image29.svg"/><Relationship Id="rId9" Type="http://schemas.openxmlformats.org/officeDocument/2006/relationships/image" Target="../media/image23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8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21.svg"/><Relationship Id="rId9" Type="http://schemas.openxmlformats.org/officeDocument/2006/relationships/image" Target="../media/image23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8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21.svg"/><Relationship Id="rId4" Type="http://schemas.openxmlformats.org/officeDocument/2006/relationships/image" Target="../media/image19.svg"/><Relationship Id="rId9" Type="http://schemas.openxmlformats.org/officeDocument/2006/relationships/image" Target="../media/image29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18.svg"/><Relationship Id="rId10" Type="http://schemas.openxmlformats.org/officeDocument/2006/relationships/image" Target="../media/image30.svg"/><Relationship Id="rId4" Type="http://schemas.openxmlformats.org/officeDocument/2006/relationships/image" Target="../media/image28.svg"/><Relationship Id="rId9" Type="http://schemas.openxmlformats.org/officeDocument/2006/relationships/image" Target="../media/image29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9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21.svg"/><Relationship Id="rId10" Type="http://schemas.openxmlformats.org/officeDocument/2006/relationships/image" Target="../media/image30.svg"/><Relationship Id="rId4" Type="http://schemas.openxmlformats.org/officeDocument/2006/relationships/image" Target="../media/image23.svg"/><Relationship Id="rId9" Type="http://schemas.openxmlformats.org/officeDocument/2006/relationships/image" Target="../media/image29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3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9.svg"/><Relationship Id="rId9" Type="http://schemas.openxmlformats.org/officeDocument/2006/relationships/image" Target="../media/image28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3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10" Type="http://schemas.openxmlformats.org/officeDocument/2006/relationships/image" Target="../media/image30.svg"/><Relationship Id="rId4" Type="http://schemas.openxmlformats.org/officeDocument/2006/relationships/image" Target="../media/image19.svg"/><Relationship Id="rId9" Type="http://schemas.openxmlformats.org/officeDocument/2006/relationships/image" Target="../media/image28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7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8.svg"/><Relationship Id="rId4" Type="http://schemas.openxmlformats.org/officeDocument/2006/relationships/image" Target="../media/image19.svg"/><Relationship Id="rId9" Type="http://schemas.openxmlformats.org/officeDocument/2006/relationships/image" Target="../media/image23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7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8.svg"/><Relationship Id="rId10" Type="http://schemas.openxmlformats.org/officeDocument/2006/relationships/image" Target="../media/image30.svg"/><Relationship Id="rId4" Type="http://schemas.openxmlformats.org/officeDocument/2006/relationships/image" Target="../media/image19.svg"/><Relationship Id="rId9" Type="http://schemas.openxmlformats.org/officeDocument/2006/relationships/image" Target="../media/image23.sv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sv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@vividbw" TargetMode="External"/><Relationship Id="rId2" Type="http://schemas.openxmlformats.org/officeDocument/2006/relationships/hyperlink" Target="https://t.me/vivid_codin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46E4-FDC0-798D-BF78-31DD8C3DB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520" y="1122362"/>
            <a:ext cx="11490960" cy="3266757"/>
          </a:xfrm>
        </p:spPr>
        <p:txBody>
          <a:bodyPr>
            <a:normAutofit/>
          </a:bodyPr>
          <a:lstStyle/>
          <a:p>
            <a:r>
              <a:rPr lang="en-US" dirty="0"/>
              <a:t>FFmpeg </a:t>
            </a:r>
            <a:r>
              <a:rPr lang="ru-RU" dirty="0"/>
              <a:t>без боли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архитектура видео-транскодера на </a:t>
            </a:r>
            <a:r>
              <a:rPr lang="en-US" dirty="0"/>
              <a:t>C++23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FB611-E60F-D31F-292F-9654DF986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9120"/>
            <a:ext cx="9144000" cy="86868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Алексей Малов</a:t>
            </a:r>
          </a:p>
          <a:p>
            <a:r>
              <a:rPr lang="en-US" dirty="0" err="1"/>
              <a:t>iSpring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901E4-78AE-4889-A119-FAC20F65D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60" y="6170111"/>
            <a:ext cx="2104373" cy="5626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9240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9BF5-8A60-8714-EC81-96B6FD86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 мне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30D30-6FE8-2CC1-DFC3-37350E031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87604" cy="4351338"/>
          </a:xfrm>
        </p:spPr>
        <p:txBody>
          <a:bodyPr/>
          <a:lstStyle/>
          <a:p>
            <a:r>
              <a:rPr lang="ru-RU" dirty="0"/>
              <a:t>Ведущий архитектор в </a:t>
            </a:r>
            <a:r>
              <a:rPr lang="en-US" dirty="0" err="1"/>
              <a:t>iSpring</a:t>
            </a:r>
            <a:endParaRPr lang="en-US" dirty="0"/>
          </a:p>
          <a:p>
            <a:r>
              <a:rPr lang="ru-RU" dirty="0"/>
              <a:t>Преподаю компьютерные дисциплины</a:t>
            </a:r>
          </a:p>
          <a:p>
            <a:r>
              <a:rPr lang="ru-RU" dirty="0"/>
              <a:t>Веду образовательный канал на </a:t>
            </a:r>
            <a:r>
              <a:rPr lang="en-US" dirty="0"/>
              <a:t>YouTube</a:t>
            </a:r>
          </a:p>
          <a:p>
            <a:pPr lvl="1"/>
            <a:r>
              <a:rPr lang="en-US" dirty="0">
                <a:hlinkClick r:id="rId4"/>
              </a:rPr>
              <a:t>https://youtube.com/@vividbw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DB8B67-9D71-8C27-85B2-CE27436EAC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52" y="501650"/>
            <a:ext cx="3060894" cy="3060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0F29E8-EBE7-5402-80A7-1EE6C3B26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9873" y="3723564"/>
            <a:ext cx="3842674" cy="26327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E1F3FB-4BB0-2F04-A9EE-26420A36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791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570F-5CA7-5287-4A11-105C7547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iSpring</a:t>
            </a:r>
            <a:r>
              <a:rPr lang="en-US" dirty="0"/>
              <a:t> Suite – </a:t>
            </a:r>
            <a:r>
              <a:rPr lang="ru-RU" dirty="0"/>
              <a:t>конструктор электронных курсов на базе </a:t>
            </a:r>
            <a:r>
              <a:rPr lang="en-US" dirty="0"/>
              <a:t>PowerPoint</a:t>
            </a:r>
          </a:p>
        </p:txBody>
      </p:sp>
      <p:pic>
        <p:nvPicPr>
          <p:cNvPr id="10" name="!!Suite">
            <a:extLst>
              <a:ext uri="{FF2B5EF4-FFF2-40B4-BE49-F238E27FC236}">
                <a16:creationId xmlns:a16="http://schemas.microsoft.com/office/drawing/2014/main" id="{AC5EE4DF-DA19-1553-61C7-7511EC303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21758"/>
            <a:ext cx="1563268" cy="1585080"/>
          </a:xfrm>
          <a:prstGeom prst="rect">
            <a:avLst/>
          </a:prstGeom>
        </p:spPr>
      </p:pic>
      <p:pic>
        <p:nvPicPr>
          <p:cNvPr id="27" name="!!Suite-Bg">
            <a:extLst>
              <a:ext uri="{FF2B5EF4-FFF2-40B4-BE49-F238E27FC236}">
                <a16:creationId xmlns:a16="http://schemas.microsoft.com/office/drawing/2014/main" id="{5DD63C81-E199-3663-81F8-B4F0F0826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319145"/>
            <a:ext cx="1563267" cy="1587693"/>
          </a:xfrm>
          <a:prstGeom prst="rect">
            <a:avLst/>
          </a:prstGeom>
        </p:spPr>
      </p:pic>
      <p:pic>
        <p:nvPicPr>
          <p:cNvPr id="29" name="!!Suite-Fg">
            <a:extLst>
              <a:ext uri="{FF2B5EF4-FFF2-40B4-BE49-F238E27FC236}">
                <a16:creationId xmlns:a16="http://schemas.microsoft.com/office/drawing/2014/main" id="{C0CFAD9E-D3B2-D227-39D8-FEE00591D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472" y="3581481"/>
            <a:ext cx="1050320" cy="1050320"/>
          </a:xfrm>
          <a:prstGeom prst="rect">
            <a:avLst/>
          </a:prstGeom>
        </p:spPr>
      </p:pic>
      <p:pic>
        <p:nvPicPr>
          <p:cNvPr id="12" name="!!Quiz">
            <a:extLst>
              <a:ext uri="{FF2B5EF4-FFF2-40B4-BE49-F238E27FC236}">
                <a16:creationId xmlns:a16="http://schemas.microsoft.com/office/drawing/2014/main" id="{BD328522-C534-4974-CAF2-A75B74C590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8804" y="5102789"/>
            <a:ext cx="1174749" cy="1174749"/>
          </a:xfrm>
          <a:prstGeom prst="rect">
            <a:avLst/>
          </a:prstGeom>
        </p:spPr>
      </p:pic>
      <p:pic>
        <p:nvPicPr>
          <p:cNvPr id="14" name="!!Simulation">
            <a:extLst>
              <a:ext uri="{FF2B5EF4-FFF2-40B4-BE49-F238E27FC236}">
                <a16:creationId xmlns:a16="http://schemas.microsoft.com/office/drawing/2014/main" id="{E9C8529C-0483-9C4D-DE0A-A9D4BBAB6A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186" y="3518878"/>
            <a:ext cx="1154387" cy="1190842"/>
          </a:xfrm>
          <a:prstGeom prst="rect">
            <a:avLst/>
          </a:prstGeom>
        </p:spPr>
      </p:pic>
      <p:pic>
        <p:nvPicPr>
          <p:cNvPr id="16" name="!!Interaction">
            <a:extLst>
              <a:ext uri="{FF2B5EF4-FFF2-40B4-BE49-F238E27FC236}">
                <a16:creationId xmlns:a16="http://schemas.microsoft.com/office/drawing/2014/main" id="{F543F0D6-FF69-2C31-7E8E-F42834B798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0561" y="3554036"/>
            <a:ext cx="1156488" cy="1174749"/>
          </a:xfrm>
          <a:prstGeom prst="rect">
            <a:avLst/>
          </a:prstGeom>
        </p:spPr>
      </p:pic>
      <p:pic>
        <p:nvPicPr>
          <p:cNvPr id="18" name="!!PowerPoint">
            <a:extLst>
              <a:ext uri="{FF2B5EF4-FFF2-40B4-BE49-F238E27FC236}">
                <a16:creationId xmlns:a16="http://schemas.microsoft.com/office/drawing/2014/main" id="{656F90A7-54FB-25C4-B440-D327903631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149" y="3441355"/>
            <a:ext cx="1345887" cy="1345887"/>
          </a:xfrm>
          <a:prstGeom prst="rect">
            <a:avLst/>
          </a:prstGeom>
        </p:spPr>
      </p:pic>
      <p:pic>
        <p:nvPicPr>
          <p:cNvPr id="23" name="!!Video">
            <a:extLst>
              <a:ext uri="{FF2B5EF4-FFF2-40B4-BE49-F238E27FC236}">
                <a16:creationId xmlns:a16="http://schemas.microsoft.com/office/drawing/2014/main" id="{53FD3B58-4427-1917-CF0E-E7F3B3304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3459" y="2065645"/>
            <a:ext cx="1563265" cy="913909"/>
          </a:xfrm>
          <a:prstGeom prst="rect">
            <a:avLst/>
          </a:prstGeom>
        </p:spPr>
      </p:pic>
      <p:pic>
        <p:nvPicPr>
          <p:cNvPr id="25" name="!!Package">
            <a:extLst>
              <a:ext uri="{FF2B5EF4-FFF2-40B4-BE49-F238E27FC236}">
                <a16:creationId xmlns:a16="http://schemas.microsoft.com/office/drawing/2014/main" id="{9CE6E3B4-9361-FFC9-E59D-4DD85E32CD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7897" y="3429000"/>
            <a:ext cx="1581371" cy="14730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43ADF-9CC6-35DC-2571-F1724521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78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0.34011 0.22014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5" y="1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0.1974 0.00069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7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7 L 0.33463 -0.23102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32" y="-1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11022E-16 L 0.33985 0.00417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92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500"/>
                            </p:stCondLst>
                            <p:childTnLst>
                              <p:par>
                                <p:cTn id="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000"/>
                            </p:stCondLst>
                            <p:childTnLst>
                              <p:par>
                                <p:cTn id="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11022E-16 L 0.48359 0.00139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8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0"/>
                            </p:stCondLst>
                            <p:childTnLst>
                              <p:par>
                                <p:cTn id="7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3" dur="2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1.45833E-6 2.59259E-6 L 0.24206 -0.00324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96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FED3DD-F665-768F-0FB4-F8FEEA88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Нужно ускорить транскодирование видео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639AF4-3047-5B37-F929-D4CAFDA2A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iSpring</a:t>
            </a:r>
            <a:r>
              <a:rPr lang="ru-RU" dirty="0"/>
              <a:t> использует библиотеку </a:t>
            </a:r>
            <a:r>
              <a:rPr lang="en-US" dirty="0"/>
              <a:t>FFmpeg </a:t>
            </a:r>
            <a:r>
              <a:rPr lang="ru-RU" dirty="0"/>
              <a:t>для обработки видео</a:t>
            </a:r>
          </a:p>
          <a:p>
            <a:r>
              <a:rPr lang="ru-RU" dirty="0"/>
              <a:t>Возникла задача ускорить обработку видео</a:t>
            </a:r>
          </a:p>
          <a:p>
            <a:r>
              <a:rPr lang="ru-RU" dirty="0"/>
              <a:t>Использовать аппаратное ускорение</a:t>
            </a:r>
            <a:endParaRPr lang="en-US" dirty="0"/>
          </a:p>
          <a:p>
            <a:pPr lvl="1"/>
            <a:r>
              <a:rPr lang="en-US" dirty="0"/>
              <a:t>Intel QSV</a:t>
            </a:r>
          </a:p>
          <a:p>
            <a:pPr lvl="1"/>
            <a:r>
              <a:rPr lang="en-US" dirty="0"/>
              <a:t>NVIDIA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70021-6411-CEA7-1CDB-E08E4AAB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1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25539F-7DB6-7916-A98B-EA4585D0C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4472" cy="6856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74D370-391D-980A-ADA9-C70CA859B90C}"/>
              </a:ext>
            </a:extLst>
          </p:cNvPr>
          <p:cNvSpPr txBox="1"/>
          <p:nvPr/>
        </p:nvSpPr>
        <p:spPr>
          <a:xfrm>
            <a:off x="259080" y="182880"/>
            <a:ext cx="11932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Impact" panose="020B0806030902050204" pitchFamily="34" charset="0"/>
              </a:rPr>
              <a:t>Надо ускорить </a:t>
            </a:r>
            <a:r>
              <a:rPr lang="ru-RU" sz="6000" dirty="0" err="1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Impact" panose="020B0806030902050204" pitchFamily="34" charset="0"/>
              </a:rPr>
              <a:t>транскодинг</a:t>
            </a:r>
            <a:r>
              <a:rPr lang="ru-RU" sz="6000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Impact" panose="020B0806030902050204" pitchFamily="34" charset="0"/>
              </a:rPr>
              <a:t> видео.</a:t>
            </a:r>
            <a:endParaRPr lang="en-US" sz="6000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0D121-BCCF-D8BA-2B16-9A1AAC6CD51B}"/>
              </a:ext>
            </a:extLst>
          </p:cNvPr>
          <p:cNvSpPr txBox="1"/>
          <p:nvPr/>
        </p:nvSpPr>
        <p:spPr>
          <a:xfrm>
            <a:off x="259080" y="5659457"/>
            <a:ext cx="1173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Impact" panose="020B0806030902050204" pitchFamily="34" charset="0"/>
              </a:rPr>
              <a:t>Приключение на пару недель</a:t>
            </a:r>
            <a:endParaRPr lang="en-US" sz="6000" dirty="0">
              <a:solidFill>
                <a:schemeClr val="bg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Impact" panose="020B080603090205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DFBD0E-536D-72A3-F558-2944EFC5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57F5E-3F7F-13DD-DBBC-802A2223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№1 –</a:t>
            </a:r>
            <a:r>
              <a:rPr lang="en-US" dirty="0"/>
              <a:t> </a:t>
            </a:r>
            <a:r>
              <a:rPr lang="ru-RU" dirty="0"/>
              <a:t>обновить </a:t>
            </a:r>
            <a:r>
              <a:rPr lang="en-US" dirty="0"/>
              <a:t>FFmpeg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FC7C-44DE-6DBE-D12E-2D2C13D71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Библиотека мультимедиа не обновлялась с 2018 года</a:t>
            </a:r>
          </a:p>
          <a:p>
            <a:pPr lvl="1"/>
            <a:r>
              <a:rPr lang="en-US" dirty="0"/>
              <a:t>FFmpeg 4</a:t>
            </a:r>
          </a:p>
          <a:p>
            <a:pPr lvl="1"/>
            <a:r>
              <a:rPr lang="ru-RU" dirty="0"/>
              <a:t>Актуальная версия: 7.1</a:t>
            </a:r>
          </a:p>
          <a:p>
            <a:pPr lvl="1"/>
            <a:r>
              <a:rPr lang="en-US" dirty="0"/>
              <a:t>API </a:t>
            </a:r>
            <a:r>
              <a:rPr lang="ru-RU" dirty="0"/>
              <a:t>сильно поменялся</a:t>
            </a:r>
          </a:p>
          <a:p>
            <a:r>
              <a:rPr lang="ru-RU" dirty="0"/>
              <a:t>Переписали почти всю библиотеку</a:t>
            </a:r>
          </a:p>
          <a:p>
            <a:r>
              <a:rPr lang="en-US" dirty="0"/>
              <a:t>💡</a:t>
            </a:r>
            <a:r>
              <a:rPr lang="ru-RU" dirty="0"/>
              <a:t>Лучше обновляться по-маленькому, а не по большому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CFD66-BD58-592B-D937-6915421F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7DDF-2E8B-5F88-6376-1C8F5D85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№2 – </a:t>
            </a:r>
            <a:r>
              <a:rPr lang="ru-RU" dirty="0" err="1"/>
              <a:t>немасштабируемая</a:t>
            </a:r>
            <a:r>
              <a:rPr lang="ru-RU" dirty="0"/>
              <a:t> архитектура транскодера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F3639-8551-4C75-8838-13271D3C1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Аппаратное ускорение не помогло так, как ожидалось</a:t>
            </a:r>
          </a:p>
          <a:p>
            <a:r>
              <a:rPr lang="ru-RU" dirty="0"/>
              <a:t>Причина: последовательный транскодер</a:t>
            </a:r>
          </a:p>
          <a:p>
            <a:pPr lvl="1"/>
            <a:r>
              <a:rPr lang="en-US" dirty="0"/>
              <a:t>CPU </a:t>
            </a:r>
            <a:r>
              <a:rPr lang="ru-RU" dirty="0"/>
              <a:t>недогружен</a:t>
            </a:r>
          </a:p>
          <a:p>
            <a:r>
              <a:rPr lang="ru-RU" dirty="0"/>
              <a:t>Решение:</a:t>
            </a:r>
          </a:p>
          <a:p>
            <a:pPr lvl="1"/>
            <a:r>
              <a:rPr lang="ru-RU" dirty="0"/>
              <a:t>Распараллеливание</a:t>
            </a:r>
          </a:p>
          <a:p>
            <a:pPr lvl="1"/>
            <a:r>
              <a:rPr lang="ru-RU" dirty="0"/>
              <a:t>Новые интересные задачи</a:t>
            </a:r>
          </a:p>
          <a:p>
            <a:r>
              <a:rPr lang="ru-RU" dirty="0"/>
              <a:t>Итог: ускорили транскодирование видео на 30-60%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44FA-9F6C-AA65-0E54-114480DB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3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6347-C81C-792F-6053-DE824932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чем мой доклад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7E65-A13D-D6C6-2283-736D63B49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Минимум про устройство FFmpeg </a:t>
            </a:r>
          </a:p>
          <a:p>
            <a:r>
              <a:rPr lang="ru-RU" dirty="0"/>
              <a:t>Безопасная интеграция C API в C++23 (</a:t>
            </a:r>
            <a:r>
              <a:rPr lang="ru-RU" dirty="0" err="1"/>
              <a:t>modules</a:t>
            </a:r>
            <a:r>
              <a:rPr lang="ru-RU" dirty="0"/>
              <a:t> + RAII</a:t>
            </a:r>
            <a:r>
              <a:rPr lang="en-US" dirty="0"/>
              <a:t> + expected</a:t>
            </a:r>
            <a:r>
              <a:rPr lang="ru-RU" dirty="0"/>
              <a:t>) </a:t>
            </a:r>
          </a:p>
          <a:p>
            <a:r>
              <a:rPr lang="ru-RU" dirty="0"/>
              <a:t>Архитектура транскодера: от последовательного к асинхронному </a:t>
            </a:r>
          </a:p>
          <a:p>
            <a:r>
              <a:rPr lang="ru-RU" dirty="0"/>
              <a:t>Очереди, </a:t>
            </a:r>
            <a:r>
              <a:rPr lang="ru-RU" dirty="0" err="1"/>
              <a:t>backpressure</a:t>
            </a:r>
            <a:r>
              <a:rPr lang="ru-RU" dirty="0"/>
              <a:t> и </a:t>
            </a:r>
            <a:r>
              <a:rPr lang="ru-RU" dirty="0" err="1"/>
              <a:t>pipeline</a:t>
            </a:r>
            <a:r>
              <a:rPr lang="ru-RU" dirty="0"/>
              <a:t> </a:t>
            </a:r>
          </a:p>
          <a:p>
            <a:r>
              <a:rPr lang="ru-RU" dirty="0"/>
              <a:t>Разбор производительности и ограничения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44902-B5DA-1888-0D67-42B8F7B9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79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0FEF47-6BFC-5A37-5C98-89A940C5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Кратко об </a:t>
            </a:r>
            <a:r>
              <a:rPr lang="en-US" dirty="0"/>
              <a:t>FFmpeg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DD063D-B412-26A1-60F6-CDF629D9C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4A9041-323F-D326-5A42-B35954F8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1552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EBFF7B-5F06-2085-F621-B98E03DD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FFmpeg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20D257-51EA-7A65-1A69-1C39DE16B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Ffmpeg</a:t>
            </a:r>
            <a:r>
              <a:rPr lang="en-US" dirty="0"/>
              <a:t> – </a:t>
            </a:r>
            <a:r>
              <a:rPr lang="ru-RU" dirty="0"/>
              <a:t>мультимедийный фреймворк</a:t>
            </a:r>
            <a:endParaRPr lang="en-US" dirty="0"/>
          </a:p>
          <a:p>
            <a:r>
              <a:rPr lang="ru-RU" dirty="0"/>
              <a:t>Позволяет:</a:t>
            </a:r>
          </a:p>
          <a:p>
            <a:pPr lvl="1"/>
            <a:r>
              <a:rPr lang="ru-RU" dirty="0"/>
              <a:t>читать и писать видео- и аудиофайлы</a:t>
            </a:r>
            <a:endParaRPr lang="en-US" dirty="0"/>
          </a:p>
          <a:p>
            <a:pPr lvl="2"/>
            <a:r>
              <a:rPr lang="en-US" dirty="0" err="1"/>
              <a:t>demux</a:t>
            </a:r>
            <a:r>
              <a:rPr lang="en-US" dirty="0"/>
              <a:t> </a:t>
            </a:r>
            <a:r>
              <a:rPr lang="ru-RU" dirty="0"/>
              <a:t>(разбор контейнера на потоки)</a:t>
            </a:r>
          </a:p>
          <a:p>
            <a:pPr lvl="2"/>
            <a:r>
              <a:rPr lang="en-US" dirty="0"/>
              <a:t>mux </a:t>
            </a:r>
            <a:r>
              <a:rPr lang="ru-RU" dirty="0"/>
              <a:t>(сборка обратно)</a:t>
            </a:r>
          </a:p>
          <a:p>
            <a:pPr lvl="1"/>
            <a:r>
              <a:rPr lang="ru-RU" dirty="0"/>
              <a:t>кодировать и декодировать</a:t>
            </a:r>
          </a:p>
          <a:p>
            <a:pPr lvl="1"/>
            <a:r>
              <a:rPr lang="ru-RU" dirty="0"/>
              <a:t>конвертировать форматы</a:t>
            </a:r>
          </a:p>
          <a:p>
            <a:pPr lvl="1"/>
            <a:r>
              <a:rPr lang="ru-RU" dirty="0"/>
              <a:t>обрабатывать и фильтровать аудио и видео</a:t>
            </a:r>
          </a:p>
          <a:p>
            <a:r>
              <a:rPr lang="ru-RU" dirty="0"/>
              <a:t>Поддерживает:</a:t>
            </a:r>
          </a:p>
          <a:p>
            <a:pPr lvl="1"/>
            <a:r>
              <a:rPr lang="ru-RU" dirty="0"/>
              <a:t>практически все форматы (от устаревших до современных )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кроссплатформенный с открытым исходным кодом</a:t>
            </a:r>
          </a:p>
          <a:p>
            <a:pPr lvl="1"/>
            <a:r>
              <a:rPr lang="ru-RU" dirty="0"/>
              <a:t>де-факто стандарт индустрии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2536C-F974-7C3C-775B-F8594838F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690688"/>
            <a:ext cx="1600200" cy="1600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80CA-B3B7-BD2F-5EDA-D5FA7C68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2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87559F-AA7B-D937-4795-29CDEA42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en-US" dirty="0"/>
              <a:t>FFmpeg </a:t>
            </a:r>
            <a:r>
              <a:rPr lang="ru-RU" dirty="0"/>
              <a:t>обрабатывает видео</a:t>
            </a:r>
            <a:endParaRPr lang="en-US" dirty="0"/>
          </a:p>
        </p:txBody>
      </p:sp>
      <p:pic>
        <p:nvPicPr>
          <p:cNvPr id="7" name="Graphic 6" descr="Paper with solid fill">
            <a:extLst>
              <a:ext uri="{FF2B5EF4-FFF2-40B4-BE49-F238E27FC236}">
                <a16:creationId xmlns:a16="http://schemas.microsoft.com/office/drawing/2014/main" id="{C1E747DD-FE43-2B58-8BE6-923445DD1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883" y="3465513"/>
            <a:ext cx="669632" cy="669632"/>
          </a:xfrm>
          <a:prstGeom prst="rect">
            <a:avLst/>
          </a:prstGeom>
        </p:spPr>
      </p:pic>
      <p:pic>
        <p:nvPicPr>
          <p:cNvPr id="9" name="Graphic 8" descr="Music with solid fill">
            <a:extLst>
              <a:ext uri="{FF2B5EF4-FFF2-40B4-BE49-F238E27FC236}">
                <a16:creationId xmlns:a16="http://schemas.microsoft.com/office/drawing/2014/main" id="{C90C589C-B767-80C5-EEDD-3854D9706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0981" y="4311794"/>
            <a:ext cx="669632" cy="669632"/>
          </a:xfrm>
          <a:prstGeom prst="rect">
            <a:avLst/>
          </a:prstGeom>
        </p:spPr>
      </p:pic>
      <p:pic>
        <p:nvPicPr>
          <p:cNvPr id="11" name="Graphic 10" descr="Image outline">
            <a:extLst>
              <a:ext uri="{FF2B5EF4-FFF2-40B4-BE49-F238E27FC236}">
                <a16:creationId xmlns:a16="http://schemas.microsoft.com/office/drawing/2014/main" id="{216FF256-612A-D379-6317-7873ACB67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986" y="2560584"/>
            <a:ext cx="669632" cy="669632"/>
          </a:xfrm>
          <a:prstGeom prst="rect">
            <a:avLst/>
          </a:prstGeom>
        </p:spPr>
      </p:pic>
      <p:pic>
        <p:nvPicPr>
          <p:cNvPr id="13" name="Graphic 12" descr="Box outline">
            <a:extLst>
              <a:ext uri="{FF2B5EF4-FFF2-40B4-BE49-F238E27FC236}">
                <a16:creationId xmlns:a16="http://schemas.microsoft.com/office/drawing/2014/main" id="{0C626AFF-0032-AA0C-65A1-12B6A128C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1884" y="2560584"/>
            <a:ext cx="669632" cy="669632"/>
          </a:xfrm>
          <a:prstGeom prst="rect">
            <a:avLst/>
          </a:prstGeom>
        </p:spPr>
      </p:pic>
      <p:pic>
        <p:nvPicPr>
          <p:cNvPr id="14" name="Graphic 13" descr="Box outline">
            <a:extLst>
              <a:ext uri="{FF2B5EF4-FFF2-40B4-BE49-F238E27FC236}">
                <a16:creationId xmlns:a16="http://schemas.microsoft.com/office/drawing/2014/main" id="{6ABE3293-7403-08F6-7AF9-8F101A374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6651" y="2530189"/>
            <a:ext cx="669632" cy="669632"/>
          </a:xfrm>
          <a:prstGeom prst="rect">
            <a:avLst/>
          </a:prstGeom>
        </p:spPr>
      </p:pic>
      <p:pic>
        <p:nvPicPr>
          <p:cNvPr id="35" name="Graphic 34" descr="Box outline">
            <a:extLst>
              <a:ext uri="{FF2B5EF4-FFF2-40B4-BE49-F238E27FC236}">
                <a16:creationId xmlns:a16="http://schemas.microsoft.com/office/drawing/2014/main" id="{8AE1C8B3-9436-BB42-C09B-5A95DF532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4800" y="4311794"/>
            <a:ext cx="669632" cy="669632"/>
          </a:xfrm>
          <a:prstGeom prst="rect">
            <a:avLst/>
          </a:prstGeom>
        </p:spPr>
      </p:pic>
      <p:pic>
        <p:nvPicPr>
          <p:cNvPr id="37" name="Graphic 36" descr="Box outline">
            <a:extLst>
              <a:ext uri="{FF2B5EF4-FFF2-40B4-BE49-F238E27FC236}">
                <a16:creationId xmlns:a16="http://schemas.microsoft.com/office/drawing/2014/main" id="{967CD501-F0B8-C308-B18E-CE5417813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12737" y="4308056"/>
            <a:ext cx="669632" cy="669632"/>
          </a:xfrm>
          <a:prstGeom prst="rect">
            <a:avLst/>
          </a:prstGeom>
        </p:spPr>
      </p:pic>
      <p:pic>
        <p:nvPicPr>
          <p:cNvPr id="41" name="Graphic 40" descr="Paper with solid fill">
            <a:extLst>
              <a:ext uri="{FF2B5EF4-FFF2-40B4-BE49-F238E27FC236}">
                <a16:creationId xmlns:a16="http://schemas.microsoft.com/office/drawing/2014/main" id="{1A949473-D769-E37F-8926-3477D614C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7046" y="3421729"/>
            <a:ext cx="669632" cy="66963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6018A8B-ADD7-F622-C1D7-A9E9F63B650E}"/>
              </a:ext>
            </a:extLst>
          </p:cNvPr>
          <p:cNvSpPr txBox="1"/>
          <p:nvPr/>
        </p:nvSpPr>
        <p:spPr>
          <a:xfrm>
            <a:off x="1235895" y="4392649"/>
            <a:ext cx="1090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Demuxer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14163E-ED67-7C90-F07E-92C467AC879A}"/>
              </a:ext>
            </a:extLst>
          </p:cNvPr>
          <p:cNvSpPr txBox="1"/>
          <p:nvPr/>
        </p:nvSpPr>
        <p:spPr>
          <a:xfrm>
            <a:off x="9903685" y="4347341"/>
            <a:ext cx="85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Muxer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8402C-AF39-5D74-4185-8DAB5956B752}"/>
              </a:ext>
            </a:extLst>
          </p:cNvPr>
          <p:cNvSpPr txBox="1"/>
          <p:nvPr/>
        </p:nvSpPr>
        <p:spPr>
          <a:xfrm>
            <a:off x="0" y="4223372"/>
            <a:ext cx="1154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input.mp4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258E1-799D-51CA-FD0D-6BEB2C504C47}"/>
              </a:ext>
            </a:extLst>
          </p:cNvPr>
          <p:cNvSpPr txBox="1"/>
          <p:nvPr/>
        </p:nvSpPr>
        <p:spPr>
          <a:xfrm>
            <a:off x="10908485" y="4193453"/>
            <a:ext cx="120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output.mkv</a:t>
            </a:r>
            <a:endParaRPr lang="en-US" sz="16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AA5E15C-7289-42F6-95B7-11626CDFC251}"/>
              </a:ext>
            </a:extLst>
          </p:cNvPr>
          <p:cNvGrpSpPr/>
          <p:nvPr/>
        </p:nvGrpSpPr>
        <p:grpSpPr>
          <a:xfrm>
            <a:off x="1360235" y="3444589"/>
            <a:ext cx="842038" cy="669632"/>
            <a:chOff x="2000250" y="5562600"/>
            <a:chExt cx="1149825" cy="9144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68F35E-7716-D447-6D63-CE8A0343B041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47A455B-4C52-62BF-497E-9DC5E755D574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9478C9AC-9362-8A57-1799-FD691A6936FD}"/>
              </a:ext>
            </a:extLst>
          </p:cNvPr>
          <p:cNvSpPr/>
          <p:nvPr/>
        </p:nvSpPr>
        <p:spPr>
          <a:xfrm>
            <a:off x="3703537" y="2549103"/>
            <a:ext cx="851496" cy="669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Video</a:t>
            </a:r>
          </a:p>
          <a:p>
            <a:pPr algn="ctr"/>
            <a:r>
              <a:rPr lang="en-US" sz="1400" dirty="0"/>
              <a:t>Decoder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9CD7B8-43EB-AFB4-48AF-CC74A082997D}"/>
              </a:ext>
            </a:extLst>
          </p:cNvPr>
          <p:cNvSpPr/>
          <p:nvPr/>
        </p:nvSpPr>
        <p:spPr>
          <a:xfrm>
            <a:off x="3707914" y="4309396"/>
            <a:ext cx="851496" cy="672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Audio</a:t>
            </a:r>
          </a:p>
          <a:p>
            <a:pPr algn="ctr"/>
            <a:r>
              <a:rPr lang="en-US" sz="1400" dirty="0"/>
              <a:t>Decoder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93B618-CAFD-8D87-6669-65F07DAD83F9}"/>
              </a:ext>
            </a:extLst>
          </p:cNvPr>
          <p:cNvGrpSpPr/>
          <p:nvPr/>
        </p:nvGrpSpPr>
        <p:grpSpPr>
          <a:xfrm>
            <a:off x="9903685" y="3474984"/>
            <a:ext cx="842038" cy="669632"/>
            <a:chOff x="4097742" y="5562599"/>
            <a:chExt cx="1149825" cy="9144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C8BBB3B-C76F-30A7-1597-A3793BDFB5A3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5B26704-621C-B30B-BDA6-0219904951F7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2F3E9-5FC6-261C-17D9-B12F9262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97349-7B19-26B0-0096-86B3CBA08137}"/>
              </a:ext>
            </a:extLst>
          </p:cNvPr>
          <p:cNvSpPr txBox="1"/>
          <p:nvPr/>
        </p:nvSpPr>
        <p:spPr>
          <a:xfrm>
            <a:off x="3703537" y="2015243"/>
            <a:ext cx="8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H.264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7810A-B7BB-2642-DAE7-2C23ED0AF4D7}"/>
              </a:ext>
            </a:extLst>
          </p:cNvPr>
          <p:cNvSpPr txBox="1"/>
          <p:nvPr/>
        </p:nvSpPr>
        <p:spPr>
          <a:xfrm>
            <a:off x="7568339" y="2006179"/>
            <a:ext cx="85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85AF6-69BB-22FC-D30B-A5DD4A87CC6A}"/>
              </a:ext>
            </a:extLst>
          </p:cNvPr>
          <p:cNvSpPr txBox="1"/>
          <p:nvPr/>
        </p:nvSpPr>
        <p:spPr>
          <a:xfrm>
            <a:off x="7610986" y="5122237"/>
            <a:ext cx="85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AAC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3C41F-FFF7-FCC4-0506-98332F4B8E3E}"/>
              </a:ext>
            </a:extLst>
          </p:cNvPr>
          <p:cNvSpPr txBox="1"/>
          <p:nvPr/>
        </p:nvSpPr>
        <p:spPr>
          <a:xfrm>
            <a:off x="3703537" y="5131301"/>
            <a:ext cx="85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AAC</a:t>
            </a:r>
          </a:p>
        </p:txBody>
      </p:sp>
      <p:pic>
        <p:nvPicPr>
          <p:cNvPr id="17" name="Graphic 16" descr="Music with solid fill">
            <a:extLst>
              <a:ext uri="{FF2B5EF4-FFF2-40B4-BE49-F238E27FC236}">
                <a16:creationId xmlns:a16="http://schemas.microsoft.com/office/drawing/2014/main" id="{CE6228C8-C65C-34AD-DD48-CF681F9F9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87772" y="4311794"/>
            <a:ext cx="669632" cy="669632"/>
          </a:xfrm>
          <a:prstGeom prst="rect">
            <a:avLst/>
          </a:prstGeom>
        </p:spPr>
      </p:pic>
      <p:pic>
        <p:nvPicPr>
          <p:cNvPr id="18" name="Graphic 17" descr="Image outline">
            <a:extLst>
              <a:ext uri="{FF2B5EF4-FFF2-40B4-BE49-F238E27FC236}">
                <a16:creationId xmlns:a16="http://schemas.microsoft.com/office/drawing/2014/main" id="{8CCC5FB2-AF19-E021-EB6A-66BF2DC12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3777" y="2560584"/>
            <a:ext cx="669632" cy="66963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1757B36-5A64-5285-7737-207D15B98582}"/>
              </a:ext>
            </a:extLst>
          </p:cNvPr>
          <p:cNvSpPr/>
          <p:nvPr/>
        </p:nvSpPr>
        <p:spPr>
          <a:xfrm>
            <a:off x="7568339" y="2530189"/>
            <a:ext cx="851496" cy="669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Video</a:t>
            </a:r>
          </a:p>
          <a:p>
            <a:pPr algn="ctr"/>
            <a:r>
              <a:rPr lang="en-US" sz="1400" dirty="0"/>
              <a:t>Encoder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56E87E-BD39-CABF-A5D9-2C31FD3EA53F}"/>
              </a:ext>
            </a:extLst>
          </p:cNvPr>
          <p:cNvSpPr/>
          <p:nvPr/>
        </p:nvSpPr>
        <p:spPr>
          <a:xfrm>
            <a:off x="7610985" y="4308056"/>
            <a:ext cx="851496" cy="669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Audio</a:t>
            </a:r>
          </a:p>
          <a:p>
            <a:pPr algn="ctr"/>
            <a:r>
              <a:rPr lang="en-US" sz="1400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007B72-989D-5F55-CA05-A7886D51C1C9}"/>
              </a:ext>
            </a:extLst>
          </p:cNvPr>
          <p:cNvSpPr/>
          <p:nvPr/>
        </p:nvSpPr>
        <p:spPr>
          <a:xfrm>
            <a:off x="5769682" y="2549103"/>
            <a:ext cx="831867" cy="669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Video Filters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ED2483-2C19-B6F2-3723-F864027C0BE3}"/>
              </a:ext>
            </a:extLst>
          </p:cNvPr>
          <p:cNvSpPr/>
          <p:nvPr/>
        </p:nvSpPr>
        <p:spPr>
          <a:xfrm>
            <a:off x="5769682" y="4311795"/>
            <a:ext cx="831867" cy="669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Audio Filters</a:t>
            </a:r>
          </a:p>
        </p:txBody>
      </p:sp>
    </p:spTree>
    <p:extLst>
      <p:ext uri="{BB962C8B-B14F-4D97-AF65-F5344CB8AC3E}">
        <p14:creationId xmlns:p14="http://schemas.microsoft.com/office/powerpoint/2010/main" val="26343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756 -0.12547 L 4.58333E-6 3.7037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78" y="62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56 0.12801 L 2.08333E-7 -2.22222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-6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7037E-6 L 0.07148 0.0002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22222E-6 L 0.0737 -0.00208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5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474 0.00047 L -3.95833E-6 -2.22222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7" y="-2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682 3.7037E-6 L 1.66667E-6 3.7037E-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22222E-6 L 0.06823 -0.00162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1" y="-9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06263 3.7037E-6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081 -0.00162 L -2.08333E-7 -2.22222E-6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69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197 -0.00139 L -4.79167E-6 3.7037E-6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xit" presetSubtype="3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22222E-6 L 0.05964 -0.00162 " pathEditMode="relative" rAng="0" ptsTypes="AA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2" y="-93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6 L 0.06185 -0.0007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018 0.00116 L 2.70833E-6 -3.33333E-6 " pathEditMode="relative" rAng="0" ptsTypes="AA">
                                      <p:cBhvr>
                                        <p:cTn id="10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3" y="-69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747 -4.07407E-6 L -4.375E-6 -4.07407E-6 " pathEditMode="relative" rAng="0" ptsTypes="AA">
                                      <p:cBhvr>
                                        <p:cTn id="1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33333E-6 L 0.10143 -0.12847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5" y="-6435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07407E-6 L 0.10105 0.1375 " pathEditMode="relative" rAng="0" ptsTypes="AA">
                                      <p:cBhvr>
                                        <p:cTn id="1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391B-CFCF-E3FB-8530-46FDE3DF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FCA5-040C-87E0-38CA-2D48CA85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FFmpeg C API: </a:t>
            </a:r>
            <a:r>
              <a:rPr lang="ru-RU" dirty="0"/>
              <a:t>ручное управление ресурсами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448DD-8B22-6180-FC1A-97D6A47D2C1C}"/>
              </a:ext>
            </a:extLst>
          </p:cNvPr>
          <p:cNvSpPr txBox="1"/>
          <p:nvPr/>
        </p:nvSpPr>
        <p:spPr>
          <a:xfrm>
            <a:off x="838200" y="1690688"/>
            <a:ext cx="10515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AVFormatContext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avformat_open_input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video.mp4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Открываем файл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input video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av_packet_alloc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Аллоцируем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пакет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allocation failed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av_read_frame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Читаем пакет из файла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failed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 с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packet ...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av_packet_free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Освобождаем пакет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avformat_close_input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Закрываем файл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4976E8-C1AD-E13F-C1A0-9E71E208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84C2-F8A5-3036-D12B-FC587BBE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FFmpeg C API: </a:t>
            </a:r>
            <a:r>
              <a:rPr lang="ru-RU" dirty="0"/>
              <a:t>ручное управление ресурсами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8D0C60-6A5D-4915-45D3-594B00A21CA9}"/>
              </a:ext>
            </a:extLst>
          </p:cNvPr>
          <p:cNvSpPr txBox="1"/>
          <p:nvPr/>
        </p:nvSpPr>
        <p:spPr>
          <a:xfrm>
            <a:off x="838200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AVFormatContext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avformat_open_input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video.mp4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Открываем файл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input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video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av_packet_alloc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Аллоцируем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пакет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avformat_close_input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❗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allocation failed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av_read_frame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Читаем пакет из файла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av_packet_free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             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❗</a:t>
            </a:r>
            <a:endParaRPr lang="en-US" sz="1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b="1" dirty="0" err="1">
                <a:solidFill>
                  <a:srgbClr val="74531F"/>
                </a:solidFill>
                <a:latin typeface="Consolas" panose="020B0609020204030204" pitchFamily="49" charset="0"/>
              </a:rPr>
              <a:t>avformat_close_input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400" b="1" dirty="0" err="1">
                <a:solidFill>
                  <a:srgbClr val="1F377F"/>
                </a:solidFill>
                <a:latin typeface="Consolas" panose="020B0609020204030204" pitchFamily="49" charset="0"/>
              </a:rPr>
              <a:t>inputContext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❗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failed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 с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packet ...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av_packet_free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Освобождаем пакет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avformat_close_input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inputContext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Закрываем файл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5472B-A731-4745-2F5A-6E00B510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57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4759-025E-F1EC-C6D3-F62774B0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Безопасная интеграция с </a:t>
            </a:r>
            <a:r>
              <a:rPr lang="en-US" dirty="0"/>
              <a:t>C API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42474-6624-84CA-516E-6EE7B7FA7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73BBD-CB4D-261F-7E43-5085DB9F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551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E213E3-9727-6526-4445-60B887A5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при проектировании </a:t>
            </a:r>
            <a:r>
              <a:rPr lang="en-US" dirty="0"/>
              <a:t>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2B38-6411-6A4F-DE79-CCDA2838E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Современный C++</a:t>
            </a:r>
            <a:r>
              <a:rPr lang="en-US" dirty="0"/>
              <a:t> 23</a:t>
            </a:r>
            <a:endParaRPr lang="ru-RU" dirty="0"/>
          </a:p>
          <a:p>
            <a:pPr lvl="1"/>
            <a:r>
              <a:rPr lang="ru-RU" dirty="0"/>
              <a:t>C++ </a:t>
            </a:r>
            <a:r>
              <a:rPr lang="ru-RU" dirty="0" err="1"/>
              <a:t>modules</a:t>
            </a:r>
            <a:r>
              <a:rPr lang="ru-RU" dirty="0"/>
              <a:t> вместо #include </a:t>
            </a:r>
          </a:p>
          <a:p>
            <a:r>
              <a:rPr lang="ru-RU" dirty="0"/>
              <a:t>Безопасность</a:t>
            </a:r>
          </a:p>
          <a:p>
            <a:pPr lvl="1"/>
            <a:r>
              <a:rPr lang="ru-RU" dirty="0"/>
              <a:t>RAII для управления ресурсами </a:t>
            </a:r>
          </a:p>
          <a:p>
            <a:r>
              <a:rPr lang="ru-RU" dirty="0"/>
              <a:t>Производительность</a:t>
            </a:r>
          </a:p>
          <a:p>
            <a:pPr lvl="1"/>
            <a:r>
              <a:rPr lang="ru-RU" dirty="0"/>
              <a:t>“тонкие” обёртки</a:t>
            </a:r>
          </a:p>
          <a:p>
            <a:r>
              <a:rPr lang="ru-RU" dirty="0"/>
              <a:t>Изоляция FFmpeg</a:t>
            </a:r>
          </a:p>
          <a:p>
            <a:pPr lvl="1"/>
            <a:r>
              <a:rPr lang="ru-RU" dirty="0"/>
              <a:t>скрыть C API за модулем </a:t>
            </a:r>
          </a:p>
          <a:p>
            <a:pPr lvl="1"/>
            <a:r>
              <a:rPr lang="ru-RU" dirty="0"/>
              <a:t>не распространять детали реализации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C3CE88-39B0-4CA7-A6DE-F6BBF5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2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AEBC-DF02-7EB0-882C-6E14478F4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03BBE3-B3C9-B34E-D0A5-0284A511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C++ 20 modules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75E9466-9E83-98B2-62C6-99E71EB5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6486"/>
          </a:xfrm>
        </p:spPr>
        <p:txBody>
          <a:bodyPr/>
          <a:lstStyle/>
          <a:p>
            <a:r>
              <a:rPr lang="ru-RU" dirty="0"/>
              <a:t>Модуль = Интерфейс + Реализация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53F12-AFCC-B040-0214-00CA2BF1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16</a:t>
            </a:fld>
            <a:endParaRPr lang="en-US"/>
          </a:p>
        </p:txBody>
      </p:sp>
      <p:sp>
        <p:nvSpPr>
          <p:cNvPr id="7" name="!! Interface GMF">
            <a:extLst>
              <a:ext uri="{FF2B5EF4-FFF2-40B4-BE49-F238E27FC236}">
                <a16:creationId xmlns:a16="http://schemas.microsoft.com/office/drawing/2014/main" id="{1CF2393E-DC9B-7808-13B0-D430AA464980}"/>
              </a:ext>
            </a:extLst>
          </p:cNvPr>
          <p:cNvSpPr txBox="1"/>
          <p:nvPr/>
        </p:nvSpPr>
        <p:spPr>
          <a:xfrm>
            <a:off x="838200" y="2662111"/>
            <a:ext cx="3966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module.ixx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– interface unit</a:t>
            </a: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!! Implementation GMF">
            <a:extLst>
              <a:ext uri="{FF2B5EF4-FFF2-40B4-BE49-F238E27FC236}">
                <a16:creationId xmlns:a16="http://schemas.microsoft.com/office/drawing/2014/main" id="{20146FB7-15B8-1E49-A333-BDD7CA1B0098}"/>
              </a:ext>
            </a:extLst>
          </p:cNvPr>
          <p:cNvSpPr txBox="1"/>
          <p:nvPr/>
        </p:nvSpPr>
        <p:spPr>
          <a:xfrm>
            <a:off x="6284688" y="2662111"/>
            <a:ext cx="5297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module.c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pp -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implementation unit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!! Interface">
            <a:extLst>
              <a:ext uri="{FF2B5EF4-FFF2-40B4-BE49-F238E27FC236}">
                <a16:creationId xmlns:a16="http://schemas.microsoft.com/office/drawing/2014/main" id="{10C29EAC-7F93-FBF5-A51C-0CEC8386F532}"/>
              </a:ext>
            </a:extLst>
          </p:cNvPr>
          <p:cNvSpPr txBox="1"/>
          <p:nvPr/>
        </p:nvSpPr>
        <p:spPr>
          <a:xfrm>
            <a:off x="838199" y="3000665"/>
            <a:ext cx="39660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module 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my_module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 … };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m_packet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!! Implementation">
            <a:extLst>
              <a:ext uri="{FF2B5EF4-FFF2-40B4-BE49-F238E27FC236}">
                <a16:creationId xmlns:a16="http://schemas.microsoft.com/office/drawing/2014/main" id="{FC3BDCB1-019F-C7DF-58B5-18B1D9B8753C}"/>
              </a:ext>
            </a:extLst>
          </p:cNvPr>
          <p:cNvSpPr txBox="1"/>
          <p:nvPr/>
        </p:nvSpPr>
        <p:spPr>
          <a:xfrm>
            <a:off x="6313716" y="3031444"/>
            <a:ext cx="52686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 </a:t>
            </a:r>
            <a:r>
              <a:rPr lang="en-US" sz="1800" dirty="0" err="1">
                <a:solidFill>
                  <a:srgbClr val="1F377F"/>
                </a:solidFill>
                <a:latin typeface="Consolas" panose="020B0609020204030204" pitchFamily="49" charset="0"/>
              </a:rPr>
              <a:t>my_module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74531F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8562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EA52-A67A-A374-B5F9-6A0CFB5D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74A34F-AE25-1407-38EF-19AA9F72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C++ 20 modules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AC289E-6AD6-6071-9EBC-592EF7E0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6486"/>
          </a:xfrm>
        </p:spPr>
        <p:txBody>
          <a:bodyPr/>
          <a:lstStyle/>
          <a:p>
            <a:r>
              <a:rPr lang="ru-RU" dirty="0"/>
              <a:t>Модуль = Интерфейс + Реализация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7140F-BEC4-3366-B24A-D383307D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17</a:t>
            </a:fld>
            <a:endParaRPr lang="en-US"/>
          </a:p>
        </p:txBody>
      </p:sp>
      <p:sp>
        <p:nvSpPr>
          <p:cNvPr id="7" name="!! Interface GMF">
            <a:extLst>
              <a:ext uri="{FF2B5EF4-FFF2-40B4-BE49-F238E27FC236}">
                <a16:creationId xmlns:a16="http://schemas.microsoft.com/office/drawing/2014/main" id="{8D04876B-AE53-82F0-6147-CE5078F59037}"/>
              </a:ext>
            </a:extLst>
          </p:cNvPr>
          <p:cNvSpPr txBox="1"/>
          <p:nvPr/>
        </p:nvSpPr>
        <p:spPr>
          <a:xfrm>
            <a:off x="838200" y="2662111"/>
            <a:ext cx="39660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module.ixx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– interface unit</a:t>
            </a: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some_lib.hpp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!! Implementation GMF">
            <a:extLst>
              <a:ext uri="{FF2B5EF4-FFF2-40B4-BE49-F238E27FC236}">
                <a16:creationId xmlns:a16="http://schemas.microsoft.com/office/drawing/2014/main" id="{CB66EBEE-B44B-3939-669F-2B92B8AB6784}"/>
              </a:ext>
            </a:extLst>
          </p:cNvPr>
          <p:cNvSpPr txBox="1"/>
          <p:nvPr/>
        </p:nvSpPr>
        <p:spPr>
          <a:xfrm>
            <a:off x="6284688" y="2662111"/>
            <a:ext cx="55116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module.c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pp -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implementation unit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some_other_lib.hpp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8AB2B1-F649-6A32-A7AF-06123B580BC2}"/>
              </a:ext>
            </a:extLst>
          </p:cNvPr>
          <p:cNvGrpSpPr/>
          <p:nvPr/>
        </p:nvGrpSpPr>
        <p:grpSpPr>
          <a:xfrm>
            <a:off x="4397828" y="2966601"/>
            <a:ext cx="1480457" cy="1024828"/>
            <a:chOff x="4397828" y="2966601"/>
            <a:chExt cx="1480457" cy="1024828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BDB85C05-D5BE-F7D6-0E40-957FB3FA6251}"/>
                </a:ext>
              </a:extLst>
            </p:cNvPr>
            <p:cNvSpPr/>
            <p:nvPr/>
          </p:nvSpPr>
          <p:spPr>
            <a:xfrm>
              <a:off x="4397828" y="2966601"/>
              <a:ext cx="377371" cy="1024828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3DEDCE-53BA-0F68-933F-AD588F6B6FF8}"/>
                </a:ext>
              </a:extLst>
            </p:cNvPr>
            <p:cNvSpPr txBox="1"/>
            <p:nvPr/>
          </p:nvSpPr>
          <p:spPr>
            <a:xfrm>
              <a:off x="4804228" y="2966602"/>
              <a:ext cx="10740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Global module fragment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7F54F0-5BEF-D738-29D2-888153CDA61F}"/>
              </a:ext>
            </a:extLst>
          </p:cNvPr>
          <p:cNvGrpSpPr/>
          <p:nvPr/>
        </p:nvGrpSpPr>
        <p:grpSpPr>
          <a:xfrm>
            <a:off x="10428444" y="2966601"/>
            <a:ext cx="1462384" cy="1024827"/>
            <a:chOff x="10428444" y="2966601"/>
            <a:chExt cx="1462384" cy="1024827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D3052C5B-6738-E548-CEC5-405FA84FE449}"/>
                </a:ext>
              </a:extLst>
            </p:cNvPr>
            <p:cNvSpPr/>
            <p:nvPr/>
          </p:nvSpPr>
          <p:spPr>
            <a:xfrm>
              <a:off x="10428444" y="2966601"/>
              <a:ext cx="377371" cy="1024827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11D4A9-6F2F-FDB1-85EA-370DD2EE5948}"/>
                </a:ext>
              </a:extLst>
            </p:cNvPr>
            <p:cNvSpPr txBox="1"/>
            <p:nvPr/>
          </p:nvSpPr>
          <p:spPr>
            <a:xfrm>
              <a:off x="10816771" y="2966602"/>
              <a:ext cx="10740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Global module fragment</a:t>
              </a:r>
            </a:p>
          </p:txBody>
        </p:sp>
      </p:grpSp>
      <p:sp>
        <p:nvSpPr>
          <p:cNvPr id="3" name="!! Interface">
            <a:extLst>
              <a:ext uri="{FF2B5EF4-FFF2-40B4-BE49-F238E27FC236}">
                <a16:creationId xmlns:a16="http://schemas.microsoft.com/office/drawing/2014/main" id="{B9881BA5-6CA5-A1FD-DC15-B552F3C481EC}"/>
              </a:ext>
            </a:extLst>
          </p:cNvPr>
          <p:cNvSpPr txBox="1"/>
          <p:nvPr/>
        </p:nvSpPr>
        <p:spPr>
          <a:xfrm>
            <a:off x="838200" y="3859153"/>
            <a:ext cx="39660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module 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my_module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 … };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m_packet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!! Implementation">
            <a:extLst>
              <a:ext uri="{FF2B5EF4-FFF2-40B4-BE49-F238E27FC236}">
                <a16:creationId xmlns:a16="http://schemas.microsoft.com/office/drawing/2014/main" id="{3C8227C9-634F-25AF-218E-4F5F46B71EBE}"/>
              </a:ext>
            </a:extLst>
          </p:cNvPr>
          <p:cNvSpPr txBox="1"/>
          <p:nvPr/>
        </p:nvSpPr>
        <p:spPr>
          <a:xfrm>
            <a:off x="6313717" y="388993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 </a:t>
            </a:r>
            <a:r>
              <a:rPr lang="en-US" sz="1800" dirty="0" err="1">
                <a:solidFill>
                  <a:srgbClr val="1F377F"/>
                </a:solidFill>
                <a:latin typeface="Consolas" panose="020B0609020204030204" pitchFamily="49" charset="0"/>
              </a:rPr>
              <a:t>my_module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74531F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NonExportedClass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ExportedClass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2330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B7B8-89A7-E458-AE99-8240CA6A1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</a:t>
            </a:r>
            <a:r>
              <a:rPr lang="ru-RU" dirty="0"/>
              <a:t> </a:t>
            </a:r>
            <a:r>
              <a:rPr lang="en-US" dirty="0"/>
              <a:t>header</a:t>
            </a:r>
            <a:r>
              <a:rPr lang="ru-RU" dirty="0"/>
              <a:t> для </a:t>
            </a:r>
            <a:r>
              <a:rPr lang="en-US" dirty="0"/>
              <a:t>C-</a:t>
            </a:r>
            <a:r>
              <a:rPr lang="ru-RU" dirty="0"/>
              <a:t>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5D30F-50DE-51E1-E6A3-D2D83FF47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FFmpeg — C API </a:t>
            </a:r>
          </a:p>
          <a:p>
            <a:pPr lvl="1"/>
            <a:r>
              <a:rPr lang="ru-RU" dirty="0"/>
              <a:t>Заголовки не </a:t>
            </a:r>
            <a:r>
              <a:rPr lang="en-US" dirty="0"/>
              <a:t>C++ friendly</a:t>
            </a:r>
          </a:p>
          <a:p>
            <a:pPr lvl="1"/>
            <a:r>
              <a:rPr lang="ru-RU" dirty="0"/>
              <a:t>Интеграция с </a:t>
            </a:r>
            <a:r>
              <a:rPr lang="en-US" dirty="0"/>
              <a:t>C++ - </a:t>
            </a:r>
            <a:r>
              <a:rPr lang="ru-RU" dirty="0"/>
              <a:t>забота интегратора, а не библиотеки</a:t>
            </a:r>
          </a:p>
          <a:p>
            <a:r>
              <a:rPr lang="ru-RU" dirty="0"/>
              <a:t>Решение: </a:t>
            </a:r>
            <a:r>
              <a:rPr lang="en-US" dirty="0"/>
              <a:t>extern "C"</a:t>
            </a:r>
          </a:p>
          <a:p>
            <a:pPr lvl="1"/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extern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C</a:t>
            </a:r>
            <a:r>
              <a:rPr lang="en-US" sz="2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E21F1F"/>
                </a:solidFill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libavcodec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/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packet.h</a:t>
            </a:r>
            <a:r>
              <a:rPr lang="en-US" sz="2200" dirty="0">
                <a:solidFill>
                  <a:srgbClr val="E21F1F"/>
                </a:solidFill>
                <a:latin typeface="Consolas" panose="020B0609020204030204" pitchFamily="49" charset="0"/>
              </a:rPr>
              <a:t>&gt;</a:t>
            </a:r>
            <a:br>
              <a:rPr lang="en-US" sz="2200" dirty="0">
                <a:solidFill>
                  <a:srgbClr val="E21F1F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Проблема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global module fragment</a:t>
            </a:r>
            <a:r>
              <a:rPr lang="ru-RU" dirty="0"/>
              <a:t> могут быть только директивы препроцессора</a:t>
            </a:r>
          </a:p>
          <a:p>
            <a:r>
              <a:rPr lang="ru-RU" dirty="0"/>
              <a:t>Решение – </a:t>
            </a:r>
            <a:r>
              <a:rPr lang="en-US" dirty="0"/>
              <a:t>bridge header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BDD60-8CAA-9748-709A-316A632BC9BF}"/>
              </a:ext>
            </a:extLst>
          </p:cNvPr>
          <p:cNvSpPr txBox="1"/>
          <p:nvPr/>
        </p:nvSpPr>
        <p:spPr>
          <a:xfrm>
            <a:off x="6571211" y="1825625"/>
            <a:ext cx="47825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packet.hpp</a:t>
            </a:r>
            <a:endParaRPr lang="ru-RU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once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libavcodec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packet.h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458A6-5A84-1793-8865-400379CC90DA}"/>
              </a:ext>
            </a:extLst>
          </p:cNvPr>
          <p:cNvSpPr txBox="1"/>
          <p:nvPr/>
        </p:nvSpPr>
        <p:spPr>
          <a:xfrm>
            <a:off x="6571211" y="4001294"/>
            <a:ext cx="47825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packet.ixx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packet.hpp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module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2ACB6-61F9-D3D5-0FBE-49BEA64E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3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9320EA-E0A7-7949-527D-15D288B2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Packet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52676-B9D6-DB00-D145-18705FF815B5}"/>
              </a:ext>
            </a:extLst>
          </p:cNvPr>
          <p:cNvSpPr txBox="1"/>
          <p:nvPr/>
        </p:nvSpPr>
        <p:spPr>
          <a:xfrm>
            <a:off x="838200" y="1690688"/>
            <a:ext cx="10134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packet.ixx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/packet.hpp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cassert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module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std;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Packet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Создаёт пустой пакет (без данных)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Packet{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 }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Создаёт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Null Packet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(используется как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EOF-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маркер)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nullptr_t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{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Deleter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av_packet_free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(&amp;packet);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unique_ptr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AVPacket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Deleter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ffmpeg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40DFB-31C4-BCDB-E612-1CAA650638FD}"/>
              </a:ext>
            </a:extLst>
          </p:cNvPr>
          <p:cNvSpPr txBox="1"/>
          <p:nvPr/>
        </p:nvSpPr>
        <p:spPr>
          <a:xfrm>
            <a:off x="8770512" y="1690688"/>
            <a:ext cx="32454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packet.hpp</a:t>
            </a:r>
            <a:endParaRPr lang="en-US" sz="14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once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libavcodec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packet.h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31B7E-203F-435B-31DB-33085739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19</a:t>
            </a:fld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408A50-4B6F-6198-F1A3-E7E1F0FF9015}"/>
              </a:ext>
            </a:extLst>
          </p:cNvPr>
          <p:cNvCxnSpPr/>
          <p:nvPr/>
        </p:nvCxnSpPr>
        <p:spPr>
          <a:xfrm>
            <a:off x="3530600" y="2336800"/>
            <a:ext cx="50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2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1000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1000" fill="hold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1000" fill="hold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C44D-4694-BBB9-1220-1F54E32E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C665AB-D2CD-69D9-B0D3-79E5AE8A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Packet (</a:t>
            </a:r>
            <a:r>
              <a:rPr lang="ru-RU" dirty="0"/>
              <a:t>продолжение)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4C4A4-EB59-D0E2-2202-135E671029D7}"/>
              </a:ext>
            </a:extLst>
          </p:cNvPr>
          <p:cNvSpPr txBox="1"/>
          <p:nvPr/>
        </p:nvSpPr>
        <p:spPr>
          <a:xfrm>
            <a:off x="838200" y="1819275"/>
            <a:ext cx="11061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Packet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[[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!=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C++ 23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«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deducing this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»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[[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-&gt;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conditional_t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is_const_v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*,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AVPacket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[[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operator*(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!=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[[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operator-&gt;(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!=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unique_ptr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AVPacket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Deleter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m_packet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DB23BC-1D5D-9C33-C24F-31A46F0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224B3-2B89-C20E-4794-C44C9221D8B8}"/>
              </a:ext>
            </a:extLst>
          </p:cNvPr>
          <p:cNvSpPr txBox="1"/>
          <p:nvPr/>
        </p:nvSpPr>
        <p:spPr>
          <a:xfrm>
            <a:off x="7404100" y="1626056"/>
            <a:ext cx="4572000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AVPacket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[[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nodiscard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]]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AVPacket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self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m_packet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82C0F3-9FD8-9153-5ECF-FEEDF3968E96}"/>
              </a:ext>
            </a:extLst>
          </p:cNvPr>
          <p:cNvCxnSpPr>
            <a:cxnSpLocks/>
          </p:cNvCxnSpPr>
          <p:nvPr/>
        </p:nvCxnSpPr>
        <p:spPr>
          <a:xfrm flipV="1">
            <a:off x="5926238" y="2476500"/>
            <a:ext cx="1312762" cy="857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97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8E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718E-245E-A317-13C1-FBA1210B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реализации модуля</a:t>
            </a:r>
            <a:r>
              <a:rPr lang="en-US" dirty="0"/>
              <a:t> </a:t>
            </a:r>
            <a:r>
              <a:rPr lang="en-US" dirty="0" err="1"/>
              <a:t>ffmpeg.packet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2F395-B653-BB2C-8BDF-99A65CDC3886}"/>
              </a:ext>
            </a:extLst>
          </p:cNvPr>
          <p:cNvSpPr txBox="1"/>
          <p:nvPr/>
        </p:nvSpPr>
        <p:spPr>
          <a:xfrm>
            <a:off x="838200" y="2017780"/>
            <a:ext cx="10515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packet.cpp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module;</a:t>
            </a: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packet.hpp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error.hpp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cerrno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ffmpeg.packet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ffmpeg.error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std;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Packet::Packet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av_packet_alloc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[[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unlikely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ThrowFFmpegNoMem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av_packet_alloc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ffmpeg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ADA26-00A0-7A92-5046-9B6165E0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56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E058-FF7D-0D2B-8549-6CA473D0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Стратегия обработки ошибок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122A1-E3C3-694A-1F6B-142C62E28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Два механизма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expected</a:t>
            </a:r>
            <a:r>
              <a:rPr lang="ru-RU" dirty="0"/>
              <a:t> для </a:t>
            </a:r>
            <a:r>
              <a:rPr lang="ru-RU" dirty="0" err="1"/>
              <a:t>Try</a:t>
            </a:r>
            <a:r>
              <a:rPr lang="ru-RU" dirty="0"/>
              <a:t>*-методов </a:t>
            </a:r>
          </a:p>
          <a:p>
            <a:pPr lvl="1"/>
            <a:r>
              <a:rPr lang="ru-RU" dirty="0"/>
              <a:t>исключения — только в конструкторах </a:t>
            </a:r>
          </a:p>
          <a:p>
            <a:r>
              <a:rPr lang="ru-RU" dirty="0"/>
              <a:t>Почему так</a:t>
            </a:r>
          </a:p>
          <a:p>
            <a:pPr lvl="1"/>
            <a:r>
              <a:rPr lang="ru-RU" dirty="0"/>
              <a:t>ошибка должна быть явно обработана </a:t>
            </a:r>
          </a:p>
          <a:p>
            <a:pPr lvl="1"/>
            <a:r>
              <a:rPr lang="ru-RU" dirty="0"/>
              <a:t>[[</a:t>
            </a:r>
            <a:r>
              <a:rPr lang="ru-RU" dirty="0" err="1"/>
              <a:t>nodiscard</a:t>
            </a:r>
            <a:r>
              <a:rPr lang="ru-RU" dirty="0"/>
              <a:t>]] защищает от игнорирования </a:t>
            </a:r>
          </a:p>
          <a:p>
            <a:pPr lvl="1"/>
            <a:r>
              <a:rPr lang="ru-RU" dirty="0"/>
              <a:t>нет исключений в обычном потоке управления</a:t>
            </a:r>
          </a:p>
          <a:p>
            <a:pPr lvl="1"/>
            <a:r>
              <a:rPr lang="ru-RU" dirty="0"/>
              <a:t>нельзя получить некорректно сконструированный объект </a:t>
            </a:r>
          </a:p>
          <a:p>
            <a:r>
              <a:rPr lang="ru-RU" dirty="0"/>
              <a:t>Дополнительно</a:t>
            </a:r>
          </a:p>
          <a:p>
            <a:pPr lvl="1"/>
            <a:r>
              <a:rPr lang="ru-RU" dirty="0"/>
              <a:t>в некоторых классах есть </a:t>
            </a:r>
            <a:r>
              <a:rPr lang="ru-RU" dirty="0" err="1"/>
              <a:t>throwing</a:t>
            </a:r>
            <a:r>
              <a:rPr lang="ru-RU" dirty="0"/>
              <a:t>-обёртки над </a:t>
            </a:r>
            <a:r>
              <a:rPr lang="ru-RU" dirty="0" err="1"/>
              <a:t>Try</a:t>
            </a:r>
            <a:r>
              <a:rPr lang="ru-RU" dirty="0"/>
              <a:t>* </a:t>
            </a:r>
          </a:p>
          <a:p>
            <a:pPr lvl="1"/>
            <a:r>
              <a:rPr lang="ru-RU" dirty="0"/>
              <a:t>можно выбрать стиль: </a:t>
            </a:r>
            <a:r>
              <a:rPr lang="ru-RU" dirty="0" err="1"/>
              <a:t>expected</a:t>
            </a:r>
            <a:r>
              <a:rPr lang="ru-RU" dirty="0"/>
              <a:t> или </a:t>
            </a:r>
            <a:r>
              <a:rPr lang="ru-RU" dirty="0" err="1"/>
              <a:t>exceptions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64F3C-4282-6B94-1AC6-9AB87AD4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9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F69096-AD5F-70E5-96D6-E0DDE9ED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информации об ошибках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CBF6E-D826-B088-9E22-AD45B011B6C0}"/>
              </a:ext>
            </a:extLst>
          </p:cNvPr>
          <p:cNvSpPr txBox="1"/>
          <p:nvPr/>
        </p:nvSpPr>
        <p:spPr>
          <a:xfrm>
            <a:off x="189098" y="1595021"/>
            <a:ext cx="1181380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ffmpeg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code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where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code ==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fr-FR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error_code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ToErrorCode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fr-F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Error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MakeError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code,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 where) 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 .code = code, .where = where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[[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nodiscard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std::unexpected&lt;Error&gt;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MakeUnexpected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code,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 where)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std::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unexpected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Error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&gt;(std::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in_place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code, where);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[[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nodiscard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std::expected&lt;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Error&gt;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ExpectedFromErrorCode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code,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 where)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(code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[[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unlikely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]] {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MakeUnexpected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(code, where); }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namespace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ffmpeg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11B9D5-638B-2FDB-7AB6-74069804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99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4EAC-840A-1BF6-FB1C-E14A5E56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Смешанный подход к возврату ошибок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B22C5-6ADB-8A01-9F00-17AFC84143C7}"/>
              </a:ext>
            </a:extLst>
          </p:cNvPr>
          <p:cNvSpPr txBox="1"/>
          <p:nvPr/>
        </p:nvSpPr>
        <p:spPr>
          <a:xfrm>
            <a:off x="264884" y="2024517"/>
            <a:ext cx="119271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Возвращает ссылку на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exp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, либо бросает исключение</a:t>
            </a:r>
            <a:b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Expected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decltype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Check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Expected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exp);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OutputFormatContext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TryWritePacket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AVPacket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    assert(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m_ctx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    assert(!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m_state.closed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&amp;&amp; "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OutputFormatContext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TryWritePacket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(closed)");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    assert(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m_state.headerWritten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&amp;&amp; "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TryWritePacket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 called before header");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ExpectedFromErrorCode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av_interleaved_write_frame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m_ctx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&amp;packet),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av_interleaved_write_frame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OutputFormatContext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WritePacket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AVPacket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packet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Check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TryWritePacket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packet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6F654D-B3B0-7968-E9E7-3091CF77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98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1ED9C0-6E91-93FA-2D02-22D30A15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Последовательный </a:t>
            </a:r>
            <a:r>
              <a:rPr lang="en-US" dirty="0"/>
              <a:t>pipeline </a:t>
            </a:r>
            <a:r>
              <a:rPr lang="ru-RU" dirty="0"/>
              <a:t>и его пределы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3E5B5-0B8B-B2A6-72DF-203899703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88FBAF-F8A4-52FE-353B-851B7BB7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9672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31780F-F9C7-98EE-FC9B-3AA1B70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транскодера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AEF2E-EAF3-D178-9AA5-327B8300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A9618E4-4ED6-ED27-C426-08EC01658A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75" y="1690688"/>
            <a:ext cx="10435450" cy="498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3360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AB37-72C6-F5D9-ADC0-C7FDA30E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 транскодера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D3B091-2B9F-D7D5-4051-E635CC2DB52D}"/>
              </a:ext>
            </a:extLst>
          </p:cNvPr>
          <p:cNvSpPr txBox="1"/>
          <p:nvPr/>
        </p:nvSpPr>
        <p:spPr>
          <a:xfrm>
            <a:off x="838200" y="1909011"/>
            <a:ext cx="58994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export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Transcoder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Run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{ … 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Branch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Decoder&amp; decoder;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Encoder&amp; encoder;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streamIndex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-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Muxer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TrackId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track;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Muxer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m_muxer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Demuxer&amp;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m_demuxer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Branch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m_video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Branch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m_audio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BB773-1267-4494-3947-8953AC3A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0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F4AE-EBCD-D0C7-6248-615A1E7B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Транскодер: главный цикл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2FE19-CC42-818D-BE4A-55DECAD66AED}"/>
              </a:ext>
            </a:extLst>
          </p:cNvPr>
          <p:cNvSpPr txBox="1"/>
          <p:nvPr/>
        </p:nvSpPr>
        <p:spPr>
          <a:xfrm>
            <a:off x="838200" y="1690688"/>
            <a:ext cx="10515601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FrameProcessor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Frame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&amp;)&gt;;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int64_t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videoFrameCounter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FrameProcessor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processVideo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[&amp;</a:t>
            </a:r>
            <a:r>
              <a:rPr lang="en-US" sz="1500" dirty="0" err="1">
                <a:solidFill>
                  <a:srgbClr val="808080"/>
                </a:solidFill>
                <a:latin typeface="Consolas" panose="020B0609020204030204" pitchFamily="49" charset="0"/>
              </a:rPr>
              <a:t>videoFrameCounter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](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500" dirty="0">
                <a:solidFill>
                  <a:srgbClr val="808080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>
                <a:solidFill>
                  <a:srgbClr val="1F377F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-&gt;pts =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videoFrameCounter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int64_t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audioPtsSamples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FrameProcessor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processAudio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[&amp;</a:t>
            </a:r>
            <a:r>
              <a:rPr lang="en-US" sz="1500" dirty="0" err="1">
                <a:solidFill>
                  <a:srgbClr val="808080"/>
                </a:solidFill>
                <a:latin typeface="Consolas" panose="020B0609020204030204" pitchFamily="49" charset="0"/>
              </a:rPr>
              <a:t>audioPtsSamples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](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500" dirty="0">
                <a:solidFill>
                  <a:srgbClr val="808080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>
                <a:solidFill>
                  <a:srgbClr val="1F377F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-&gt;pts =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audioPtsSamples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audioPtsSamples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500" dirty="0">
                <a:solidFill>
                  <a:srgbClr val="1F377F"/>
                </a:solidFill>
                <a:latin typeface="Consolas" panose="020B0609020204030204" pitchFamily="49" charset="0"/>
              </a:rPr>
              <a:t>frame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nb_samples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(Packet pkt; pkt =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m_demuxer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pkt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stream_index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m_video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.streamIndex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SendPacket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(pkt,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m_video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processVideo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pkt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stream_index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m_audio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.streamIndex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SendPacket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(pkt,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m_audio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processAudio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Flush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m_video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processVideo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Flush(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m_audio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processAudio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B05A7-6400-9D49-0B4B-F7CECB57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9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908C-62F3-B77C-FBB3-B48F104C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работы с декодером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61DDF-DDED-CB7D-D3DE-6C80547E5E3E}"/>
              </a:ext>
            </a:extLst>
          </p:cNvPr>
          <p:cNvSpPr txBox="1"/>
          <p:nvPr/>
        </p:nvSpPr>
        <p:spPr>
          <a:xfrm>
            <a:off x="838200" y="1981199"/>
            <a:ext cx="11353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Branch&amp;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FrameProcessor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decoder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::Accepted)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DrainDecoder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DrainDecoder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DrainDecoder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(Branch&amp;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FrameProcessor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process)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Frame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decoder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Receive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(frame) ==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ReceiveResult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::Produced)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(frame);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(frame, branch);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E0279-6F51-EE56-A98E-EC9218BA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DECA-1EEB-1007-D8B8-4475ED68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 работы с энкодером</a:t>
            </a:r>
            <a:r>
              <a:rPr lang="en-US" dirty="0"/>
              <a:t> </a:t>
            </a:r>
            <a:r>
              <a:rPr lang="ru-RU" dirty="0"/>
              <a:t>и завершение работы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49C88-F33A-8E4B-FB57-26F6981FA317}"/>
              </a:ext>
            </a:extLst>
          </p:cNvPr>
          <p:cNvSpPr txBox="1"/>
          <p:nvPr/>
        </p:nvSpPr>
        <p:spPr>
          <a:xfrm>
            <a:off x="194128" y="1779687"/>
            <a:ext cx="118037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(frame) ==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NeedReceive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DrainEncoder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(branch);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DrainEncoder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(branch);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DrainEncoder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Packet pkt;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Receive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(pkt) ==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ReceiveResult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::Produced)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m_muxer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.track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*pkt,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GetStreamTimeBase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ToAV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Flush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Branch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branch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FrameProcessor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SendPacket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(Packet::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(), branch, process);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SendFrame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(Frame::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(), branch);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0057A4-C17D-74E2-A0A9-EB936C5D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0F9D4E-158A-678D-0A09-90FC14A7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Оценим производительность транскодера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09A2BA-6B65-1523-02B2-EC3769DB7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транскодер</a:t>
            </a:r>
            <a:r>
              <a:rPr lang="en-US" dirty="0"/>
              <a:t>: 1</a:t>
            </a:r>
            <a:r>
              <a:rPr lang="ru-RU" dirty="0"/>
              <a:t>08.</a:t>
            </a:r>
            <a:r>
              <a:rPr lang="en-US" dirty="0"/>
              <a:t>1</a:t>
            </a:r>
            <a:r>
              <a:rPr lang="ru-RU" dirty="0"/>
              <a:t>4с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7FA1D-BA80-35A8-B797-8ABAD5BC3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ffmpeg.exe</a:t>
            </a:r>
            <a:r>
              <a:rPr lang="ru-RU" dirty="0"/>
              <a:t> – 64.38с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FA1A9D3-0B88-96DA-026D-7B99EC91B7D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660620"/>
            <a:ext cx="5183188" cy="337349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2D6C7C-B637-3C5A-5F7D-F1A7604BEA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39788" y="2668886"/>
            <a:ext cx="5157787" cy="33569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AC784-984B-6E96-7C61-7D3B92A2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11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E8BE58-58C4-54EB-C662-D4F9ADD2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к асинхронности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7746B-24C9-C012-BBC2-17913974A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1BE838-2B9F-1A45-0D81-B6E0A545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2237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99966-51BB-6066-A98A-10BEEF95F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к параллельному конвейеру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8061F4-B1B7-B4C9-1B9F-13742EA02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Decoder </a:t>
            </a:r>
            <a:r>
              <a:rPr lang="ru-RU" dirty="0"/>
              <a:t>и</a:t>
            </a:r>
            <a:r>
              <a:rPr lang="en-US" dirty="0"/>
              <a:t> Encoder</a:t>
            </a:r>
            <a:r>
              <a:rPr lang="ru-RU" dirty="0"/>
              <a:t> должны работать в разных потоках</a:t>
            </a:r>
          </a:p>
          <a:p>
            <a:pPr lvl="1"/>
            <a:r>
              <a:rPr lang="en-US" dirty="0"/>
              <a:t>[queue] → Packet → Decoder → Frame</a:t>
            </a:r>
            <a:r>
              <a:rPr lang="ru-RU" dirty="0"/>
              <a:t> </a:t>
            </a:r>
            <a:r>
              <a:rPr lang="en-US" dirty="0"/>
              <a:t>→ [queue]</a:t>
            </a:r>
          </a:p>
          <a:p>
            <a:pPr lvl="1"/>
            <a:r>
              <a:rPr lang="en-US" dirty="0"/>
              <a:t>[queue] → Frame → Encoder → Packet → [queue] </a:t>
            </a:r>
          </a:p>
          <a:p>
            <a:r>
              <a:rPr lang="ru-RU" dirty="0"/>
              <a:t>Проблема: </a:t>
            </a:r>
            <a:r>
              <a:rPr lang="en-US" dirty="0"/>
              <a:t>decoder</a:t>
            </a:r>
            <a:r>
              <a:rPr lang="ru-RU" dirty="0"/>
              <a:t> быстрее </a:t>
            </a:r>
            <a:r>
              <a:rPr lang="en-US" dirty="0"/>
              <a:t>encoder</a:t>
            </a:r>
          </a:p>
          <a:p>
            <a:pPr lvl="1"/>
            <a:r>
              <a:rPr lang="ru-RU" dirty="0"/>
              <a:t>Риск: очередь фреймов может бесконтрольно расти</a:t>
            </a:r>
          </a:p>
          <a:p>
            <a:r>
              <a:rPr lang="ru-RU" dirty="0"/>
              <a:t>Решение:</a:t>
            </a:r>
            <a:r>
              <a:rPr lang="en-US" dirty="0"/>
              <a:t> bounded queue</a:t>
            </a:r>
            <a:r>
              <a:rPr lang="ru-RU" dirty="0"/>
              <a:t> между стадиями</a:t>
            </a:r>
          </a:p>
          <a:p>
            <a:pPr lvl="1"/>
            <a:r>
              <a:rPr lang="en-US" dirty="0"/>
              <a:t>Producer:</a:t>
            </a:r>
            <a:r>
              <a:rPr lang="ru-RU" dirty="0"/>
              <a:t> </a:t>
            </a:r>
            <a:r>
              <a:rPr lang="en-US" dirty="0"/>
              <a:t>decoder </a:t>
            </a:r>
            <a:r>
              <a:rPr lang="ru-RU" dirty="0"/>
              <a:t>помещает</a:t>
            </a:r>
            <a:r>
              <a:rPr lang="en-US" dirty="0"/>
              <a:t> Frame </a:t>
            </a:r>
            <a:r>
              <a:rPr lang="ru-RU" dirty="0"/>
              <a:t>в очередь</a:t>
            </a:r>
          </a:p>
          <a:p>
            <a:pPr lvl="1"/>
            <a:r>
              <a:rPr lang="en-US" dirty="0"/>
              <a:t>Consumer: encoder </a:t>
            </a:r>
            <a:r>
              <a:rPr lang="ru-RU" dirty="0"/>
              <a:t>извлекает </a:t>
            </a:r>
            <a:r>
              <a:rPr lang="en-US" dirty="0"/>
              <a:t>Frame </a:t>
            </a:r>
            <a:r>
              <a:rPr lang="ru-RU" dirty="0"/>
              <a:t>из очереди</a:t>
            </a:r>
          </a:p>
          <a:p>
            <a:r>
              <a:rPr lang="en-US" dirty="0"/>
              <a:t>Backpressure: </a:t>
            </a:r>
            <a:r>
              <a:rPr lang="ru-RU" dirty="0"/>
              <a:t>если очередь заполнена, </a:t>
            </a:r>
            <a:r>
              <a:rPr lang="en-US" dirty="0"/>
              <a:t>producer </a:t>
            </a:r>
            <a:r>
              <a:rPr lang="ru-RU" dirty="0"/>
              <a:t>ждёт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51D09-F87C-48E9-61BB-431500FA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1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!! Pkt1" descr="Box outline">
            <a:extLst>
              <a:ext uri="{FF2B5EF4-FFF2-40B4-BE49-F238E27FC236}">
                <a16:creationId xmlns:a16="http://schemas.microsoft.com/office/drawing/2014/main" id="{E76E4935-7B4A-08A2-8D2D-8FAECA5E8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9F1FD1-6B2A-8F87-96E1-B12CBD21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8F7C3F-823A-FD36-BFFA-0A2CD923B487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60454B-6F2C-5AF7-5F4D-F418AA01F21A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050EC87-585F-D4FE-1C12-E0046AA293B5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012616-2CD8-F1A4-9968-FF09176AA8E0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BF361B-AD5F-5EEB-139C-793AD002C988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387D98-0519-7743-8BA4-511FBE140663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92D5242-45BB-CA7A-6D27-AFD21A04A5B7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30F1A7-9A9A-901E-C7ED-0F0BEFA87F4E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7B3990-C7AB-76B2-BC20-0E9D44362391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BB1458-5B5C-0F4C-161D-D92170F0DB35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4C591F-BD71-17D3-2821-3B5A0F3C3D42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D1C39-51E0-3961-4894-A36B62819004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1AFBB4-5EF3-857D-DE8A-0727737E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34</a:t>
            </a:fld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50A97159-1598-534E-5F93-ED703B0FF483}"/>
              </a:ext>
            </a:extLst>
          </p:cNvPr>
          <p:cNvSpPr/>
          <p:nvPr/>
        </p:nvSpPr>
        <p:spPr>
          <a:xfrm rot="16200000">
            <a:off x="5978168" y="2592348"/>
            <a:ext cx="235664" cy="1234440"/>
          </a:xfrm>
          <a:prstGeom prst="rightBrace">
            <a:avLst>
              <a:gd name="adj1" fmla="val 3056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D8BF9-C01A-DC41-F04D-04BB7FE66497}"/>
              </a:ext>
            </a:extLst>
          </p:cNvPr>
          <p:cNvSpPr txBox="1"/>
          <p:nvPr/>
        </p:nvSpPr>
        <p:spPr>
          <a:xfrm>
            <a:off x="4229100" y="2395681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 реальном транскодере здесь находится граф фильтров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9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3726F-1C08-80B9-6284-EE601EF7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 Pkt2" descr="Box outline">
            <a:extLst>
              <a:ext uri="{FF2B5EF4-FFF2-40B4-BE49-F238E27FC236}">
                <a16:creationId xmlns:a16="http://schemas.microsoft.com/office/drawing/2014/main" id="{CDFED707-6E2D-0EDC-8931-2C6BC8BC2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70D88EB-FF3A-A1C1-F5CF-E747DB75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7C63E4-D973-685D-D876-15B0545A656B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D1A8A1-C88B-482E-0323-60FB0671A116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9E46242-6442-63A0-3BD5-E1CC5F7092D9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FE7D05-C824-EC2B-C9CA-B6A8D3606D12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313E7A-3742-2FCD-D1D3-43BF52126F29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7E8739D-BC60-467C-3C66-9EB4EE4B6457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341218C-4B1B-A5D1-07D0-6CFF40D0DAC7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570CD6-B94E-C653-84A3-9EC66179671B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4E4FB-1AB4-683F-B86F-B6CFE24A0D95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4607A-0E07-EEDF-0616-472367683D6B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69D619-B9B2-5A0F-A0A0-0DCA90FF5A81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BB5D6E-A21F-6187-B8D5-43A4E08EEFD3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!! Pkt1" descr="Box outline">
            <a:extLst>
              <a:ext uri="{FF2B5EF4-FFF2-40B4-BE49-F238E27FC236}">
                <a16:creationId xmlns:a16="http://schemas.microsoft.com/office/drawing/2014/main" id="{FB644E27-6F8A-E8E7-0CFA-46280F3F2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373703-59A0-9984-AAC8-7C3EA201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9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3099-B261-35DA-02C5-C83E48482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 Pkt3" descr="Box outline">
            <a:extLst>
              <a:ext uri="{FF2B5EF4-FFF2-40B4-BE49-F238E27FC236}">
                <a16:creationId xmlns:a16="http://schemas.microsoft.com/office/drawing/2014/main" id="{688416E3-029F-4B66-E082-617AFD4CB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D59456-C076-8D9B-6131-413BAE90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445DD5-B78A-BD13-DE40-F2BCEBD182D8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9A9C73-FE16-A5A0-E23A-318401D9A1F5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7604FBC-602F-099A-54FA-FD340DBFD2F7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4F33B3-850C-B038-B6E0-BD2F02D944D4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11F2FA2-B353-0C9F-0C66-183F7B43F092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EFB0B5-359E-C811-FAA9-7E2FE0A07541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8465F-35A8-17E6-6167-0D5B32A40A3B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D9E9F6-0A4B-BDE5-7070-510490BF12C0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77A64-F850-C027-A9E7-379E998C8097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E51702-C386-5B2E-9F3E-F62B91B63367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7D9358-932C-2B5A-4B70-2789E08D884A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EDC70B-6F62-9008-D30F-A1FCF1FED134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2" descr="Box outline">
            <a:extLst>
              <a:ext uri="{FF2B5EF4-FFF2-40B4-BE49-F238E27FC236}">
                <a16:creationId xmlns:a16="http://schemas.microsoft.com/office/drawing/2014/main" id="{63F09A48-67C2-5EDF-FC0A-3A32320C4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1" descr="Box outline">
            <a:extLst>
              <a:ext uri="{FF2B5EF4-FFF2-40B4-BE49-F238E27FC236}">
                <a16:creationId xmlns:a16="http://schemas.microsoft.com/office/drawing/2014/main" id="{51AB0445-F6EF-7542-75D3-162EB66FB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3D263-3C62-01FB-9A59-BA57B3C6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17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7DC69-3F59-C67D-38F7-ACD9AC7A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 Pkt1" descr="Box outline">
            <a:extLst>
              <a:ext uri="{FF2B5EF4-FFF2-40B4-BE49-F238E27FC236}">
                <a16:creationId xmlns:a16="http://schemas.microsoft.com/office/drawing/2014/main" id="{B22DBA25-E780-62D9-EDCE-C4A2C0EFD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1614" y="4066018"/>
            <a:ext cx="239282" cy="239282"/>
          </a:xfrm>
          <a:prstGeom prst="rect">
            <a:avLst/>
          </a:prstGeom>
        </p:spPr>
      </p:pic>
      <p:pic>
        <p:nvPicPr>
          <p:cNvPr id="3" name="!! Pkt4" descr="Box outline">
            <a:extLst>
              <a:ext uri="{FF2B5EF4-FFF2-40B4-BE49-F238E27FC236}">
                <a16:creationId xmlns:a16="http://schemas.microsoft.com/office/drawing/2014/main" id="{A83296A4-CA72-6F87-A904-69F37D035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B64DC1F-C8A4-CC1B-5345-5165BBCF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8DD5F4-B9A9-0014-3123-8DBDF2B238A9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0B3E11-58AD-D74A-ED42-3ABC8D70277E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12516C-D8FA-B9EE-62E0-3FE516B0C746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3B8ACA-E932-4325-C170-176024591D70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F1CF6D-EEF8-99DB-2626-3C9AD8E8BF3F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41D422-3F53-AA36-B248-9736AEE6B799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F612272-ED7A-CB52-CFE8-585C74A49929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309EE-66DA-8E07-2A8B-5775EAFF41AE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54753B-63D2-6C4E-EC2D-9B7E62617C70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F3994B-7837-A39C-91E1-32787526E15C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FA116B-101C-1162-BC69-00C153368262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51DBCE-0F30-D940-3C30-1DB077AD34EE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3" descr="Box outline">
            <a:extLst>
              <a:ext uri="{FF2B5EF4-FFF2-40B4-BE49-F238E27FC236}">
                <a16:creationId xmlns:a16="http://schemas.microsoft.com/office/drawing/2014/main" id="{4054A4FF-A753-35D2-2482-2CD4A7F93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2" descr="Box outline">
            <a:extLst>
              <a:ext uri="{FF2B5EF4-FFF2-40B4-BE49-F238E27FC236}">
                <a16:creationId xmlns:a16="http://schemas.microsoft.com/office/drawing/2014/main" id="{C4108816-712C-5193-9B22-D5851D6A2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7BEE-E64E-4238-EB4A-F7442468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12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05C0-2D1E-D300-6EF5-70714B65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!! Frm1" descr="Image outline">
            <a:extLst>
              <a:ext uri="{FF2B5EF4-FFF2-40B4-BE49-F238E27FC236}">
                <a16:creationId xmlns:a16="http://schemas.microsoft.com/office/drawing/2014/main" id="{38591386-CF04-12B1-6438-A557B5E04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5" name="!! Pkt2" descr="Box outline">
            <a:extLst>
              <a:ext uri="{FF2B5EF4-FFF2-40B4-BE49-F238E27FC236}">
                <a16:creationId xmlns:a16="http://schemas.microsoft.com/office/drawing/2014/main" id="{A19B4189-4991-DDF6-6B3D-33A70614CD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5" descr="Box outline">
            <a:extLst>
              <a:ext uri="{FF2B5EF4-FFF2-40B4-BE49-F238E27FC236}">
                <a16:creationId xmlns:a16="http://schemas.microsoft.com/office/drawing/2014/main" id="{8FF2EB1D-3013-7062-4CB6-F83CB8B73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72E81DF-B92D-4EC5-A271-3E99E644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A643E6-DBFB-1063-555A-ED32BFE9CC0B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2C2ADE-9776-08D6-7897-01E2A50DD98B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BAC464-8C59-7DFB-8C07-BAC5CA2A20AD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60397E-18FB-DAD4-070A-EEB4BA64505E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23A400-CE46-3A94-A763-4FB9BC4DD47F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BFE1F9-2D64-B81D-04C8-96771FCB09AB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753C124-7E97-1D84-E589-39C3E16888FA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694817-3BE6-1F5E-F956-453F69BF8DFD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759C49-1232-7753-52FE-4C2DF8C21E6E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7E8FAB-AE2F-8F13-2D9C-5669B12F6A97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6C6F49-4B7F-12AB-A363-E7D4588EE9C5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B21A20-D2F2-F57C-7AAB-43B0974FBAB7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4" descr="Box outline">
            <a:extLst>
              <a:ext uri="{FF2B5EF4-FFF2-40B4-BE49-F238E27FC236}">
                <a16:creationId xmlns:a16="http://schemas.microsoft.com/office/drawing/2014/main" id="{F832A0F8-9BDE-F9FB-73E7-EBC99B5299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3" descr="Box outline">
            <a:extLst>
              <a:ext uri="{FF2B5EF4-FFF2-40B4-BE49-F238E27FC236}">
                <a16:creationId xmlns:a16="http://schemas.microsoft.com/office/drawing/2014/main" id="{42D9284E-7167-C5F0-DF52-499E3B98B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DEE1E-B224-30D7-271C-4923D731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2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E713-8595-6E5B-1E73-DDE98F52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!! Frm2" descr="Image outline">
            <a:extLst>
              <a:ext uri="{FF2B5EF4-FFF2-40B4-BE49-F238E27FC236}">
                <a16:creationId xmlns:a16="http://schemas.microsoft.com/office/drawing/2014/main" id="{88136E21-69F4-B40A-B109-27692F266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3" descr="Box outline">
            <a:extLst>
              <a:ext uri="{FF2B5EF4-FFF2-40B4-BE49-F238E27FC236}">
                <a16:creationId xmlns:a16="http://schemas.microsoft.com/office/drawing/2014/main" id="{318DFDB3-12A6-9C15-C4C3-649B4F817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6" descr="Box outline">
            <a:extLst>
              <a:ext uri="{FF2B5EF4-FFF2-40B4-BE49-F238E27FC236}">
                <a16:creationId xmlns:a16="http://schemas.microsoft.com/office/drawing/2014/main" id="{27FD0AE6-1576-F4D7-EB3B-E72A1F6679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A01DD9-A773-7794-CB21-C9A59909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F8EE0E-1D25-8D44-7E85-C6719AAC147E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186420-D70D-7D49-FBE5-C25234AB9420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BB2C88-C717-BC10-C2C5-27C624B231F2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E11AC7-F144-D7A0-D17B-ABAB418720FF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B7B45A-D6E8-DED5-D7A8-8A91C47A4DCA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52D6B92-40AF-5639-EBF2-6302AFAAB9E1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3CE7A-8CB2-C782-974E-2DB26B7878C5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8FD0DB-F726-9777-4BAE-F9B31757B11D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EE7270-42E3-0990-DF07-6AD46D8F901E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8CD727-067D-6238-0823-561D955C4C98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D8ACE2-F420-B074-8004-8390A3126777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2982B4-1EAB-E051-BB36-122B525ACDE2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5" descr="Box outline">
            <a:extLst>
              <a:ext uri="{FF2B5EF4-FFF2-40B4-BE49-F238E27FC236}">
                <a16:creationId xmlns:a16="http://schemas.microsoft.com/office/drawing/2014/main" id="{C305B4EC-7C3A-BA94-15EC-6337DE467A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4" descr="Box outline">
            <a:extLst>
              <a:ext uri="{FF2B5EF4-FFF2-40B4-BE49-F238E27FC236}">
                <a16:creationId xmlns:a16="http://schemas.microsoft.com/office/drawing/2014/main" id="{DCEFF13A-8131-7BEF-D26B-8667F8694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6" name="!! Frm1" descr="Image outline">
            <a:extLst>
              <a:ext uri="{FF2B5EF4-FFF2-40B4-BE49-F238E27FC236}">
                <a16:creationId xmlns:a16="http://schemas.microsoft.com/office/drawing/2014/main" id="{3D106312-9497-83C4-300F-F149E03A0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CD166-07F5-86DA-130A-49A14BD8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71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86EE-F39B-C1B8-7B4B-CDDB6EA6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 Frm3" descr="Image outline">
            <a:extLst>
              <a:ext uri="{FF2B5EF4-FFF2-40B4-BE49-F238E27FC236}">
                <a16:creationId xmlns:a16="http://schemas.microsoft.com/office/drawing/2014/main" id="{3C3D45A3-0244-21EF-E3B3-F7109411C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4" descr="Box outline">
            <a:extLst>
              <a:ext uri="{FF2B5EF4-FFF2-40B4-BE49-F238E27FC236}">
                <a16:creationId xmlns:a16="http://schemas.microsoft.com/office/drawing/2014/main" id="{2A2DE6BB-2701-AB20-07DF-30DC55280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7" descr="Box outline">
            <a:extLst>
              <a:ext uri="{FF2B5EF4-FFF2-40B4-BE49-F238E27FC236}">
                <a16:creationId xmlns:a16="http://schemas.microsoft.com/office/drawing/2014/main" id="{A46EF2A5-AE70-0386-A0DA-256A2F72E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19802A7-65F8-9894-2379-5C2B8AF4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064E0E-4BEC-8BA2-47F6-C8536DC82A5A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1D9D4A-B76F-41A3-B506-C9FB5E6DAE94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6F32590-6E76-3D68-82C7-82A72B87D4A1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0B5388-4DFD-E5D9-EC02-ABB8C9F808A6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E249F0-F4AD-EF18-DB86-91E51717F5D4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9972C3-33C9-B4AE-F772-EC48FA0B4244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107D0A-39C3-62B0-0634-1C823C83AC37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5A0D3C-3D90-9A03-E141-B9AA29459F6D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490CF-A9B5-2DBE-F65E-6A5309DD8BF6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03FCE9-A576-82E8-A713-C99EBA61F297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BE0E71-C169-ECEF-40F3-6633B11D73BB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A4AB3D-94DF-18E2-63B3-27AA128EEC75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6" descr="Box outline">
            <a:extLst>
              <a:ext uri="{FF2B5EF4-FFF2-40B4-BE49-F238E27FC236}">
                <a16:creationId xmlns:a16="http://schemas.microsoft.com/office/drawing/2014/main" id="{DC2F9521-9BAF-FF4A-F22F-419B40E54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5" descr="Box outline">
            <a:extLst>
              <a:ext uri="{FF2B5EF4-FFF2-40B4-BE49-F238E27FC236}">
                <a16:creationId xmlns:a16="http://schemas.microsoft.com/office/drawing/2014/main" id="{09F29267-A8DA-0F09-5CE5-219EAB51A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6" name="!! Frm1" descr="Image outline">
            <a:extLst>
              <a:ext uri="{FF2B5EF4-FFF2-40B4-BE49-F238E27FC236}">
                <a16:creationId xmlns:a16="http://schemas.microsoft.com/office/drawing/2014/main" id="{190C2132-B85B-CD02-C7A2-A4D50270C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19" name="!! Frm2" descr="Image outline">
            <a:extLst>
              <a:ext uri="{FF2B5EF4-FFF2-40B4-BE49-F238E27FC236}">
                <a16:creationId xmlns:a16="http://schemas.microsoft.com/office/drawing/2014/main" id="{D8A35509-58A1-68B7-0501-76413A1C9D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CF2DAF8-B62F-6DEA-32B6-7092B5D8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23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A572-4DEF-B57C-E916-102D372EA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!! Frm1" descr="Image outline">
            <a:extLst>
              <a:ext uri="{FF2B5EF4-FFF2-40B4-BE49-F238E27FC236}">
                <a16:creationId xmlns:a16="http://schemas.microsoft.com/office/drawing/2014/main" id="{5C9A7D1E-9005-79AD-C341-8B16FDB17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0498" y="5012190"/>
            <a:ext cx="175738" cy="175738"/>
          </a:xfrm>
          <a:prstGeom prst="rect">
            <a:avLst/>
          </a:prstGeom>
        </p:spPr>
      </p:pic>
      <p:pic>
        <p:nvPicPr>
          <p:cNvPr id="5" name="!! Frm4" descr="Image outline">
            <a:extLst>
              <a:ext uri="{FF2B5EF4-FFF2-40B4-BE49-F238E27FC236}">
                <a16:creationId xmlns:a16="http://schemas.microsoft.com/office/drawing/2014/main" id="{633D660E-9253-F0AD-2A4C-FBEE17D5B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5" descr="Box outline">
            <a:extLst>
              <a:ext uri="{FF2B5EF4-FFF2-40B4-BE49-F238E27FC236}">
                <a16:creationId xmlns:a16="http://schemas.microsoft.com/office/drawing/2014/main" id="{EB6402C4-C9B7-927E-6BAC-FFFF7E896F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8" descr="Box outline">
            <a:extLst>
              <a:ext uri="{FF2B5EF4-FFF2-40B4-BE49-F238E27FC236}">
                <a16:creationId xmlns:a16="http://schemas.microsoft.com/office/drawing/2014/main" id="{AFAB90C9-93D1-00A4-8DE5-C6CB2BB70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D825A8E-550B-B9DE-7D84-8F21056C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F88C24-FD3D-1032-592B-DED639B11F84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485BD5-9B5C-8DA2-1C2F-71DF3374DC4B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2AC67E-DBF2-B80B-A478-438E5D5E157E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F96B88-8C6C-C7E4-6729-4A4F13B52F9E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5BFD33-9D46-69A4-986A-5A912980AEA8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CA2B304-8D76-4F42-DE9B-5A88425E2520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BDBB2-4280-5155-CB6B-976DEC83E8F8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E1160F-15B4-D805-6D86-9C9A6BA397A6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0D9BA-7A2A-4715-D63A-6704F6FA2A53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D660C8-3798-95C8-2DC4-AE5F8AFCFD5B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F2E81-2086-030B-B1C5-F2D309CCFFD6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799FB-2557-34CE-773F-AEFA987FCC9E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7" descr="Box outline">
            <a:extLst>
              <a:ext uri="{FF2B5EF4-FFF2-40B4-BE49-F238E27FC236}">
                <a16:creationId xmlns:a16="http://schemas.microsoft.com/office/drawing/2014/main" id="{B7397F61-381A-8DEF-4A33-9CD2B727D7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6" descr="Box outline">
            <a:extLst>
              <a:ext uri="{FF2B5EF4-FFF2-40B4-BE49-F238E27FC236}">
                <a16:creationId xmlns:a16="http://schemas.microsoft.com/office/drawing/2014/main" id="{D16DBA06-2833-88E0-023B-54E3304BC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6" name="!! Frm2" descr="Image outline">
            <a:extLst>
              <a:ext uri="{FF2B5EF4-FFF2-40B4-BE49-F238E27FC236}">
                <a16:creationId xmlns:a16="http://schemas.microsoft.com/office/drawing/2014/main" id="{1641A642-0BB4-B7B1-D5E2-E8BDE93144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19" name="!! Frm3" descr="Image outline">
            <a:extLst>
              <a:ext uri="{FF2B5EF4-FFF2-40B4-BE49-F238E27FC236}">
                <a16:creationId xmlns:a16="http://schemas.microsoft.com/office/drawing/2014/main" id="{F4DB0297-E8A7-5E24-D7DC-4F27C88F9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771D81E-A480-244A-3208-6B15ADAE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2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05B6-C7A5-E8E3-7915-2D3DF517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 Frm5" descr="Image outline">
            <a:extLst>
              <a:ext uri="{FF2B5EF4-FFF2-40B4-BE49-F238E27FC236}">
                <a16:creationId xmlns:a16="http://schemas.microsoft.com/office/drawing/2014/main" id="{A43D8F06-A1A5-DACA-0FFE-4E88A0BFE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6" descr="Box outline">
            <a:extLst>
              <a:ext uri="{FF2B5EF4-FFF2-40B4-BE49-F238E27FC236}">
                <a16:creationId xmlns:a16="http://schemas.microsoft.com/office/drawing/2014/main" id="{F4723346-6C0E-1868-1A9E-642F1A127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9" descr="Box outline">
            <a:extLst>
              <a:ext uri="{FF2B5EF4-FFF2-40B4-BE49-F238E27FC236}">
                <a16:creationId xmlns:a16="http://schemas.microsoft.com/office/drawing/2014/main" id="{07C65C93-734C-09C3-82EB-5B0CA1591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4105D37-2E36-A2B5-AE5A-B033899B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56B8A2-425F-E425-334C-23644D114B05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E8A692-B726-3C92-92AE-60F51C94574F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B4DC74E-5238-FB73-6E77-B5202217A681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D249DA-8DBE-2AD9-7112-ACBA3E4461B1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06EAE4-5E19-C136-1520-A6C73B923F45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32C3B9F-C860-A523-A900-6C245EFBF152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F4F86-F264-ACD9-FBB8-312217EB810A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99356C-758D-647F-1840-6FB0A6C495E9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5CB56-DF76-82C0-1D4A-CAC48999E151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D23C4-56B4-9496-1662-B4C01199C35E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CAE6D4-E2AF-8AAB-455D-1FCB448C3989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39CCB8-366B-9CE4-4A9B-D54B2CDFC7E5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8" descr="Box outline">
            <a:extLst>
              <a:ext uri="{FF2B5EF4-FFF2-40B4-BE49-F238E27FC236}">
                <a16:creationId xmlns:a16="http://schemas.microsoft.com/office/drawing/2014/main" id="{073F551F-3F9A-B29E-76BA-3446E85C5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7" descr="Box outline">
            <a:extLst>
              <a:ext uri="{FF2B5EF4-FFF2-40B4-BE49-F238E27FC236}">
                <a16:creationId xmlns:a16="http://schemas.microsoft.com/office/drawing/2014/main" id="{8B840C9D-6E00-020F-73A0-AF4781293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4" descr="Image outline">
            <a:extLst>
              <a:ext uri="{FF2B5EF4-FFF2-40B4-BE49-F238E27FC236}">
                <a16:creationId xmlns:a16="http://schemas.microsoft.com/office/drawing/2014/main" id="{CE631DE4-DA44-31D4-F773-CED2D9A40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3" descr="Image outline">
            <a:extLst>
              <a:ext uri="{FF2B5EF4-FFF2-40B4-BE49-F238E27FC236}">
                <a16:creationId xmlns:a16="http://schemas.microsoft.com/office/drawing/2014/main" id="{162E4A03-1490-5C9C-2F85-F0EDC9879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2" descr="Image outline">
            <a:extLst>
              <a:ext uri="{FF2B5EF4-FFF2-40B4-BE49-F238E27FC236}">
                <a16:creationId xmlns:a16="http://schemas.microsoft.com/office/drawing/2014/main" id="{FB62AC63-F65C-6F0F-745F-2832C5B73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50F6C3C-5ABB-F3E9-2EF7-1C13BA6F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09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D95A-9978-7CA7-BD6E-A29B2A34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 Frm6" descr="Image outline">
            <a:extLst>
              <a:ext uri="{FF2B5EF4-FFF2-40B4-BE49-F238E27FC236}">
                <a16:creationId xmlns:a16="http://schemas.microsoft.com/office/drawing/2014/main" id="{1403FDBF-1D0A-A4DB-2EF2-CF14BE347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7" descr="Box outline">
            <a:extLst>
              <a:ext uri="{FF2B5EF4-FFF2-40B4-BE49-F238E27FC236}">
                <a16:creationId xmlns:a16="http://schemas.microsoft.com/office/drawing/2014/main" id="{A2927DE7-0721-F9D1-8920-67824DD3D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0" descr="Box outline">
            <a:extLst>
              <a:ext uri="{FF2B5EF4-FFF2-40B4-BE49-F238E27FC236}">
                <a16:creationId xmlns:a16="http://schemas.microsoft.com/office/drawing/2014/main" id="{1819A53A-3FED-7A2C-FEB0-84EBF8514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0F19F7-DA78-043F-D7C1-0CAFBE8A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B4AB1F-A7DD-1442-2E00-C49E85D4033B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73CBDC-3A96-8035-1FBC-B6DA9401D22F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282D3D4-435B-A62B-FFA6-E39D3CA65F8D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DEA509-7E3D-6497-D56B-E52581AF3927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BF5912-14F4-3EDB-5400-B0AE17976232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48A6008-CACE-601F-5F71-9F77165DD1E8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7E42B08-DB44-7C01-DA25-61771A24A40E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163003-4697-C15D-1230-48A6E7F1ABAD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D030D7-B3EB-11E4-8700-EDA5FECE48C8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4DB958-7E5E-78C1-5535-DEC7C09C6FFC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C54716-3918-E1C3-2050-5D4BA463311C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EF674A-6AF3-7019-8DE1-BC657A243B7D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9" descr="Box outline">
            <a:extLst>
              <a:ext uri="{FF2B5EF4-FFF2-40B4-BE49-F238E27FC236}">
                <a16:creationId xmlns:a16="http://schemas.microsoft.com/office/drawing/2014/main" id="{E3862F6E-83FB-81AC-EA62-8ADEC4494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8" descr="Box outline">
            <a:extLst>
              <a:ext uri="{FF2B5EF4-FFF2-40B4-BE49-F238E27FC236}">
                <a16:creationId xmlns:a16="http://schemas.microsoft.com/office/drawing/2014/main" id="{85327950-C582-E383-9EDD-D20488A152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5" descr="Image outline">
            <a:extLst>
              <a:ext uri="{FF2B5EF4-FFF2-40B4-BE49-F238E27FC236}">
                <a16:creationId xmlns:a16="http://schemas.microsoft.com/office/drawing/2014/main" id="{19D43BD4-1D52-90DE-0DCA-B7F54C79C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3" descr="Image outline">
            <a:extLst>
              <a:ext uri="{FF2B5EF4-FFF2-40B4-BE49-F238E27FC236}">
                <a16:creationId xmlns:a16="http://schemas.microsoft.com/office/drawing/2014/main" id="{3E4E088B-A35F-1477-CE4E-508C09E54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2" descr="Image outline">
            <a:extLst>
              <a:ext uri="{FF2B5EF4-FFF2-40B4-BE49-F238E27FC236}">
                <a16:creationId xmlns:a16="http://schemas.microsoft.com/office/drawing/2014/main" id="{70665D1F-F3D9-4509-6552-57A17C550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4" descr="Image outline">
            <a:extLst>
              <a:ext uri="{FF2B5EF4-FFF2-40B4-BE49-F238E27FC236}">
                <a16:creationId xmlns:a16="http://schemas.microsoft.com/office/drawing/2014/main" id="{5AF32BB5-C614-1EFC-C2CC-7719CFDC6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5C10AEB-43A0-D1D2-445C-95EF798B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87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53DA0-CD45-62F2-CDB6-57DF27A36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!! OutPkt1" descr="Box outline">
            <a:extLst>
              <a:ext uri="{FF2B5EF4-FFF2-40B4-BE49-F238E27FC236}">
                <a16:creationId xmlns:a16="http://schemas.microsoft.com/office/drawing/2014/main" id="{40CF0E8B-C04A-71DA-1087-7374E1C02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876" y="5037568"/>
            <a:ext cx="124982" cy="124982"/>
          </a:xfrm>
          <a:prstGeom prst="rect">
            <a:avLst/>
          </a:prstGeom>
        </p:spPr>
      </p:pic>
      <p:pic>
        <p:nvPicPr>
          <p:cNvPr id="5" name="!! Frm6" descr="Image outline">
            <a:extLst>
              <a:ext uri="{FF2B5EF4-FFF2-40B4-BE49-F238E27FC236}">
                <a16:creationId xmlns:a16="http://schemas.microsoft.com/office/drawing/2014/main" id="{320B632D-A485-F11B-644F-17459116B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7" descr="Box outline">
            <a:extLst>
              <a:ext uri="{FF2B5EF4-FFF2-40B4-BE49-F238E27FC236}">
                <a16:creationId xmlns:a16="http://schemas.microsoft.com/office/drawing/2014/main" id="{AC03F4F1-C2F3-4E5A-9EB7-3C6D6C3AB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0" descr="Box outline">
            <a:extLst>
              <a:ext uri="{FF2B5EF4-FFF2-40B4-BE49-F238E27FC236}">
                <a16:creationId xmlns:a16="http://schemas.microsoft.com/office/drawing/2014/main" id="{1E684BC5-EEE0-E17E-5928-CF00713B5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7445998-4397-4E6F-A347-AB672FF7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DB29EAA-CAAC-7E34-52DD-512A794A66B1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4E30D4-1BC4-3402-2A56-94A6598729F9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E87CBBA-C96B-A2E2-8EBA-DA420CC0C3D8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07BEAB-7671-18E2-7CDB-2D21710B404E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39A76D-BAC5-9841-F87A-9C65F20E966E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11267D-35F2-F8B0-6895-C0AC508A573A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5E95E92-DD4F-2F5D-E696-039A5637F75C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40EA1-1DC1-5B04-B4FA-5288450367E4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F3AE28-27E6-8CDA-1D1F-4BEF24A6B28E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7457D2-9049-90FA-E7E5-0781EC60B2BE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D5D35F-0308-867D-E5DB-61EF84042555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AB0BA1-C9EB-62A8-73B9-3E4A3E72269C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9" descr="Box outline">
            <a:extLst>
              <a:ext uri="{FF2B5EF4-FFF2-40B4-BE49-F238E27FC236}">
                <a16:creationId xmlns:a16="http://schemas.microsoft.com/office/drawing/2014/main" id="{0202EF31-4CB4-8074-C023-C620C299C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8" descr="Box outline">
            <a:extLst>
              <a:ext uri="{FF2B5EF4-FFF2-40B4-BE49-F238E27FC236}">
                <a16:creationId xmlns:a16="http://schemas.microsoft.com/office/drawing/2014/main" id="{051B3CF2-C13B-E12F-55F6-5353236DC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5" descr="Image outline">
            <a:extLst>
              <a:ext uri="{FF2B5EF4-FFF2-40B4-BE49-F238E27FC236}">
                <a16:creationId xmlns:a16="http://schemas.microsoft.com/office/drawing/2014/main" id="{4A945F47-7044-675F-7E8C-7F1483868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3" descr="Image outline">
            <a:extLst>
              <a:ext uri="{FF2B5EF4-FFF2-40B4-BE49-F238E27FC236}">
                <a16:creationId xmlns:a16="http://schemas.microsoft.com/office/drawing/2014/main" id="{739955C2-9FA3-D100-000A-6A46F9779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2" descr="Image outline">
            <a:extLst>
              <a:ext uri="{FF2B5EF4-FFF2-40B4-BE49-F238E27FC236}">
                <a16:creationId xmlns:a16="http://schemas.microsoft.com/office/drawing/2014/main" id="{68F379E4-1E99-A6EE-008A-77BCE0E64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4" descr="Image outline">
            <a:extLst>
              <a:ext uri="{FF2B5EF4-FFF2-40B4-BE49-F238E27FC236}">
                <a16:creationId xmlns:a16="http://schemas.microsoft.com/office/drawing/2014/main" id="{9C337D36-DDE7-17CE-FAB2-6D5C05C45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pic>
        <p:nvPicPr>
          <p:cNvPr id="24" name="!!Wait" descr="Hourglass Finished with solid fill">
            <a:extLst>
              <a:ext uri="{FF2B5EF4-FFF2-40B4-BE49-F238E27FC236}">
                <a16:creationId xmlns:a16="http://schemas.microsoft.com/office/drawing/2014/main" id="{1F9F081A-DE0E-1E1C-BAD5-739F3EE57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6425" y="2575378"/>
            <a:ext cx="914400" cy="9144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64F496E-3E32-B4EF-9403-7B99EDA2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3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0CE8-13BF-7FC8-35C7-C0775D8E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!! OutPkt2" descr="Box outline">
            <a:extLst>
              <a:ext uri="{FF2B5EF4-FFF2-40B4-BE49-F238E27FC236}">
                <a16:creationId xmlns:a16="http://schemas.microsoft.com/office/drawing/2014/main" id="{3131DE51-1D75-EAF7-39F0-831B43545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9484" y="5011176"/>
            <a:ext cx="177766" cy="177766"/>
          </a:xfrm>
          <a:prstGeom prst="rect">
            <a:avLst/>
          </a:prstGeom>
        </p:spPr>
      </p:pic>
      <p:pic>
        <p:nvPicPr>
          <p:cNvPr id="5" name="!! Frm6" descr="Image outline">
            <a:extLst>
              <a:ext uri="{FF2B5EF4-FFF2-40B4-BE49-F238E27FC236}">
                <a16:creationId xmlns:a16="http://schemas.microsoft.com/office/drawing/2014/main" id="{FAB22A10-68C0-FC67-9ADF-2E1DD72C4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7" descr="Box outline">
            <a:extLst>
              <a:ext uri="{FF2B5EF4-FFF2-40B4-BE49-F238E27FC236}">
                <a16:creationId xmlns:a16="http://schemas.microsoft.com/office/drawing/2014/main" id="{6279A8A1-D1E5-0577-690F-18CEA2E9E5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0" descr="Box outline">
            <a:extLst>
              <a:ext uri="{FF2B5EF4-FFF2-40B4-BE49-F238E27FC236}">
                <a16:creationId xmlns:a16="http://schemas.microsoft.com/office/drawing/2014/main" id="{F6E41DB8-9BDA-3349-97D2-EC37AB29C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8BF936D-465C-270C-A67F-9975659F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D0AEC2-D611-3A77-8121-5EEB97EF46BD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A442F3-81D9-DC92-7C2B-6FED1CF583E8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E610A8C-94F6-2381-E7B5-B8D413EC88B8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F14F98-FECC-56C6-946E-9666D31E734D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02EB44-9CB8-924B-926E-6423E90FFA5A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4BA1A1D-FADE-50A0-6082-005A03424D9C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5CCDB18-57C5-E0A6-42A1-CCE6826B1DE8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F353E-FED1-0FC0-337B-22BBC02AE4D7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4E3311-561D-0FD2-A4BD-A115DF7E601C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B44AFF-9DCA-8361-832E-DB799996E857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BD841C-8C80-6EE5-C428-C23C07294E05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D1E73-0331-93CB-0666-500AD9E644EB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9" descr="Box outline">
            <a:extLst>
              <a:ext uri="{FF2B5EF4-FFF2-40B4-BE49-F238E27FC236}">
                <a16:creationId xmlns:a16="http://schemas.microsoft.com/office/drawing/2014/main" id="{C356D5D9-9F24-8ACB-6573-7CF6C2D446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8" descr="Box outline">
            <a:extLst>
              <a:ext uri="{FF2B5EF4-FFF2-40B4-BE49-F238E27FC236}">
                <a16:creationId xmlns:a16="http://schemas.microsoft.com/office/drawing/2014/main" id="{68B3BBC3-7DE3-C69E-4658-F16758B32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5" descr="Image outline">
            <a:extLst>
              <a:ext uri="{FF2B5EF4-FFF2-40B4-BE49-F238E27FC236}">
                <a16:creationId xmlns:a16="http://schemas.microsoft.com/office/drawing/2014/main" id="{E4D96D17-4895-0190-8B6B-4CED7DDF9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3" descr="Image outline">
            <a:extLst>
              <a:ext uri="{FF2B5EF4-FFF2-40B4-BE49-F238E27FC236}">
                <a16:creationId xmlns:a16="http://schemas.microsoft.com/office/drawing/2014/main" id="{B19D148B-77F2-D3C6-42AB-42767B80DD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2" descr="Image outline">
            <a:extLst>
              <a:ext uri="{FF2B5EF4-FFF2-40B4-BE49-F238E27FC236}">
                <a16:creationId xmlns:a16="http://schemas.microsoft.com/office/drawing/2014/main" id="{A62B1B36-0E80-23EF-BBC7-15370655A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4" descr="Image outline">
            <a:extLst>
              <a:ext uri="{FF2B5EF4-FFF2-40B4-BE49-F238E27FC236}">
                <a16:creationId xmlns:a16="http://schemas.microsoft.com/office/drawing/2014/main" id="{32F6134C-A505-65F5-29BF-EB2563D05C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pic>
        <p:nvPicPr>
          <p:cNvPr id="25" name="!! OutPkt1" descr="Box outline">
            <a:extLst>
              <a:ext uri="{FF2B5EF4-FFF2-40B4-BE49-F238E27FC236}">
                <a16:creationId xmlns:a16="http://schemas.microsoft.com/office/drawing/2014/main" id="{856E6D16-F521-EEAF-622C-04AC8DB24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821" y="4633343"/>
            <a:ext cx="914400" cy="914400"/>
          </a:xfrm>
          <a:prstGeom prst="rect">
            <a:avLst/>
          </a:prstGeom>
        </p:spPr>
      </p:pic>
      <p:pic>
        <p:nvPicPr>
          <p:cNvPr id="28" name="!!Wait" descr="Hourglass Finished with solid fill">
            <a:extLst>
              <a:ext uri="{FF2B5EF4-FFF2-40B4-BE49-F238E27FC236}">
                <a16:creationId xmlns:a16="http://schemas.microsoft.com/office/drawing/2014/main" id="{48C8CEE5-028E-5EBB-FDEB-B196E62D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6425" y="2575378"/>
            <a:ext cx="914400" cy="9144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4D245D9-3F3E-FD2E-8C86-4F6D21E6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74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0B03-9B11-3DA7-1170-4C6A3522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!! Frm2" descr="Image outline">
            <a:extLst>
              <a:ext uri="{FF2B5EF4-FFF2-40B4-BE49-F238E27FC236}">
                <a16:creationId xmlns:a16="http://schemas.microsoft.com/office/drawing/2014/main" id="{EBCD7B12-0660-6BBE-0D3C-1068F43EB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8726" y="4066018"/>
            <a:ext cx="239282" cy="239282"/>
          </a:xfrm>
          <a:prstGeom prst="rect">
            <a:avLst/>
          </a:prstGeom>
        </p:spPr>
      </p:pic>
      <p:pic>
        <p:nvPicPr>
          <p:cNvPr id="25" name="!! OutPkt1" descr="Box outline">
            <a:extLst>
              <a:ext uri="{FF2B5EF4-FFF2-40B4-BE49-F238E27FC236}">
                <a16:creationId xmlns:a16="http://schemas.microsoft.com/office/drawing/2014/main" id="{41E778FA-C18F-248C-2D15-89354DCDA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5401" y="4967735"/>
            <a:ext cx="196798" cy="196798"/>
          </a:xfrm>
          <a:prstGeom prst="rect">
            <a:avLst/>
          </a:prstGeom>
        </p:spPr>
      </p:pic>
      <p:pic>
        <p:nvPicPr>
          <p:cNvPr id="27" name="!! OutPkt2" descr="Box outline">
            <a:extLst>
              <a:ext uri="{FF2B5EF4-FFF2-40B4-BE49-F238E27FC236}">
                <a16:creationId xmlns:a16="http://schemas.microsoft.com/office/drawing/2014/main" id="{C7CADAD0-C5EB-1CE5-96D5-F282B36A15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484" y="5011176"/>
            <a:ext cx="177766" cy="177766"/>
          </a:xfrm>
          <a:prstGeom prst="rect">
            <a:avLst/>
          </a:prstGeom>
        </p:spPr>
      </p:pic>
      <p:pic>
        <p:nvPicPr>
          <p:cNvPr id="5" name="!! Frm7" descr="Image outline">
            <a:extLst>
              <a:ext uri="{FF2B5EF4-FFF2-40B4-BE49-F238E27FC236}">
                <a16:creationId xmlns:a16="http://schemas.microsoft.com/office/drawing/2014/main" id="{D5FFA811-FB37-0B7C-7C4A-63A3057BBF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8" descr="Box outline">
            <a:extLst>
              <a:ext uri="{FF2B5EF4-FFF2-40B4-BE49-F238E27FC236}">
                <a16:creationId xmlns:a16="http://schemas.microsoft.com/office/drawing/2014/main" id="{E7C8C815-3EF2-3B27-AA25-27D0D2323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1" descr="Box outline">
            <a:extLst>
              <a:ext uri="{FF2B5EF4-FFF2-40B4-BE49-F238E27FC236}">
                <a16:creationId xmlns:a16="http://schemas.microsoft.com/office/drawing/2014/main" id="{8A1E0AA7-77A7-37C8-AD98-4F24D7C9BD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E7FB94E-59A4-2FF4-0CC1-798A0A7D6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F39B9A-A24A-20DC-401F-7B56A69EC43A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943C0A-C7D9-1BA1-9E9F-4F848D112FDE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7F4077-5DE4-AB57-7157-FA269681D1A1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16F893-4AA5-32CD-F5D0-AD2CFA6DE489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5CBE9C-F2D8-68AE-C21E-D56654774F99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CA637A-210C-03A3-FC3C-E5BCFF5CBA68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68D8A-D616-7B1D-C049-EEA5FF69639E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DD0887-5323-C3D7-259E-86202F1B21ED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AE59A6-7619-FC4C-EAB7-464FDA483C80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B6F521-54D4-6645-940B-DA10863693B8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563CC2-9738-BC68-F97F-55820BE16A62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056BD-3537-2105-69D6-6EAEE4F74AF9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10" descr="Box outline">
            <a:extLst>
              <a:ext uri="{FF2B5EF4-FFF2-40B4-BE49-F238E27FC236}">
                <a16:creationId xmlns:a16="http://schemas.microsoft.com/office/drawing/2014/main" id="{3513C789-35C7-C533-A6A4-A175AE3CE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9" descr="Box outline">
            <a:extLst>
              <a:ext uri="{FF2B5EF4-FFF2-40B4-BE49-F238E27FC236}">
                <a16:creationId xmlns:a16="http://schemas.microsoft.com/office/drawing/2014/main" id="{0CC78E7B-1DCC-93D6-EC05-DD7DBA2A00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6" descr="Image outline">
            <a:extLst>
              <a:ext uri="{FF2B5EF4-FFF2-40B4-BE49-F238E27FC236}">
                <a16:creationId xmlns:a16="http://schemas.microsoft.com/office/drawing/2014/main" id="{66D6F56A-351A-1F6B-6B05-4ADDC6E13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4" descr="Image outline">
            <a:extLst>
              <a:ext uri="{FF2B5EF4-FFF2-40B4-BE49-F238E27FC236}">
                <a16:creationId xmlns:a16="http://schemas.microsoft.com/office/drawing/2014/main" id="{0755232A-53DC-29AA-C289-E6AD5E031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3" descr="Image outline">
            <a:extLst>
              <a:ext uri="{FF2B5EF4-FFF2-40B4-BE49-F238E27FC236}">
                <a16:creationId xmlns:a16="http://schemas.microsoft.com/office/drawing/2014/main" id="{4C60B4B6-9726-89C4-6299-6069256D4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5" descr="Image outline">
            <a:extLst>
              <a:ext uri="{FF2B5EF4-FFF2-40B4-BE49-F238E27FC236}">
                <a16:creationId xmlns:a16="http://schemas.microsoft.com/office/drawing/2014/main" id="{8A1B9A38-4C51-8EFF-6C33-83D13B1708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69F804A-CAF1-E027-1074-EEA32484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9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3F53-65CA-40B6-0450-25ADBA18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!! Frm2" descr="Image outline">
            <a:extLst>
              <a:ext uri="{FF2B5EF4-FFF2-40B4-BE49-F238E27FC236}">
                <a16:creationId xmlns:a16="http://schemas.microsoft.com/office/drawing/2014/main" id="{DAEF695B-BD85-7794-F4F7-0090259A7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8726" y="4066018"/>
            <a:ext cx="239282" cy="239282"/>
          </a:xfrm>
          <a:prstGeom prst="rect">
            <a:avLst/>
          </a:prstGeom>
        </p:spPr>
      </p:pic>
      <p:pic>
        <p:nvPicPr>
          <p:cNvPr id="27" name="!! OutPkt2" descr="Box outline">
            <a:extLst>
              <a:ext uri="{FF2B5EF4-FFF2-40B4-BE49-F238E27FC236}">
                <a16:creationId xmlns:a16="http://schemas.microsoft.com/office/drawing/2014/main" id="{8D4EEAB0-2859-8B0C-536E-7D96AEAC4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484" y="5011176"/>
            <a:ext cx="177766" cy="177766"/>
          </a:xfrm>
          <a:prstGeom prst="rect">
            <a:avLst/>
          </a:prstGeom>
        </p:spPr>
      </p:pic>
      <p:pic>
        <p:nvPicPr>
          <p:cNvPr id="5" name="!! Frm7" descr="Image outline">
            <a:extLst>
              <a:ext uri="{FF2B5EF4-FFF2-40B4-BE49-F238E27FC236}">
                <a16:creationId xmlns:a16="http://schemas.microsoft.com/office/drawing/2014/main" id="{E06B9446-829C-454D-880B-39799EA5D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8" descr="Box outline">
            <a:extLst>
              <a:ext uri="{FF2B5EF4-FFF2-40B4-BE49-F238E27FC236}">
                <a16:creationId xmlns:a16="http://schemas.microsoft.com/office/drawing/2014/main" id="{01F67416-04D3-501E-01D0-780112E6C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1" descr="Box outline">
            <a:extLst>
              <a:ext uri="{FF2B5EF4-FFF2-40B4-BE49-F238E27FC236}">
                <a16:creationId xmlns:a16="http://schemas.microsoft.com/office/drawing/2014/main" id="{9A912190-1175-7064-9793-E7E43F073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6067A83-C3F9-E389-482D-5269518E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ED6E3F-7451-2BA7-A138-D90A77D1A28E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50475F-AA93-50FF-14B4-0E9A15DE4DE9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F5F558B-3D73-55F0-CD4A-C21A94BCABA3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78E127-FEC2-CBF3-FA2B-5EFE101245C5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7A60E5-5E78-0B20-7F7F-122C4269B722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694E8FD-3509-A807-A2D3-1863F787AC82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CD6C58C-1DAC-F007-F397-8CF02A341087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02474-33E2-FC9F-EB0A-5BFBA28E1B07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338E9-7400-4E18-DE30-305A32CD5EA8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97DAC4-4FAB-D714-0334-1408F3A6A9EF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54D21A-841C-2CC5-C525-577195A03066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B2B549-3386-DF76-030F-CEBDF19E6C97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10" descr="Box outline">
            <a:extLst>
              <a:ext uri="{FF2B5EF4-FFF2-40B4-BE49-F238E27FC236}">
                <a16:creationId xmlns:a16="http://schemas.microsoft.com/office/drawing/2014/main" id="{68D6BC2E-3CD7-3811-5170-9B91D71C9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9" descr="Box outline">
            <a:extLst>
              <a:ext uri="{FF2B5EF4-FFF2-40B4-BE49-F238E27FC236}">
                <a16:creationId xmlns:a16="http://schemas.microsoft.com/office/drawing/2014/main" id="{9FE1BCD5-89C8-EDFF-AE6A-05D87C7ED6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6" descr="Image outline">
            <a:extLst>
              <a:ext uri="{FF2B5EF4-FFF2-40B4-BE49-F238E27FC236}">
                <a16:creationId xmlns:a16="http://schemas.microsoft.com/office/drawing/2014/main" id="{3CB0A70E-3179-27A8-DCA3-9F0C84241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4" descr="Image outline">
            <a:extLst>
              <a:ext uri="{FF2B5EF4-FFF2-40B4-BE49-F238E27FC236}">
                <a16:creationId xmlns:a16="http://schemas.microsoft.com/office/drawing/2014/main" id="{4DB829BA-175D-73F7-6A75-4321D0965A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3" descr="Image outline">
            <a:extLst>
              <a:ext uri="{FF2B5EF4-FFF2-40B4-BE49-F238E27FC236}">
                <a16:creationId xmlns:a16="http://schemas.microsoft.com/office/drawing/2014/main" id="{941591BD-5C52-6492-2CB2-854F2745D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5" descr="Image outline">
            <a:extLst>
              <a:ext uri="{FF2B5EF4-FFF2-40B4-BE49-F238E27FC236}">
                <a16:creationId xmlns:a16="http://schemas.microsoft.com/office/drawing/2014/main" id="{2791707E-3531-2444-DA3F-E4C6EFA90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pic>
        <p:nvPicPr>
          <p:cNvPr id="23" name="!!Wait" descr="Hourglass Finished with solid fill">
            <a:extLst>
              <a:ext uri="{FF2B5EF4-FFF2-40B4-BE49-F238E27FC236}">
                <a16:creationId xmlns:a16="http://schemas.microsoft.com/office/drawing/2014/main" id="{A709EFE8-30A3-4A21-3DC1-D43A14803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6425" y="2575378"/>
            <a:ext cx="914400" cy="91440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50BACB5-A7A8-ADFF-D9EA-F8C04672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17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70A5-0FBE-859E-9ECE-3B6DF396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!! Frm3" descr="Image outline">
            <a:extLst>
              <a:ext uri="{FF2B5EF4-FFF2-40B4-BE49-F238E27FC236}">
                <a16:creationId xmlns:a16="http://schemas.microsoft.com/office/drawing/2014/main" id="{606B3042-D324-DAB8-89B7-DFE4ACFAA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8726" y="4066018"/>
            <a:ext cx="239282" cy="239282"/>
          </a:xfrm>
          <a:prstGeom prst="rect">
            <a:avLst/>
          </a:prstGeom>
        </p:spPr>
      </p:pic>
      <p:pic>
        <p:nvPicPr>
          <p:cNvPr id="27" name="!! OutPkt3" descr="Box outline">
            <a:extLst>
              <a:ext uri="{FF2B5EF4-FFF2-40B4-BE49-F238E27FC236}">
                <a16:creationId xmlns:a16="http://schemas.microsoft.com/office/drawing/2014/main" id="{F8A76223-11EF-C2CA-E3B8-42C04CD92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484" y="5011176"/>
            <a:ext cx="177766" cy="177766"/>
          </a:xfrm>
          <a:prstGeom prst="rect">
            <a:avLst/>
          </a:prstGeom>
        </p:spPr>
      </p:pic>
      <p:pic>
        <p:nvPicPr>
          <p:cNvPr id="5" name="!! Frm8" descr="Image outline">
            <a:extLst>
              <a:ext uri="{FF2B5EF4-FFF2-40B4-BE49-F238E27FC236}">
                <a16:creationId xmlns:a16="http://schemas.microsoft.com/office/drawing/2014/main" id="{CDCD925C-D777-5572-0019-3BC419250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9" descr="Box outline">
            <a:extLst>
              <a:ext uri="{FF2B5EF4-FFF2-40B4-BE49-F238E27FC236}">
                <a16:creationId xmlns:a16="http://schemas.microsoft.com/office/drawing/2014/main" id="{2A7B75BB-DE14-78F8-C9EB-9DDA11830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2" descr="Box outline">
            <a:extLst>
              <a:ext uri="{FF2B5EF4-FFF2-40B4-BE49-F238E27FC236}">
                <a16:creationId xmlns:a16="http://schemas.microsoft.com/office/drawing/2014/main" id="{ABC47253-5E68-3DCD-D2E5-E698665D9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467D8A5-5E1B-FDAB-B703-A323C763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9BDC4E-DB93-150E-17A2-DA4C695360C1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4D0A3F-BDC3-20A6-57D7-7B3D53D84F83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6B51782-3C80-52DD-E637-201D33DA3AF6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954785-ACA7-0360-E46B-08865DCF4D7D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17F6B-F903-7E98-9271-97DD636ECC7B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60BECB4-D76E-DC6D-F6F9-9AC8B9A21A7F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E24F2B8-883A-73A0-13A7-DBCD9C8E2CD0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808ADC-17EA-2050-D0E8-7085D03BAED7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798B2F-769C-B601-BE2F-561A3AF629EC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17FD54-7DCD-39B9-308E-E2517636F473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EDAF1E-F1C6-2939-AC68-603D068C5074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BBE2BC-70F8-2115-0645-8377D3E13122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11" descr="Box outline">
            <a:extLst>
              <a:ext uri="{FF2B5EF4-FFF2-40B4-BE49-F238E27FC236}">
                <a16:creationId xmlns:a16="http://schemas.microsoft.com/office/drawing/2014/main" id="{6A3280EF-C9E1-900A-1A48-931637BCD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10" descr="Box outline">
            <a:extLst>
              <a:ext uri="{FF2B5EF4-FFF2-40B4-BE49-F238E27FC236}">
                <a16:creationId xmlns:a16="http://schemas.microsoft.com/office/drawing/2014/main" id="{1641AAE0-CC40-6BA2-E6DA-CC86CDE2D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7" descr="Image outline">
            <a:extLst>
              <a:ext uri="{FF2B5EF4-FFF2-40B4-BE49-F238E27FC236}">
                <a16:creationId xmlns:a16="http://schemas.microsoft.com/office/drawing/2014/main" id="{F9CF3D58-B8CA-77EC-A046-728AC2910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5" descr="Image outline">
            <a:extLst>
              <a:ext uri="{FF2B5EF4-FFF2-40B4-BE49-F238E27FC236}">
                <a16:creationId xmlns:a16="http://schemas.microsoft.com/office/drawing/2014/main" id="{EC6D5034-8E47-23E5-E98A-D4CAA15FD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4" descr="Image outline">
            <a:extLst>
              <a:ext uri="{FF2B5EF4-FFF2-40B4-BE49-F238E27FC236}">
                <a16:creationId xmlns:a16="http://schemas.microsoft.com/office/drawing/2014/main" id="{1D44F936-01F1-A6CD-201D-E7D0FB7D4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6" descr="Image outline">
            <a:extLst>
              <a:ext uri="{FF2B5EF4-FFF2-40B4-BE49-F238E27FC236}">
                <a16:creationId xmlns:a16="http://schemas.microsoft.com/office/drawing/2014/main" id="{C9424BED-043F-685E-403C-E84D716B9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pic>
        <p:nvPicPr>
          <p:cNvPr id="28" name="!! OutPkt2" descr="Box outline">
            <a:extLst>
              <a:ext uri="{FF2B5EF4-FFF2-40B4-BE49-F238E27FC236}">
                <a16:creationId xmlns:a16="http://schemas.microsoft.com/office/drawing/2014/main" id="{A4CA2619-1263-D212-2ADD-7486AD01C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9821" y="4633343"/>
            <a:ext cx="914400" cy="9144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3229069-EFD2-E56C-F476-CD785C9D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52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4026-EA91-E5FE-F7ED-FB55AE7C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!! Frm3" descr="Image outline">
            <a:extLst>
              <a:ext uri="{FF2B5EF4-FFF2-40B4-BE49-F238E27FC236}">
                <a16:creationId xmlns:a16="http://schemas.microsoft.com/office/drawing/2014/main" id="{A37A05E6-728B-EA7A-6A25-09C4CFE46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8726" y="4066018"/>
            <a:ext cx="239282" cy="239282"/>
          </a:xfrm>
          <a:prstGeom prst="rect">
            <a:avLst/>
          </a:prstGeom>
        </p:spPr>
      </p:pic>
      <p:pic>
        <p:nvPicPr>
          <p:cNvPr id="25" name="!! OutPkt2" descr="Box outline">
            <a:extLst>
              <a:ext uri="{FF2B5EF4-FFF2-40B4-BE49-F238E27FC236}">
                <a16:creationId xmlns:a16="http://schemas.microsoft.com/office/drawing/2014/main" id="{94D1CC33-27D9-5D4D-8801-94ECB83C7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5401" y="4967735"/>
            <a:ext cx="196798" cy="196798"/>
          </a:xfrm>
          <a:prstGeom prst="rect">
            <a:avLst/>
          </a:prstGeom>
        </p:spPr>
      </p:pic>
      <p:pic>
        <p:nvPicPr>
          <p:cNvPr id="27" name="!! OutPkt3" descr="Box outline">
            <a:extLst>
              <a:ext uri="{FF2B5EF4-FFF2-40B4-BE49-F238E27FC236}">
                <a16:creationId xmlns:a16="http://schemas.microsoft.com/office/drawing/2014/main" id="{005D588E-D49E-AC45-F81D-C9B769FDB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484" y="5011176"/>
            <a:ext cx="177766" cy="177766"/>
          </a:xfrm>
          <a:prstGeom prst="rect">
            <a:avLst/>
          </a:prstGeom>
        </p:spPr>
      </p:pic>
      <p:pic>
        <p:nvPicPr>
          <p:cNvPr id="5" name="!! Frm8" descr="Image outline">
            <a:extLst>
              <a:ext uri="{FF2B5EF4-FFF2-40B4-BE49-F238E27FC236}">
                <a16:creationId xmlns:a16="http://schemas.microsoft.com/office/drawing/2014/main" id="{7CF83748-FCDD-8687-E6CC-7B8CF952D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0147" y="5012190"/>
            <a:ext cx="239282" cy="239282"/>
          </a:xfrm>
          <a:prstGeom prst="rect">
            <a:avLst/>
          </a:prstGeom>
        </p:spPr>
      </p:pic>
      <p:pic>
        <p:nvPicPr>
          <p:cNvPr id="20" name="!! Pkt9" descr="Box outline">
            <a:extLst>
              <a:ext uri="{FF2B5EF4-FFF2-40B4-BE49-F238E27FC236}">
                <a16:creationId xmlns:a16="http://schemas.microsoft.com/office/drawing/2014/main" id="{2E3A0661-7B05-AF00-2CB4-C188E5EC9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0636" y="4066018"/>
            <a:ext cx="239282" cy="239282"/>
          </a:xfrm>
          <a:prstGeom prst="rect">
            <a:avLst/>
          </a:prstGeom>
        </p:spPr>
      </p:pic>
      <p:pic>
        <p:nvPicPr>
          <p:cNvPr id="3" name="!! Pkt12" descr="Box outline">
            <a:extLst>
              <a:ext uri="{FF2B5EF4-FFF2-40B4-BE49-F238E27FC236}">
                <a16:creationId xmlns:a16="http://schemas.microsoft.com/office/drawing/2014/main" id="{8A3C5D9C-8D71-212A-C4B6-38F8E8B6C5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340" y="4916879"/>
            <a:ext cx="366360" cy="36636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D33394C-844A-9F68-755B-D79AB2C2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Параллельный конвейер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979BED-FC79-289E-3908-674357800F30}"/>
              </a:ext>
            </a:extLst>
          </p:cNvPr>
          <p:cNvGrpSpPr/>
          <p:nvPr/>
        </p:nvGrpSpPr>
        <p:grpSpPr>
          <a:xfrm>
            <a:off x="319955" y="4633344"/>
            <a:ext cx="1149825" cy="914400"/>
            <a:chOff x="2000250" y="5562600"/>
            <a:chExt cx="1149825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C61C77-FBE2-0199-99BC-64D8F60B460B}"/>
                </a:ext>
              </a:extLst>
            </p:cNvPr>
            <p:cNvSpPr/>
            <p:nvPr/>
          </p:nvSpPr>
          <p:spPr>
            <a:xfrm>
              <a:off x="2000250" y="5562600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63615F0-1DC1-BC3D-DF28-DDFA1F29A113}"/>
                </a:ext>
              </a:extLst>
            </p:cNvPr>
            <p:cNvSpPr/>
            <p:nvPr/>
          </p:nvSpPr>
          <p:spPr>
            <a:xfrm>
              <a:off x="2117962" y="5696691"/>
              <a:ext cx="914400" cy="646217"/>
            </a:xfrm>
            <a:custGeom>
              <a:avLst/>
              <a:gdLst>
                <a:gd name="csX0" fmla="*/ 1310139 w 1310140"/>
                <a:gd name="csY0" fmla="*/ 0 h 925891"/>
                <a:gd name="csX1" fmla="*/ 1017641 w 1310140"/>
                <a:gd name="csY1" fmla="*/ 345423 h 925891"/>
                <a:gd name="csX2" fmla="*/ 988122 w 1310140"/>
                <a:gd name="csY2" fmla="*/ 296294 h 925891"/>
                <a:gd name="csX3" fmla="*/ 704319 w 1310140"/>
                <a:gd name="csY3" fmla="*/ 460901 h 925891"/>
                <a:gd name="csX4" fmla="*/ 989945 w 1310140"/>
                <a:gd name="csY4" fmla="*/ 626564 h 925891"/>
                <a:gd name="csX5" fmla="*/ 1017642 w 1310140"/>
                <a:gd name="csY5" fmla="*/ 580469 h 925891"/>
                <a:gd name="csX6" fmla="*/ 1310140 w 1310140"/>
                <a:gd name="csY6" fmla="*/ 925891 h 925891"/>
                <a:gd name="csX7" fmla="*/ 867831 w 1310140"/>
                <a:gd name="csY7" fmla="*/ 829796 h 925891"/>
                <a:gd name="csX8" fmla="*/ 911006 w 1310140"/>
                <a:gd name="csY8" fmla="*/ 757941 h 925891"/>
                <a:gd name="csX9" fmla="*/ 537879 w 1310140"/>
                <a:gd name="csY9" fmla="*/ 541527 h 925891"/>
                <a:gd name="csX10" fmla="*/ 0 w 1310140"/>
                <a:gd name="csY10" fmla="*/ 541527 h 925891"/>
                <a:gd name="csX11" fmla="*/ 0 w 1310140"/>
                <a:gd name="csY11" fmla="*/ 380275 h 925891"/>
                <a:gd name="csX12" fmla="*/ 537877 w 1310140"/>
                <a:gd name="csY12" fmla="*/ 380275 h 925891"/>
                <a:gd name="csX13" fmla="*/ 909183 w 1310140"/>
                <a:gd name="csY13" fmla="*/ 164918 h 925891"/>
                <a:gd name="csX14" fmla="*/ 867830 w 1310140"/>
                <a:gd name="csY14" fmla="*/ 96095 h 925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10140" h="925891">
                  <a:moveTo>
                    <a:pt x="1310139" y="0"/>
                  </a:moveTo>
                  <a:lnTo>
                    <a:pt x="1017641" y="345423"/>
                  </a:lnTo>
                  <a:lnTo>
                    <a:pt x="988122" y="296294"/>
                  </a:lnTo>
                  <a:lnTo>
                    <a:pt x="704319" y="460901"/>
                  </a:lnTo>
                  <a:lnTo>
                    <a:pt x="989945" y="626564"/>
                  </a:lnTo>
                  <a:lnTo>
                    <a:pt x="1017642" y="580469"/>
                  </a:lnTo>
                  <a:lnTo>
                    <a:pt x="1310140" y="925891"/>
                  </a:lnTo>
                  <a:lnTo>
                    <a:pt x="867831" y="829796"/>
                  </a:lnTo>
                  <a:lnTo>
                    <a:pt x="911006" y="757941"/>
                  </a:lnTo>
                  <a:lnTo>
                    <a:pt x="537879" y="541527"/>
                  </a:lnTo>
                  <a:lnTo>
                    <a:pt x="0" y="541527"/>
                  </a:lnTo>
                  <a:lnTo>
                    <a:pt x="0" y="380275"/>
                  </a:lnTo>
                  <a:lnTo>
                    <a:pt x="537877" y="380275"/>
                  </a:lnTo>
                  <a:lnTo>
                    <a:pt x="909183" y="164918"/>
                  </a:lnTo>
                  <a:lnTo>
                    <a:pt x="867830" y="9609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8D1480-9716-4A6D-C3E7-648456C7FF0F}"/>
              </a:ext>
            </a:extLst>
          </p:cNvPr>
          <p:cNvGrpSpPr/>
          <p:nvPr/>
        </p:nvGrpSpPr>
        <p:grpSpPr>
          <a:xfrm>
            <a:off x="10813959" y="4642859"/>
            <a:ext cx="1149825" cy="914400"/>
            <a:chOff x="4097742" y="5562599"/>
            <a:chExt cx="1149825" cy="9144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AD699-2E78-BF7C-8CB7-2BE668130C54}"/>
                </a:ext>
              </a:extLst>
            </p:cNvPr>
            <p:cNvSpPr/>
            <p:nvPr/>
          </p:nvSpPr>
          <p:spPr>
            <a:xfrm>
              <a:off x="4097742" y="5562599"/>
              <a:ext cx="1149825" cy="9144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9EB508B-2F52-0854-1A51-7D2D1E2E7AE9}"/>
                </a:ext>
              </a:extLst>
            </p:cNvPr>
            <p:cNvSpPr/>
            <p:nvPr/>
          </p:nvSpPr>
          <p:spPr>
            <a:xfrm rot="5400000">
              <a:off x="4427383" y="5560606"/>
              <a:ext cx="490541" cy="918386"/>
            </a:xfrm>
            <a:custGeom>
              <a:avLst/>
              <a:gdLst>
                <a:gd name="csX0" fmla="*/ 0 w 701041"/>
                <a:gd name="csY0" fmla="*/ 1312481 h 1312481"/>
                <a:gd name="csX1" fmla="*/ 269895 w 701041"/>
                <a:gd name="csY1" fmla="*/ 847145 h 1312481"/>
                <a:gd name="csX2" fmla="*/ 269895 w 701041"/>
                <a:gd name="csY2" fmla="*/ 442912 h 1312481"/>
                <a:gd name="csX3" fmla="*/ 181451 w 701041"/>
                <a:gd name="csY3" fmla="*/ 442912 h 1312481"/>
                <a:gd name="csX4" fmla="*/ 350520 w 701041"/>
                <a:gd name="csY4" fmla="*/ 0 h 1312481"/>
                <a:gd name="csX5" fmla="*/ 519589 w 701041"/>
                <a:gd name="csY5" fmla="*/ 442912 h 1312481"/>
                <a:gd name="csX6" fmla="*/ 431147 w 701041"/>
                <a:gd name="csY6" fmla="*/ 442912 h 1312481"/>
                <a:gd name="csX7" fmla="*/ 431147 w 701041"/>
                <a:gd name="csY7" fmla="*/ 847147 h 1312481"/>
                <a:gd name="csX8" fmla="*/ 701041 w 701041"/>
                <a:gd name="csY8" fmla="*/ 1312481 h 1312481"/>
                <a:gd name="csX9" fmla="*/ 523879 w 701041"/>
                <a:gd name="csY9" fmla="*/ 1312481 h 1312481"/>
                <a:gd name="csX10" fmla="*/ 350521 w 701041"/>
                <a:gd name="csY10" fmla="*/ 1013587 h 1312481"/>
                <a:gd name="csX11" fmla="*/ 177161 w 701041"/>
                <a:gd name="csY11" fmla="*/ 1312481 h 1312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01041" h="1312481">
                  <a:moveTo>
                    <a:pt x="0" y="1312481"/>
                  </a:moveTo>
                  <a:lnTo>
                    <a:pt x="269895" y="847145"/>
                  </a:lnTo>
                  <a:lnTo>
                    <a:pt x="269895" y="442912"/>
                  </a:lnTo>
                  <a:lnTo>
                    <a:pt x="181451" y="442912"/>
                  </a:lnTo>
                  <a:lnTo>
                    <a:pt x="350520" y="0"/>
                  </a:lnTo>
                  <a:lnTo>
                    <a:pt x="519589" y="442912"/>
                  </a:lnTo>
                  <a:lnTo>
                    <a:pt x="431147" y="442912"/>
                  </a:lnTo>
                  <a:lnTo>
                    <a:pt x="431147" y="847147"/>
                  </a:lnTo>
                  <a:lnTo>
                    <a:pt x="701041" y="1312481"/>
                  </a:lnTo>
                  <a:lnTo>
                    <a:pt x="523879" y="1312481"/>
                  </a:lnTo>
                  <a:lnTo>
                    <a:pt x="350521" y="1013587"/>
                  </a:lnTo>
                  <a:lnTo>
                    <a:pt x="177161" y="1312481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D7F0751-0105-5957-F999-DF2E6D512630}"/>
              </a:ext>
            </a:extLst>
          </p:cNvPr>
          <p:cNvSpPr/>
          <p:nvPr/>
        </p:nvSpPr>
        <p:spPr>
          <a:xfrm>
            <a:off x="3308907" y="3670300"/>
            <a:ext cx="1162740" cy="1877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8C45A4-9120-A18C-007A-12FADEB5E321}"/>
              </a:ext>
            </a:extLst>
          </p:cNvPr>
          <p:cNvSpPr/>
          <p:nvPr/>
        </p:nvSpPr>
        <p:spPr>
          <a:xfrm>
            <a:off x="7806997" y="3670301"/>
            <a:ext cx="1162740" cy="1877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594B0-6034-DFF8-9383-89FE549D24C9}"/>
              </a:ext>
            </a:extLst>
          </p:cNvPr>
          <p:cNvSpPr/>
          <p:nvPr/>
        </p:nvSpPr>
        <p:spPr>
          <a:xfrm>
            <a:off x="181777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ADAD55-A89C-21B5-CD3B-B58D59DF6A7B}"/>
              </a:ext>
            </a:extLst>
          </p:cNvPr>
          <p:cNvSpPr/>
          <p:nvPr/>
        </p:nvSpPr>
        <p:spPr>
          <a:xfrm>
            <a:off x="467362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670701-5D5C-1A1D-C5DC-E68D591425AA}"/>
              </a:ext>
            </a:extLst>
          </p:cNvPr>
          <p:cNvSpPr/>
          <p:nvPr/>
        </p:nvSpPr>
        <p:spPr>
          <a:xfrm>
            <a:off x="9247271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44DFE3-EC87-8417-AD44-84C8C9FF3628}"/>
              </a:ext>
            </a:extLst>
          </p:cNvPr>
          <p:cNvSpPr/>
          <p:nvPr/>
        </p:nvSpPr>
        <p:spPr>
          <a:xfrm>
            <a:off x="6240309" y="3530600"/>
            <a:ext cx="1289154" cy="21780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!! Pkt11" descr="Box outline">
            <a:extLst>
              <a:ext uri="{FF2B5EF4-FFF2-40B4-BE49-F238E27FC236}">
                <a16:creationId xmlns:a16="http://schemas.microsoft.com/office/drawing/2014/main" id="{5658FDCE-E235-6A50-7A88-45E42EDAC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4355" y="4642859"/>
            <a:ext cx="914400" cy="914400"/>
          </a:xfrm>
          <a:prstGeom prst="rect">
            <a:avLst/>
          </a:prstGeom>
        </p:spPr>
      </p:pic>
      <p:pic>
        <p:nvPicPr>
          <p:cNvPr id="26" name="!! Pkt10" descr="Box outline">
            <a:extLst>
              <a:ext uri="{FF2B5EF4-FFF2-40B4-BE49-F238E27FC236}">
                <a16:creationId xmlns:a16="http://schemas.microsoft.com/office/drawing/2014/main" id="{55F35143-311A-375B-AE9E-6EBE939F7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5156" y="3728459"/>
            <a:ext cx="914400" cy="914400"/>
          </a:xfrm>
          <a:prstGeom prst="rect">
            <a:avLst/>
          </a:prstGeom>
        </p:spPr>
      </p:pic>
      <p:pic>
        <p:nvPicPr>
          <p:cNvPr id="19" name="!! Frm7" descr="Image outline">
            <a:extLst>
              <a:ext uri="{FF2B5EF4-FFF2-40B4-BE49-F238E27FC236}">
                <a16:creationId xmlns:a16="http://schemas.microsoft.com/office/drawing/2014/main" id="{2A1C887F-1D21-3B90-961F-235603801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0998" y="4642859"/>
            <a:ext cx="914400" cy="914400"/>
          </a:xfrm>
          <a:prstGeom prst="rect">
            <a:avLst/>
          </a:prstGeom>
        </p:spPr>
      </p:pic>
      <p:pic>
        <p:nvPicPr>
          <p:cNvPr id="6" name="!! Frm5" descr="Image outline">
            <a:extLst>
              <a:ext uri="{FF2B5EF4-FFF2-40B4-BE49-F238E27FC236}">
                <a16:creationId xmlns:a16="http://schemas.microsoft.com/office/drawing/2014/main" id="{F8A81850-5119-90D0-6F00-3C0DABA20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7686" y="4642859"/>
            <a:ext cx="914400" cy="914400"/>
          </a:xfrm>
          <a:prstGeom prst="rect">
            <a:avLst/>
          </a:prstGeom>
        </p:spPr>
      </p:pic>
      <p:pic>
        <p:nvPicPr>
          <p:cNvPr id="22" name="!! Frm4" descr="Image outline">
            <a:extLst>
              <a:ext uri="{FF2B5EF4-FFF2-40B4-BE49-F238E27FC236}">
                <a16:creationId xmlns:a16="http://schemas.microsoft.com/office/drawing/2014/main" id="{1DDE0650-DD3A-CB9F-EDB9-C07BDCA81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7686" y="3728459"/>
            <a:ext cx="914400" cy="914400"/>
          </a:xfrm>
          <a:prstGeom prst="rect">
            <a:avLst/>
          </a:prstGeom>
        </p:spPr>
      </p:pic>
      <p:pic>
        <p:nvPicPr>
          <p:cNvPr id="21" name="!! Frm6" descr="Image outline">
            <a:extLst>
              <a:ext uri="{FF2B5EF4-FFF2-40B4-BE49-F238E27FC236}">
                <a16:creationId xmlns:a16="http://schemas.microsoft.com/office/drawing/2014/main" id="{CE57A343-A460-3308-4644-D1FD4E05BD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998" y="3728459"/>
            <a:ext cx="914400" cy="914400"/>
          </a:xfrm>
          <a:prstGeom prst="rect">
            <a:avLst/>
          </a:prstGeom>
        </p:spPr>
      </p:pic>
      <p:pic>
        <p:nvPicPr>
          <p:cNvPr id="29" name="!!Wait" descr="Hourglass Finished with solid fill">
            <a:extLst>
              <a:ext uri="{FF2B5EF4-FFF2-40B4-BE49-F238E27FC236}">
                <a16:creationId xmlns:a16="http://schemas.microsoft.com/office/drawing/2014/main" id="{B3F21B2C-8D5F-CD71-F754-C9F50A7BF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56425" y="2575378"/>
            <a:ext cx="914400" cy="9144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A553632-404C-1533-5D2C-75F3B02BC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65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8DD0D7-C434-9DFA-8909-7A000086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Компоненты асинхронного конвейера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7F9FF-5F79-FCDB-4C7F-CB3C28CD5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89D7E-D06C-ED27-C322-C6155FD6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84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0731C3-BEBB-6A01-184A-0DD14F76D97B}"/>
              </a:ext>
            </a:extLst>
          </p:cNvPr>
          <p:cNvSpPr/>
          <p:nvPr/>
        </p:nvSpPr>
        <p:spPr>
          <a:xfrm>
            <a:off x="150812" y="2603500"/>
            <a:ext cx="5743576" cy="34385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Async Decoder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85B2F1-7204-240C-B3EB-AE1725A2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Асинхронные </a:t>
            </a:r>
            <a:r>
              <a:rPr lang="en-US" dirty="0"/>
              <a:t>encoder </a:t>
            </a:r>
            <a:r>
              <a:rPr lang="ru-RU" dirty="0"/>
              <a:t>и </a:t>
            </a:r>
            <a:r>
              <a:rPr lang="en-US" dirty="0"/>
              <a:t>decoder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6FBFA-2674-5642-F366-1958BEEAAC3B}"/>
              </a:ext>
            </a:extLst>
          </p:cNvPr>
          <p:cNvSpPr/>
          <p:nvPr/>
        </p:nvSpPr>
        <p:spPr>
          <a:xfrm>
            <a:off x="256540" y="3369782"/>
            <a:ext cx="1304925" cy="126889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Input Packets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C62CAA-5DD7-69C9-5DEC-E8D8D820E54E}"/>
              </a:ext>
            </a:extLst>
          </p:cNvPr>
          <p:cNvSpPr/>
          <p:nvPr/>
        </p:nvSpPr>
        <p:spPr>
          <a:xfrm>
            <a:off x="4412893" y="3369782"/>
            <a:ext cx="1304925" cy="126889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Output Frames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7F726D-C83D-4F66-5754-90BE1A9F0D71}"/>
              </a:ext>
            </a:extLst>
          </p:cNvPr>
          <p:cNvSpPr/>
          <p:nvPr/>
        </p:nvSpPr>
        <p:spPr>
          <a:xfrm>
            <a:off x="2029617" y="3369782"/>
            <a:ext cx="1994181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Thread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EB5F7-4130-4296-5C12-45E76C90CE3C}"/>
              </a:ext>
            </a:extLst>
          </p:cNvPr>
          <p:cNvSpPr/>
          <p:nvPr/>
        </p:nvSpPr>
        <p:spPr>
          <a:xfrm>
            <a:off x="2029617" y="4996655"/>
            <a:ext cx="1994181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52CCECBD-C724-3BB9-944F-8585A79B6003}"/>
              </a:ext>
            </a:extLst>
          </p:cNvPr>
          <p:cNvSpPr/>
          <p:nvPr/>
        </p:nvSpPr>
        <p:spPr>
          <a:xfrm>
            <a:off x="1462167" y="3692793"/>
            <a:ext cx="666750" cy="333375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!! Pkt11" descr="Box outline">
            <a:extLst>
              <a:ext uri="{FF2B5EF4-FFF2-40B4-BE49-F238E27FC236}">
                <a16:creationId xmlns:a16="http://schemas.microsoft.com/office/drawing/2014/main" id="{DB844404-A913-D1F4-BEA6-33A4451A2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403" y="3990812"/>
            <a:ext cx="443864" cy="443864"/>
          </a:xfrm>
          <a:prstGeom prst="rect">
            <a:avLst/>
          </a:prstGeom>
        </p:spPr>
      </p:pic>
      <p:pic>
        <p:nvPicPr>
          <p:cNvPr id="14" name="!! Pkt11" descr="Box outline">
            <a:extLst>
              <a:ext uri="{FF2B5EF4-FFF2-40B4-BE49-F238E27FC236}">
                <a16:creationId xmlns:a16="http://schemas.microsoft.com/office/drawing/2014/main" id="{83E41053-D4B7-49E5-1A72-E6D3FA092A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57" y="3990812"/>
            <a:ext cx="443864" cy="443864"/>
          </a:xfrm>
          <a:prstGeom prst="rect">
            <a:avLst/>
          </a:prstGeom>
        </p:spPr>
      </p:pic>
      <p:pic>
        <p:nvPicPr>
          <p:cNvPr id="15" name="!! Pkt11" descr="Box outline">
            <a:extLst>
              <a:ext uri="{FF2B5EF4-FFF2-40B4-BE49-F238E27FC236}">
                <a16:creationId xmlns:a16="http://schemas.microsoft.com/office/drawing/2014/main" id="{BB5231B9-F5DB-E454-51EE-D27BA310B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311" y="3990812"/>
            <a:ext cx="443864" cy="443864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864359A4-3008-F177-0ADF-51BCFC6F6354}"/>
              </a:ext>
            </a:extLst>
          </p:cNvPr>
          <p:cNvSpPr/>
          <p:nvPr/>
        </p:nvSpPr>
        <p:spPr>
          <a:xfrm>
            <a:off x="2282090" y="4212744"/>
            <a:ext cx="499826" cy="66067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!! Pkt11" descr="Box outline">
            <a:extLst>
              <a:ext uri="{FF2B5EF4-FFF2-40B4-BE49-F238E27FC236}">
                <a16:creationId xmlns:a16="http://schemas.microsoft.com/office/drawing/2014/main" id="{A7FE5CEC-E943-71AF-AD8F-DFDD1ABB2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2219" y="4342286"/>
            <a:ext cx="443864" cy="443864"/>
          </a:xfrm>
          <a:prstGeom prst="rect">
            <a:avLst/>
          </a:prstGeom>
        </p:spPr>
      </p:pic>
      <p:sp>
        <p:nvSpPr>
          <p:cNvPr id="18" name="Arrow: Down 17">
            <a:extLst>
              <a:ext uri="{FF2B5EF4-FFF2-40B4-BE49-F238E27FC236}">
                <a16:creationId xmlns:a16="http://schemas.microsoft.com/office/drawing/2014/main" id="{EB5A8F10-5519-4833-B81A-1071DB5EAFA3}"/>
              </a:ext>
            </a:extLst>
          </p:cNvPr>
          <p:cNvSpPr/>
          <p:nvPr/>
        </p:nvSpPr>
        <p:spPr>
          <a:xfrm rot="10800000">
            <a:off x="3144827" y="4197873"/>
            <a:ext cx="499826" cy="66067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!! Frm5" descr="Image outline">
            <a:extLst>
              <a:ext uri="{FF2B5EF4-FFF2-40B4-BE49-F238E27FC236}">
                <a16:creationId xmlns:a16="http://schemas.microsoft.com/office/drawing/2014/main" id="{2F60D5DB-89F8-1B2A-B3CA-B31A827C4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2785" y="4019267"/>
            <a:ext cx="386954" cy="386954"/>
          </a:xfrm>
          <a:prstGeom prst="rect">
            <a:avLst/>
          </a:prstGeom>
        </p:spPr>
      </p:pic>
      <p:pic>
        <p:nvPicPr>
          <p:cNvPr id="20" name="!! Frm5" descr="Image outline">
            <a:extLst>
              <a:ext uri="{FF2B5EF4-FFF2-40B4-BE49-F238E27FC236}">
                <a16:creationId xmlns:a16="http://schemas.microsoft.com/office/drawing/2014/main" id="{5E9FDDAB-23E5-2624-FD97-5C0B72107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878" y="4026168"/>
            <a:ext cx="386954" cy="386954"/>
          </a:xfrm>
          <a:prstGeom prst="rect">
            <a:avLst/>
          </a:prstGeom>
        </p:spPr>
      </p:pic>
      <p:pic>
        <p:nvPicPr>
          <p:cNvPr id="21" name="!! Frm5" descr="Image outline">
            <a:extLst>
              <a:ext uri="{FF2B5EF4-FFF2-40B4-BE49-F238E27FC236}">
                <a16:creationId xmlns:a16="http://schemas.microsoft.com/office/drawing/2014/main" id="{A910D70A-B1DD-67F9-9A32-B07E51CFA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0971" y="4033069"/>
            <a:ext cx="386954" cy="386954"/>
          </a:xfrm>
          <a:prstGeom prst="rect">
            <a:avLst/>
          </a:prstGeom>
        </p:spPr>
      </p:pic>
      <p:pic>
        <p:nvPicPr>
          <p:cNvPr id="24" name="!! Frm5" descr="Image outline">
            <a:extLst>
              <a:ext uri="{FF2B5EF4-FFF2-40B4-BE49-F238E27FC236}">
                <a16:creationId xmlns:a16="http://schemas.microsoft.com/office/drawing/2014/main" id="{FFCA2909-9D16-69FA-D0A6-ACE6C5FF6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6844" y="4334731"/>
            <a:ext cx="386954" cy="3869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1C06821-32DC-7468-16FE-CADA38B301B5}"/>
              </a:ext>
            </a:extLst>
          </p:cNvPr>
          <p:cNvSpPr/>
          <p:nvPr/>
        </p:nvSpPr>
        <p:spPr>
          <a:xfrm>
            <a:off x="6278244" y="2603500"/>
            <a:ext cx="5743576" cy="34385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Async Encoder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0883DD-E911-731C-EC4A-7343459F0EF3}"/>
              </a:ext>
            </a:extLst>
          </p:cNvPr>
          <p:cNvSpPr/>
          <p:nvPr/>
        </p:nvSpPr>
        <p:spPr>
          <a:xfrm>
            <a:off x="10623635" y="3356365"/>
            <a:ext cx="1304925" cy="126889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Output Packets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EBE60D-582E-70EB-9500-37B9C2038A89}"/>
              </a:ext>
            </a:extLst>
          </p:cNvPr>
          <p:cNvSpPr/>
          <p:nvPr/>
        </p:nvSpPr>
        <p:spPr>
          <a:xfrm>
            <a:off x="6376710" y="3356365"/>
            <a:ext cx="1304925" cy="126889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Input Frames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A2E75A-6733-FB8E-2EFF-9E71400D5454}"/>
              </a:ext>
            </a:extLst>
          </p:cNvPr>
          <p:cNvSpPr/>
          <p:nvPr/>
        </p:nvSpPr>
        <p:spPr>
          <a:xfrm>
            <a:off x="8157049" y="3369782"/>
            <a:ext cx="1994181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Thread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C18A8F-292D-441F-B21F-8028DFA50A92}"/>
              </a:ext>
            </a:extLst>
          </p:cNvPr>
          <p:cNvSpPr/>
          <p:nvPr/>
        </p:nvSpPr>
        <p:spPr>
          <a:xfrm>
            <a:off x="8157049" y="4996655"/>
            <a:ext cx="1994181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8CC12529-CD4E-D8A5-6B93-070FF108CBB0}"/>
              </a:ext>
            </a:extLst>
          </p:cNvPr>
          <p:cNvSpPr/>
          <p:nvPr/>
        </p:nvSpPr>
        <p:spPr>
          <a:xfrm>
            <a:off x="7589599" y="3692793"/>
            <a:ext cx="666750" cy="333375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!! Pkt11" descr="Box outline">
            <a:extLst>
              <a:ext uri="{FF2B5EF4-FFF2-40B4-BE49-F238E27FC236}">
                <a16:creationId xmlns:a16="http://schemas.microsoft.com/office/drawing/2014/main" id="{A65E2153-9DE6-39B1-F85B-05F262ED99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1498" y="3977395"/>
            <a:ext cx="443864" cy="443864"/>
          </a:xfrm>
          <a:prstGeom prst="rect">
            <a:avLst/>
          </a:prstGeom>
        </p:spPr>
      </p:pic>
      <p:pic>
        <p:nvPicPr>
          <p:cNvPr id="32" name="!! Pkt11" descr="Box outline">
            <a:extLst>
              <a:ext uri="{FF2B5EF4-FFF2-40B4-BE49-F238E27FC236}">
                <a16:creationId xmlns:a16="http://schemas.microsoft.com/office/drawing/2014/main" id="{8A18DA69-F18C-270D-CA9A-CD5464BD2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58452" y="3977395"/>
            <a:ext cx="443864" cy="443864"/>
          </a:xfrm>
          <a:prstGeom prst="rect">
            <a:avLst/>
          </a:prstGeom>
        </p:spPr>
      </p:pic>
      <p:pic>
        <p:nvPicPr>
          <p:cNvPr id="33" name="!! Pkt11" descr="Box outline">
            <a:extLst>
              <a:ext uri="{FF2B5EF4-FFF2-40B4-BE49-F238E27FC236}">
                <a16:creationId xmlns:a16="http://schemas.microsoft.com/office/drawing/2014/main" id="{044F7A99-5709-D517-679A-38674831B5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5406" y="3977395"/>
            <a:ext cx="443864" cy="443864"/>
          </a:xfrm>
          <a:prstGeom prst="rect">
            <a:avLst/>
          </a:prstGeom>
        </p:spPr>
      </p:pic>
      <p:sp>
        <p:nvSpPr>
          <p:cNvPr id="34" name="Arrow: Down 33">
            <a:extLst>
              <a:ext uri="{FF2B5EF4-FFF2-40B4-BE49-F238E27FC236}">
                <a16:creationId xmlns:a16="http://schemas.microsoft.com/office/drawing/2014/main" id="{CBDBD24B-DA4D-2C77-6C95-C8A68BC68B1F}"/>
              </a:ext>
            </a:extLst>
          </p:cNvPr>
          <p:cNvSpPr/>
          <p:nvPr/>
        </p:nvSpPr>
        <p:spPr>
          <a:xfrm>
            <a:off x="8409522" y="4212744"/>
            <a:ext cx="499826" cy="66067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!! Pkt11" descr="Box outline">
            <a:extLst>
              <a:ext uri="{FF2B5EF4-FFF2-40B4-BE49-F238E27FC236}">
                <a16:creationId xmlns:a16="http://schemas.microsoft.com/office/drawing/2014/main" id="{29BF6FD5-209C-986E-7037-AC7519FE0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2225" y="4334731"/>
            <a:ext cx="443864" cy="443864"/>
          </a:xfrm>
          <a:prstGeom prst="rect">
            <a:avLst/>
          </a:prstGeom>
        </p:spPr>
      </p:pic>
      <p:sp>
        <p:nvSpPr>
          <p:cNvPr id="36" name="Arrow: Down 35">
            <a:extLst>
              <a:ext uri="{FF2B5EF4-FFF2-40B4-BE49-F238E27FC236}">
                <a16:creationId xmlns:a16="http://schemas.microsoft.com/office/drawing/2014/main" id="{D4120639-D4DB-B093-C2DA-84C3DBE50681}"/>
              </a:ext>
            </a:extLst>
          </p:cNvPr>
          <p:cNvSpPr/>
          <p:nvPr/>
        </p:nvSpPr>
        <p:spPr>
          <a:xfrm rot="10800000">
            <a:off x="9272259" y="4197873"/>
            <a:ext cx="499826" cy="66067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!! Frm5" descr="Image outline">
            <a:extLst>
              <a:ext uri="{FF2B5EF4-FFF2-40B4-BE49-F238E27FC236}">
                <a16:creationId xmlns:a16="http://schemas.microsoft.com/office/drawing/2014/main" id="{F3CD766C-096A-F1D9-40E2-6702151C0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602" y="4005850"/>
            <a:ext cx="386954" cy="386954"/>
          </a:xfrm>
          <a:prstGeom prst="rect">
            <a:avLst/>
          </a:prstGeom>
        </p:spPr>
      </p:pic>
      <p:pic>
        <p:nvPicPr>
          <p:cNvPr id="38" name="!! Frm5" descr="Image outline">
            <a:extLst>
              <a:ext uri="{FF2B5EF4-FFF2-40B4-BE49-F238E27FC236}">
                <a16:creationId xmlns:a16="http://schemas.microsoft.com/office/drawing/2014/main" id="{C1813654-4AA3-F7F9-460A-0F24AA12B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5695" y="4012751"/>
            <a:ext cx="386954" cy="386954"/>
          </a:xfrm>
          <a:prstGeom prst="rect">
            <a:avLst/>
          </a:prstGeom>
        </p:spPr>
      </p:pic>
      <p:pic>
        <p:nvPicPr>
          <p:cNvPr id="39" name="!! Frm5" descr="Image outline">
            <a:extLst>
              <a:ext uri="{FF2B5EF4-FFF2-40B4-BE49-F238E27FC236}">
                <a16:creationId xmlns:a16="http://schemas.microsoft.com/office/drawing/2014/main" id="{6400FDEC-6A63-060F-DB79-4DD99C1A8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788" y="4019652"/>
            <a:ext cx="386954" cy="386954"/>
          </a:xfrm>
          <a:prstGeom prst="rect">
            <a:avLst/>
          </a:prstGeom>
        </p:spPr>
      </p:pic>
      <p:pic>
        <p:nvPicPr>
          <p:cNvPr id="40" name="!! Frm5" descr="Image outline">
            <a:extLst>
              <a:ext uri="{FF2B5EF4-FFF2-40B4-BE49-F238E27FC236}">
                <a16:creationId xmlns:a16="http://schemas.microsoft.com/office/drawing/2014/main" id="{9DABDBFD-389A-318B-EAD8-54796759B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867" y="4249544"/>
            <a:ext cx="386954" cy="386954"/>
          </a:xfrm>
          <a:prstGeom prst="rect">
            <a:avLst/>
          </a:prstGeom>
        </p:spPr>
      </p:pic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E9ED8072-D8C7-798A-580A-4B4CA386FC9B}"/>
              </a:ext>
            </a:extLst>
          </p:cNvPr>
          <p:cNvSpPr/>
          <p:nvPr/>
        </p:nvSpPr>
        <p:spPr>
          <a:xfrm>
            <a:off x="3858656" y="3692792"/>
            <a:ext cx="666750" cy="333375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8B6C38F5-7EDE-1E75-48B4-6A294A312E2C}"/>
              </a:ext>
            </a:extLst>
          </p:cNvPr>
          <p:cNvSpPr/>
          <p:nvPr/>
        </p:nvSpPr>
        <p:spPr>
          <a:xfrm>
            <a:off x="10047348" y="3692792"/>
            <a:ext cx="666750" cy="333375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81E0F3-F834-4D99-F42B-888933AF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62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554C-6BB3-331C-00A2-96E60B3E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Cooperative cancellation </a:t>
            </a:r>
            <a:r>
              <a:rPr lang="ru-RU" dirty="0"/>
              <a:t>в </a:t>
            </a:r>
            <a:r>
              <a:rPr lang="en-US" dirty="0"/>
              <a:t>C++20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17890D-911D-46DD-32A1-4E3FD1ECD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5900" cy="2368134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stop_source</a:t>
            </a:r>
            <a:r>
              <a:rPr lang="en-US" dirty="0"/>
              <a:t> – </a:t>
            </a:r>
            <a:r>
              <a:rPr lang="ru-RU" dirty="0"/>
              <a:t>отправляет сигнал остановки</a:t>
            </a:r>
          </a:p>
          <a:p>
            <a:pPr lvl="1"/>
            <a:r>
              <a:rPr lang="en-US" dirty="0" err="1"/>
              <a:t>stop_source</a:t>
            </a:r>
            <a:r>
              <a:rPr lang="en-US" dirty="0"/>
              <a:t> ss;</a:t>
            </a:r>
            <a:br>
              <a:rPr lang="en-US" dirty="0"/>
            </a:br>
            <a:r>
              <a:rPr lang="en-US" dirty="0" err="1"/>
              <a:t>ss.request_stop</a:t>
            </a:r>
            <a:r>
              <a:rPr lang="en-US" dirty="0"/>
              <a:t>();</a:t>
            </a:r>
            <a:endParaRPr lang="ru-RU" dirty="0"/>
          </a:p>
          <a:p>
            <a:r>
              <a:rPr lang="en-US" dirty="0" err="1"/>
              <a:t>stop_token</a:t>
            </a:r>
            <a:r>
              <a:rPr lang="en-US" dirty="0"/>
              <a:t> – </a:t>
            </a:r>
            <a:r>
              <a:rPr lang="ru-RU" dirty="0"/>
              <a:t>позволяет получить сигнал остановки</a:t>
            </a:r>
          </a:p>
          <a:p>
            <a:pPr lvl="1"/>
            <a:r>
              <a:rPr lang="en-US" dirty="0" err="1"/>
              <a:t>stop_token</a:t>
            </a:r>
            <a:r>
              <a:rPr lang="en-US" dirty="0"/>
              <a:t> st</a:t>
            </a:r>
            <a:r>
              <a:rPr lang="ru-RU" dirty="0"/>
              <a:t> = </a:t>
            </a:r>
            <a:r>
              <a:rPr lang="en-US" dirty="0" err="1"/>
              <a:t>ss.get_token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…</a:t>
            </a:r>
            <a:br>
              <a:rPr lang="en-US" dirty="0"/>
            </a:br>
            <a:r>
              <a:rPr lang="en-US" dirty="0"/>
              <a:t>if (</a:t>
            </a:r>
            <a:r>
              <a:rPr lang="en-US" dirty="0" err="1"/>
              <a:t>st.stop_requested</a:t>
            </a:r>
            <a:r>
              <a:rPr lang="en-US" dirty="0"/>
              <a:t>()) { …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5F4D0-205D-CD3A-0D8A-C66072AE9DCC}"/>
              </a:ext>
            </a:extLst>
          </p:cNvPr>
          <p:cNvSpPr txBox="1"/>
          <p:nvPr/>
        </p:nvSpPr>
        <p:spPr>
          <a:xfrm>
            <a:off x="838200" y="4303455"/>
            <a:ext cx="51181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DoWork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ru-RU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...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request_stop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4502BA-B67B-5761-403F-82C8E441EE69}"/>
              </a:ext>
            </a:extLst>
          </p:cNvPr>
          <p:cNvSpPr txBox="1"/>
          <p:nvPr/>
        </p:nvSpPr>
        <p:spPr>
          <a:xfrm>
            <a:off x="6096000" y="4303455"/>
            <a:ext cx="5905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condition_variable_any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cv;</a:t>
            </a:r>
          </a:p>
          <a:p>
            <a:pPr>
              <a:buNone/>
            </a:pPr>
            <a:endParaRPr lang="en-US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CancelableWait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stop_token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wait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вернёт управление, если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через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придёт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сигнал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stop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6D9C53-0363-F78D-4A49-0F826F3C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2D51C09-6E6B-483D-BDE5-B5F117BA9049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8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60EF-5CE7-9AC3-D8A6-CA5C2895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Асинхронная очередь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BAA05B-589F-942F-2C6B-3DC8C6CFCC9A}"/>
              </a:ext>
            </a:extLst>
          </p:cNvPr>
          <p:cNvGrpSpPr/>
          <p:nvPr/>
        </p:nvGrpSpPr>
        <p:grpSpPr>
          <a:xfrm>
            <a:off x="5346699" y="3541486"/>
            <a:ext cx="4778828" cy="696685"/>
            <a:chOff x="5346699" y="3541486"/>
            <a:chExt cx="4778828" cy="696685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66ACBF13-884D-4DA6-2251-232839BC3EA8}"/>
                </a:ext>
              </a:extLst>
            </p:cNvPr>
            <p:cNvSpPr/>
            <p:nvPr/>
          </p:nvSpPr>
          <p:spPr>
            <a:xfrm>
              <a:off x="5346699" y="3541486"/>
              <a:ext cx="270329" cy="69668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76958B-3732-8BAF-2F5F-5F751D9B3D39}"/>
                </a:ext>
              </a:extLst>
            </p:cNvPr>
            <p:cNvSpPr txBox="1"/>
            <p:nvPr/>
          </p:nvSpPr>
          <p:spPr>
            <a:xfrm>
              <a:off x="5727249" y="3705162"/>
              <a:ext cx="4398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Неблокирующие вызовы</a:t>
              </a:r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BBACB1-5F9C-9C52-0339-D6F502FCDB9E}"/>
              </a:ext>
            </a:extLst>
          </p:cNvPr>
          <p:cNvGrpSpPr/>
          <p:nvPr/>
        </p:nvGrpSpPr>
        <p:grpSpPr>
          <a:xfrm>
            <a:off x="7175499" y="4421219"/>
            <a:ext cx="2845831" cy="696685"/>
            <a:chOff x="7175499" y="4421219"/>
            <a:chExt cx="2845831" cy="696685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BDED6DC3-B0BC-5E9D-E936-355976056FA0}"/>
                </a:ext>
              </a:extLst>
            </p:cNvPr>
            <p:cNvSpPr/>
            <p:nvPr/>
          </p:nvSpPr>
          <p:spPr>
            <a:xfrm>
              <a:off x="7175499" y="4421219"/>
              <a:ext cx="270329" cy="69668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293304-A5AB-B14D-1217-D54EB2616F6D}"/>
                </a:ext>
              </a:extLst>
            </p:cNvPr>
            <p:cNvSpPr txBox="1"/>
            <p:nvPr/>
          </p:nvSpPr>
          <p:spPr>
            <a:xfrm>
              <a:off x="7556049" y="4584895"/>
              <a:ext cx="246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Ожидающие вызовы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2F63F8-83AF-6219-620B-A8974873FCC7}"/>
              </a:ext>
            </a:extLst>
          </p:cNvPr>
          <p:cNvGrpSpPr/>
          <p:nvPr/>
        </p:nvGrpSpPr>
        <p:grpSpPr>
          <a:xfrm>
            <a:off x="9140223" y="5262980"/>
            <a:ext cx="2798206" cy="494884"/>
            <a:chOff x="9140223" y="5262980"/>
            <a:chExt cx="2798206" cy="494884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BD769F9B-1B0F-D441-8BB6-06CC090A4946}"/>
                </a:ext>
              </a:extLst>
            </p:cNvPr>
            <p:cNvSpPr/>
            <p:nvPr/>
          </p:nvSpPr>
          <p:spPr>
            <a:xfrm>
              <a:off x="9140223" y="5262980"/>
              <a:ext cx="270329" cy="49488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81D207-F05E-7714-2233-12A6C2A7DF4B}"/>
                </a:ext>
              </a:extLst>
            </p:cNvPr>
            <p:cNvSpPr txBox="1"/>
            <p:nvPr/>
          </p:nvSpPr>
          <p:spPr>
            <a:xfrm>
              <a:off x="9473148" y="5325756"/>
              <a:ext cx="246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Batching-</a:t>
              </a:r>
              <a:r>
                <a:rPr lang="ru-RU" dirty="0"/>
                <a:t>методы</a:t>
              </a:r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79CBA7-66FF-6552-2DF5-62801A2A8661}"/>
              </a:ext>
            </a:extLst>
          </p:cNvPr>
          <p:cNvSpPr txBox="1"/>
          <p:nvPr/>
        </p:nvSpPr>
        <p:spPr>
          <a:xfrm>
            <a:off x="7445828" y="998175"/>
            <a:ext cx="465727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AsyncQueueBase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std::mutex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condition_variable_any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m_cvNotEmpty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condition_variable_any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m_cvNotFull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detail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A778C-C51D-FEA0-0831-BB49FB534C8A}"/>
              </a:ext>
            </a:extLst>
          </p:cNvPr>
          <p:cNvSpPr txBox="1"/>
          <p:nvPr/>
        </p:nvSpPr>
        <p:spPr>
          <a:xfrm>
            <a:off x="838200" y="1595021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AsyncQueue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AsyncQueueBase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std::deque&lt;T&gt;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TryPushResult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Ok, Full, Closed 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TryPopError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Empty, Closed 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AsyncQueue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TryPushResult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TryPush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TryPushResult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TryPush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expected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TryPopError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PushOrWait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PopOrWait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PopAllOrWait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PopUpToOrWait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maxItems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[[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nodiscard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75000C-494B-ADF7-D715-27DFA9F58CA8}"/>
              </a:ext>
            </a:extLst>
          </p:cNvPr>
          <p:cNvGrpSpPr/>
          <p:nvPr/>
        </p:nvGrpSpPr>
        <p:grpSpPr>
          <a:xfrm>
            <a:off x="6294392" y="5914293"/>
            <a:ext cx="2845831" cy="696685"/>
            <a:chOff x="7175499" y="4421219"/>
            <a:chExt cx="2845831" cy="696685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C98B3490-D2BB-8F4E-AB68-D9A0DC035312}"/>
                </a:ext>
              </a:extLst>
            </p:cNvPr>
            <p:cNvSpPr/>
            <p:nvPr/>
          </p:nvSpPr>
          <p:spPr>
            <a:xfrm>
              <a:off x="7175499" y="4421219"/>
              <a:ext cx="270329" cy="69668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709A04-8E25-A794-8701-8DEFA34E0864}"/>
                </a:ext>
              </a:extLst>
            </p:cNvPr>
            <p:cNvSpPr txBox="1"/>
            <p:nvPr/>
          </p:nvSpPr>
          <p:spPr>
            <a:xfrm>
              <a:off x="7556049" y="4584895"/>
              <a:ext cx="246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Жизненный цикл</a:t>
              </a:r>
              <a:endParaRPr lang="en-US" dirty="0"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4C49CDC-621A-8FB3-A52B-9478AD02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6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8E73-F4BE-1E74-A227-7BD4752E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класса </a:t>
            </a:r>
            <a:r>
              <a:rPr lang="en-US" dirty="0" err="1"/>
              <a:t>AsyncStage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A10DE-BFAF-D8E1-A1AF-4DA4D8BD5327}"/>
              </a:ext>
            </a:extLst>
          </p:cNvPr>
          <p:cNvSpPr txBox="1"/>
          <p:nvPr/>
        </p:nvSpPr>
        <p:spPr>
          <a:xfrm>
            <a:off x="6662057" y="3016251"/>
            <a:ext cx="5297714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detail {</a:t>
            </a: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AsyncStageBase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protected: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NotStarted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Running, Finished,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Stopped, Failed, 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...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PipelineNotifier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m_pipelineNotifier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std::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exception_ptr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m_workerException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std::atomic&lt;State&gt;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State::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NotStarted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std::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jthread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m_workerThread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namespace detail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8589B-5487-EA85-01E4-90DCCDC8EB6A}"/>
              </a:ext>
            </a:extLst>
          </p:cNvPr>
          <p:cNvSpPr txBox="1"/>
          <p:nvPr/>
        </p:nvSpPr>
        <p:spPr>
          <a:xfrm>
            <a:off x="232229" y="1690688"/>
            <a:ext cx="1180737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AsyncStage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AsyncStageBase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AsyncStage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processor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inputCapacity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outputCapacity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PipelineNotifier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notifier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TryPush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optional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…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InputQueue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AsyncQueue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OutputQueue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AsyncQueue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m_inputQueue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m_outputQueue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Processor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m_processor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m_inputClosed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C859EA-2DDA-BC99-20CC-D6101F90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8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109B-CD42-727D-D33F-BA113351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Рабочий цикл </a:t>
            </a:r>
            <a:r>
              <a:rPr lang="en-US" dirty="0" err="1"/>
              <a:t>AsyncStage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78A73-A427-4537-17C2-808F9629283B}"/>
              </a:ext>
            </a:extLst>
          </p:cNvPr>
          <p:cNvSpPr txBox="1"/>
          <p:nvPr/>
        </p:nvSpPr>
        <p:spPr>
          <a:xfrm>
            <a:off x="838200" y="1690687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WorkerThreadFunc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std::deque&lt;Input&gt; batch;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m_inputQueue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PopAllOrWait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(batch,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m_pipelineNotifier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Notify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(Input&amp; input : batch)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!input;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(input,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(State::Finished);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(...)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m_workerException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current_exception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(State::Failed);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81075B-8723-CDB5-F079-A09DB1AF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4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A83E-C030-C708-4A41-55892046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Универсальная обработка пакетов и фреймов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8EA63-D3C6-0B5A-90C3-6796E31FE95C}"/>
              </a:ext>
            </a:extLst>
          </p:cNvPr>
          <p:cNvSpPr txBox="1"/>
          <p:nvPr/>
        </p:nvSpPr>
        <p:spPr>
          <a:xfrm>
            <a:off x="0" y="1690688"/>
            <a:ext cx="1217204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m_processor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(input) ==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NeedReceive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Дренируем, пока не получится отправить входные данные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DrainProcessor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DrainProcessor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DrainProcessor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Output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m_processor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Receive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(output) ==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ReceiveResult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::Produced)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Забираем все готовые результаты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m_outputQueue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PushOrWait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(output),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stopToken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m_pipelineNotifier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Уведомляем оркестратор об изменении состояния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output = {};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m_state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(state,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m_outputQueue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m_pipelineNotifier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EE3F5-5786-4809-751B-7ED171E33A50}"/>
              </a:ext>
            </a:extLst>
          </p:cNvPr>
          <p:cNvSpPr txBox="1"/>
          <p:nvPr/>
        </p:nvSpPr>
        <p:spPr>
          <a:xfrm>
            <a:off x="3933371" y="4934363"/>
            <a:ext cx="8069943" cy="4658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AsyncEncoder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AsyncStage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Encoder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AsyncDecoder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AsyncStage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ffmpeg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8D628-E789-3111-0DA6-66ADA3B8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9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10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FE80-CF48-95F9-81F6-7470AD6F4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Уведомление об изменении состояния стадии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DE997-2759-F5F0-5C4B-34CC6D90D329}"/>
              </a:ext>
            </a:extLst>
          </p:cNvPr>
          <p:cNvSpPr txBox="1"/>
          <p:nvPr/>
        </p:nvSpPr>
        <p:spPr>
          <a:xfrm>
            <a:off x="838201" y="1779687"/>
            <a:ext cx="105155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PipelineNotifier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std::mutex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cv;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atomic_uint64_t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epoch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fetch_add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uint64_t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oldEpoch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    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epoch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load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memory_order_relaxed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!=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oldEpoch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lock{ mutex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(lock, [&amp;]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oldEpoch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F2811-558E-618B-DBC7-462C4596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769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B369-9A64-25AD-202D-041FBA52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Асинхронный транскодер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56C37-F53B-FBB3-2A3D-2F68421F3880}"/>
              </a:ext>
            </a:extLst>
          </p:cNvPr>
          <p:cNvSpPr txBox="1"/>
          <p:nvPr/>
        </p:nvSpPr>
        <p:spPr>
          <a:xfrm>
            <a:off x="838200" y="1478279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AsyncTranscoder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AsyncDecoder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&amp;decoder;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AsyncEncoder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&amp;encoder;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streamIndex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TrackId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track;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decoderInputClosed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decoderEof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encoderInputClosed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encoderEof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std::optional&lt;Packet&gt;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pendingPacket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std::optional&lt;Frame&gt;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pendingFrame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Branch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m_video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Branch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m_audio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Demuxer 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mm_pipeline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PipelineNotifier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m_pipelineNotifier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m_demuxEof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AsyncTranscoder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demuxer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BranchConfig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video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BranchConfig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audio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PipelineNotifier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pipelineNotifier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663E96-A480-DC68-7288-5EC29A20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>
            <a:extLst>
              <a:ext uri="{FF2B5EF4-FFF2-40B4-BE49-F238E27FC236}">
                <a16:creationId xmlns:a16="http://schemas.microsoft.com/office/drawing/2014/main" id="{DDDB7AFA-C642-D227-4D44-05004804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1954" y="97393"/>
            <a:ext cx="10168092" cy="658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40E36-9D69-B7AB-1795-120D9C9C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59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18B1E-6A8C-06BA-33AE-DA5F697A769B}"/>
              </a:ext>
            </a:extLst>
          </p:cNvPr>
          <p:cNvSpPr txBox="1"/>
          <p:nvPr/>
        </p:nvSpPr>
        <p:spPr>
          <a:xfrm>
            <a:off x="3987800" y="6391275"/>
            <a:ext cx="421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Схема работы транскодера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0885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5C52-7DFF-0D92-3232-609D080F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Рабочий цикл транскодера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7BB34-BE0D-A45B-0B50-63DBF0C8ADFF}"/>
              </a:ext>
            </a:extLst>
          </p:cNvPr>
          <p:cNvSpPr txBox="1"/>
          <p:nvPr/>
        </p:nvSpPr>
        <p:spPr>
          <a:xfrm>
            <a:off x="838200" y="1690688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export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AsyncTranscoder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...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Initialization and setup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AllDone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m_pipelineNotifier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memory_order_relaxed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progress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progress |=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DrainEncoder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m_video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progress |=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DrainEncoder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m_audio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progress |=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DrainDecoder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m_video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videoFrameProcessor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progress |=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DrainDecoder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m_audio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audioFrameProcessor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progress |=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FeedDemux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(!progress)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m_pipelineNotifier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...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Shutdown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AllDone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m_video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m_audio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6DB38-49EA-EF88-6366-75FBCC3E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3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2615-C5A1-5987-2B4B-1DABC1BC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Дренирование энкодера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66A9E-E8A2-C344-2692-682B98C6472E}"/>
              </a:ext>
            </a:extLst>
          </p:cNvPr>
          <p:cNvSpPr txBox="1"/>
          <p:nvPr/>
        </p:nvSpPr>
        <p:spPr>
          <a:xfrm>
            <a:off x="838201" y="1690688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DrainEncoder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popResult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popResult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pkt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popResult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pkt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m_muxer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WritePacket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.track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pkt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GetProcessor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GetStreamTimeBase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ToAV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DF39C-8398-DFB0-E5E5-BCD5DC3B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7F1A-A780-262E-93FD-23AB0905A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Дренирование декодера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6F316-724C-B5EC-3654-8C4C7267B231}"/>
              </a:ext>
            </a:extLst>
          </p:cNvPr>
          <p:cNvSpPr txBox="1"/>
          <p:nvPr/>
        </p:nvSpPr>
        <p:spPr>
          <a:xfrm>
            <a:off x="838200" y="1690688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DrainDecoder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FrameProcessor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frameProcessor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.pendingFrame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TryPush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.pendingFrame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pendingFrame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popResult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.decoder.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popResult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progress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Frame 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2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popResult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.decoderEof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.encoderInputClosed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CloseInput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.encoderInputClosed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frameProcessor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.encoder.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TryPush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branch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.pendingFrame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69B0C3-B86E-7502-BC49-58C74F39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8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10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10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10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D7D7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CFA8F5-03AF-28CA-1943-2A1D73A3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производительности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D4F1E44-3498-7901-B33F-C62311AFB9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Скринкаст</a:t>
            </a:r>
            <a:r>
              <a:rPr lang="ru-RU" dirty="0"/>
              <a:t> (14:55):</a:t>
            </a:r>
          </a:p>
          <a:p>
            <a:pPr lvl="1"/>
            <a:r>
              <a:rPr lang="ru-RU" dirty="0"/>
              <a:t>Последовательный</a:t>
            </a:r>
            <a:r>
              <a:rPr lang="en-US" dirty="0"/>
              <a:t> </a:t>
            </a:r>
            <a:r>
              <a:rPr lang="ru-RU" dirty="0"/>
              <a:t>конвейер: </a:t>
            </a:r>
            <a:r>
              <a:rPr lang="en-US" dirty="0"/>
              <a:t>108</a:t>
            </a:r>
            <a:r>
              <a:rPr lang="ru-RU" dirty="0"/>
              <a:t>.</a:t>
            </a:r>
            <a:r>
              <a:rPr lang="en-US" dirty="0"/>
              <a:t>14</a:t>
            </a:r>
            <a:r>
              <a:rPr lang="ru-RU" dirty="0"/>
              <a:t> с</a:t>
            </a:r>
          </a:p>
          <a:p>
            <a:pPr lvl="1"/>
            <a:r>
              <a:rPr lang="ru-RU" dirty="0"/>
              <a:t>Параллельный конвейер: 67.</a:t>
            </a:r>
            <a:r>
              <a:rPr lang="en-US" dirty="0"/>
              <a:t>67</a:t>
            </a:r>
            <a:r>
              <a:rPr lang="ru-RU" dirty="0"/>
              <a:t> с</a:t>
            </a:r>
            <a:r>
              <a:rPr lang="en-US" dirty="0"/>
              <a:t> (1.6x)</a:t>
            </a:r>
          </a:p>
          <a:p>
            <a:pPr lvl="1"/>
            <a:r>
              <a:rPr lang="en-US" dirty="0"/>
              <a:t>FFmpeg: 64.38 (1.68x)</a:t>
            </a:r>
            <a:endParaRPr lang="ru-RU" dirty="0"/>
          </a:p>
          <a:p>
            <a:r>
              <a:rPr lang="ru-RU" dirty="0"/>
              <a:t>Динамичный видео-файл (4:33):</a:t>
            </a:r>
          </a:p>
          <a:p>
            <a:pPr lvl="1"/>
            <a:r>
              <a:rPr lang="ru-RU" dirty="0"/>
              <a:t>Последовательный конвейер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95.40 </a:t>
            </a:r>
            <a:r>
              <a:rPr lang="ru-RU" dirty="0"/>
              <a:t>с</a:t>
            </a:r>
          </a:p>
          <a:p>
            <a:pPr lvl="1"/>
            <a:r>
              <a:rPr lang="ru-RU" dirty="0"/>
              <a:t>Параллельный конвейер: 85.91 с</a:t>
            </a:r>
            <a:r>
              <a:rPr lang="en-US" dirty="0"/>
              <a:t> (1.11x)</a:t>
            </a:r>
            <a:endParaRPr lang="ru-RU" dirty="0"/>
          </a:p>
          <a:p>
            <a:pPr lvl="1"/>
            <a:r>
              <a:rPr lang="en-US" dirty="0"/>
              <a:t>FFmpeg: 68.46 </a:t>
            </a:r>
            <a:r>
              <a:rPr lang="ru-RU" dirty="0"/>
              <a:t>с</a:t>
            </a:r>
            <a:r>
              <a:rPr lang="en-US" dirty="0"/>
              <a:t> (1.39x)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CACBFEC-DA13-2087-1FD2-1762D68658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923134"/>
            <a:ext cx="5181600" cy="337246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268CF-4AF1-5A32-1D70-963D6E65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0A91D-9401-2E08-7DD3-5CD3894F4ACC}"/>
              </a:ext>
            </a:extLst>
          </p:cNvPr>
          <p:cNvSpPr txBox="1"/>
          <p:nvPr/>
        </p:nvSpPr>
        <p:spPr>
          <a:xfrm>
            <a:off x="6172201" y="5295598"/>
            <a:ext cx="5181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Загрузка процессора при использовании параллельного конвейера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2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1E7D-BA20-28C6-6782-9DC2F4B9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AC4E5-40EA-5F28-1DD5-C91C321D6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FFmpeg + C++23 = ❤️</a:t>
            </a:r>
          </a:p>
          <a:p>
            <a:r>
              <a:rPr lang="ru-RU" dirty="0"/>
              <a:t>RAII сильно облегчают жизнь</a:t>
            </a:r>
          </a:p>
          <a:p>
            <a:r>
              <a:rPr lang="ru-RU" dirty="0"/>
              <a:t>Удалось ускорить конвейер за счёт распараллеливания независимых этапов</a:t>
            </a:r>
            <a:endParaRPr lang="en-US" dirty="0"/>
          </a:p>
          <a:p>
            <a:r>
              <a:rPr lang="en-US" dirty="0"/>
              <a:t>FF</a:t>
            </a:r>
            <a:r>
              <a:rPr lang="ru-RU" dirty="0" err="1"/>
              <a:t>mpeg</a:t>
            </a:r>
            <a:r>
              <a:rPr lang="ru-RU" dirty="0"/>
              <a:t> пока перегнать не удалось</a:t>
            </a:r>
            <a:r>
              <a:rPr lang="en-US" dirty="0"/>
              <a:t> 😞</a:t>
            </a:r>
            <a:endParaRPr lang="ru-RU" dirty="0"/>
          </a:p>
          <a:p>
            <a:pPr lvl="1"/>
            <a:r>
              <a:rPr lang="ru-RU" dirty="0"/>
              <a:t>Но это тема для следующего доклада</a:t>
            </a:r>
            <a:endParaRPr lang="en-US" dirty="0"/>
          </a:p>
          <a:p>
            <a:r>
              <a:rPr lang="ru-RU" dirty="0"/>
              <a:t>Перспективы на будущее:</a:t>
            </a:r>
          </a:p>
          <a:p>
            <a:pPr lvl="1"/>
            <a:r>
              <a:rPr lang="ru-RU" dirty="0"/>
              <a:t>Рассмотреть применение </a:t>
            </a:r>
            <a:r>
              <a:rPr lang="en-US" dirty="0"/>
              <a:t>coroutines, generators, ranges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263F8-A9D9-83E6-DB79-53DAD0E7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465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5166-6D42-C69B-F26F-1016EFAB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B9F2A-6B1E-F4CB-7CCE-2831D446C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Telegram: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https://t.me/vivid_coding</a:t>
            </a:r>
            <a:endParaRPr lang="en-US" dirty="0"/>
          </a:p>
          <a:p>
            <a:r>
              <a:rPr lang="en-US" dirty="0"/>
              <a:t>YouTube: </a:t>
            </a:r>
            <a:r>
              <a:rPr lang="en-US" dirty="0">
                <a:hlinkClick r:id="rId3"/>
              </a:rPr>
              <a:t>https://youtube.com/@vividbw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05D25-6A32-E780-C67B-8780230E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51C09-6E6B-483D-BDE5-B5F117BA90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575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193081A-0146-477F-9180-2E11175769AF"/>
  <p:tag name="ISPRING_CMI5_LAUNCH_METHOD" val="any window"/>
  <p:tag name="ISPRING_SCORM_REPORT_STATUS" val="0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0"/>
  <p:tag name="ISPRING_OUTPUT_FOLDER" val="[[&quot;\uFFFD\r\uFFFDZ{235BA7EF-9378-429B-B32C-1A020B2AC69E}&quot;,&quot;C:\\Users\\malov\\source\\repos\\cpp-russia-speech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ORIGINAL_SIZE&quot;},&quot;accessibilitySettings&quot;:{&quot;enabled&quot;:&quot;T_FALSE&quot;,&quot;invertReadingOrder&quot;:&quot;T_FALSE&quot;},&quot;compressionSettings&quot;:{&quot;imageSettings&quot;:{&quot;jpegQuality&quot;:70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1&quot;},&quot;publishDestination&quot;:&quot;ISPRING_STUDIO&quot;,&quot;wordSettings&quot;:{&quot;printCopies&quot;:1},&quot;studioSettings&quot;:{&quot;onlineDestinationFolderId&quot;:&quot;0&quot;,&quot;uploadSources&quot;:true}}"/>
  <p:tag name="ISPRING-SUITE_ISPRING_GRADING_SETTINGS_V2" val="{&quot;alternatives&quot;:[{&quot;slides&quot;:{&quot;slides_to_view&quot;:{&quot;percent&quot;:100},&quot;group_id&quot;:&quot;all slides&quot;},&quot;pass_materials&quot;:{&quot;slide_uids&quot;:[]},&quot;name&quot;:&quot;&quot;}]}"/>
  <p:tag name="ISPRING-SUITE_ISPRING_CURRENT_GRADING_VERSION" val="v2"/>
  <p:tag name="ISPRING_PRESENTATION_TITLE" val="ffmpeg without pain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6263AD7-F0C3-478A-A1A8-E2D6BE65E4ED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A89D1C8-3BF0-4CA2-BCAB-99EC05675BE5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1B12058-DE4D-4CA4-B44A-2B6319454E6A}:25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9A5AB86-01EA-437B-80E8-17488DA415B6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88C51AA-A0DA-4D11-965B-60AAE6920863}:2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3B6AC5F-9B5E-4F6A-B5D8-963F3CF4C596}:26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8851800-CAE3-4C61-B22B-86F05FC1BAFA}:26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BA111F9-9935-4A62-A1CA-B133ADF34370}:26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0E2B59A-357C-4398-96E7-28BAC04F960E}:26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AF7B472-CBA9-43CC-98E7-16E3AC11FFFB}:27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4700</TotalTime>
  <Words>15000</Words>
  <Application>Microsoft Office PowerPoint</Application>
  <PresentationFormat>Widescreen</PresentationFormat>
  <Paragraphs>1643</Paragraphs>
  <Slides>65</Slides>
  <Notes>64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Aptos</vt:lpstr>
      <vt:lpstr>Aptos Display</vt:lpstr>
      <vt:lpstr>Arial</vt:lpstr>
      <vt:lpstr>Consolas</vt:lpstr>
      <vt:lpstr>Impact</vt:lpstr>
      <vt:lpstr>Office Theme</vt:lpstr>
      <vt:lpstr>FFmpeg без боли: архитектура видео-транскодера на C++23</vt:lpstr>
      <vt:lpstr>Обо мне</vt:lpstr>
      <vt:lpstr>iSpring Suite – конструктор электронных курсов на базе PowerPoint</vt:lpstr>
      <vt:lpstr>Нужно ускорить транскодирование видео</vt:lpstr>
      <vt:lpstr>PowerPoint Presentation</vt:lpstr>
      <vt:lpstr>Проблема №1 – обновить FFmpeg</vt:lpstr>
      <vt:lpstr>Проблема №2 – немасштабируемая архитектура транскодера</vt:lpstr>
      <vt:lpstr>О чем мой доклад</vt:lpstr>
      <vt:lpstr>Кратко об FFmpeg</vt:lpstr>
      <vt:lpstr>Что такое FFmpeg</vt:lpstr>
      <vt:lpstr>Как FFmpeg обрабатывает видео</vt:lpstr>
      <vt:lpstr>FFmpeg C API: ручное управление ресурсами</vt:lpstr>
      <vt:lpstr>FFmpeg C API: ручное управление ресурсами</vt:lpstr>
      <vt:lpstr>Безопасная интеграция с C API</vt:lpstr>
      <vt:lpstr>Цели при проектировании API</vt:lpstr>
      <vt:lpstr>Что такое C++ 20 modules</vt:lpstr>
      <vt:lpstr>Что такое C++ 20 modules</vt:lpstr>
      <vt:lpstr>Bridge header для C-библиотеки</vt:lpstr>
      <vt:lpstr>Класс Packet</vt:lpstr>
      <vt:lpstr>Класс Packet (продолжение)</vt:lpstr>
      <vt:lpstr>Файл реализации модуля ffmpeg.packet</vt:lpstr>
      <vt:lpstr>Стратегия обработки ошибок</vt:lpstr>
      <vt:lpstr>Хранение информации об ошибках</vt:lpstr>
      <vt:lpstr>Смешанный подход к возврату ошибок</vt:lpstr>
      <vt:lpstr>Последовательный pipeline и его пределы</vt:lpstr>
      <vt:lpstr>Архитектура транскодера</vt:lpstr>
      <vt:lpstr>Устройство транскодера </vt:lpstr>
      <vt:lpstr>Транскодер: главный цикл</vt:lpstr>
      <vt:lpstr>Цикл работы с декодером</vt:lpstr>
      <vt:lpstr>Цикл работы с энкодером и завершение работы</vt:lpstr>
      <vt:lpstr>Оценим производительность транскодера</vt:lpstr>
      <vt:lpstr>Переход к асинхронности</vt:lpstr>
      <vt:lpstr>Переход к параллельному конвейеру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Параллельный конвейер</vt:lpstr>
      <vt:lpstr>Компоненты асинхронного конвейера</vt:lpstr>
      <vt:lpstr>Асинхронные encoder и decoder</vt:lpstr>
      <vt:lpstr>Cooperative cancellation в C++20</vt:lpstr>
      <vt:lpstr>Асинхронная очередь</vt:lpstr>
      <vt:lpstr>Интерфейс класса AsyncStage</vt:lpstr>
      <vt:lpstr>Рабочий цикл AsyncStage</vt:lpstr>
      <vt:lpstr>Универсальная обработка пакетов и фреймов</vt:lpstr>
      <vt:lpstr>Уведомление об изменении состояния стадии</vt:lpstr>
      <vt:lpstr>Асинхронный транскодер</vt:lpstr>
      <vt:lpstr>PowerPoint Presentation</vt:lpstr>
      <vt:lpstr>Рабочий цикл транскодера</vt:lpstr>
      <vt:lpstr>Дренирование энкодера</vt:lpstr>
      <vt:lpstr>Дренирование декодера</vt:lpstr>
      <vt:lpstr>Оценка производительности</vt:lpstr>
      <vt:lpstr>Итоги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ffmpeg without pain</dc:title>
  <dc:creator>Алексей Малов</dc:creator>
  <cp:lastModifiedBy>Алексей Малов</cp:lastModifiedBy>
  <cp:revision>558</cp:revision>
  <dcterms:created xsi:type="dcterms:W3CDTF">2026-04-12T10:50:57Z</dcterms:created>
  <dcterms:modified xsi:type="dcterms:W3CDTF">2026-05-15T18:20:03Z</dcterms:modified>
</cp:coreProperties>
</file>